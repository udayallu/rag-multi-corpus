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Velvera Plus — Extended Protection &amp; Accidental Damage Plan</a:t>
            </a:r>
          </a:p>
        </p:txBody>
      </p:sp>
      <p:sp>
        <p:nvSpPr>
          <p:cNvPr id="3" name="Content Placeholder 2"/>
          <p:cNvSpPr>
            <a:spLocks noGrp="1"/>
          </p:cNvSpPr>
          <p:nvPr>
            <p:ph idx="1"/>
          </p:nvPr>
        </p:nvSpPr>
        <p:spPr/>
        <p:txBody>
          <a:bodyPr/>
          <a:lstStyle/>
          <a:p>
            <a:pPr lvl="0" indent="0" marL="0">
              <a:buNone/>
            </a:pPr>
            <a:r>
              <a:rPr b="1"/>
              <a:t>Velvera Plus</a:t>
            </a:r>
            <a:r>
              <a:rPr/>
              <a:t> is our premium, optional paid service plan designed to safeguard your Velvera product investment. Extend your warranty, gain accidental damage protection, and experience prioritized support—ensuring peace of mind and seamless service, year after year.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Velvera Plus Service Plan Benefits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Coverage Area</a:t>
                      </a:r>
                    </a:p>
                  </a:txBody>
                  <a:tcPr/>
                </a:tc>
                <a:tc>
                  <a:txBody>
                    <a:bodyPr/>
                    <a:lstStyle/>
                    <a:p>
                      <a:pPr lvl="0" indent="0" marL="0">
                        <a:buNone/>
                      </a:pPr>
                      <a:r>
                        <a:rPr/>
                        <a:t>Standard Warranty</a:t>
                      </a:r>
                    </a:p>
                  </a:txBody>
                  <a:tcPr/>
                </a:tc>
                <a:tc>
                  <a:txBody>
                    <a:bodyPr/>
                    <a:lstStyle/>
                    <a:p>
                      <a:pPr lvl="0" indent="0" marL="0">
                        <a:buNone/>
                      </a:pPr>
                      <a:r>
                        <a:rPr/>
                        <a:t>Velvera Plus Plan</a:t>
                      </a:r>
                    </a:p>
                  </a:txBody>
                  <a:tcPr/>
                </a:tc>
              </a:tr>
              <a:tr h="0">
                <a:tc>
                  <a:txBody>
                    <a:bodyPr/>
                    <a:lstStyle/>
                    <a:p>
                      <a:pPr lvl="0" indent="0" marL="0">
                        <a:buNone/>
                      </a:pPr>
                      <a:r>
                        <a:rPr/>
                        <a:t>Coverage Period</a:t>
                      </a:r>
                    </a:p>
                  </a:txBody>
                </a:tc>
                <a:tc>
                  <a:txBody>
                    <a:bodyPr/>
                    <a:lstStyle/>
                    <a:p>
                      <a:pPr lvl="0" indent="0" marL="0">
                        <a:buNone/>
                      </a:pPr>
                      <a:r>
                        <a:rPr/>
                        <a:t>1 Year</a:t>
                      </a:r>
                    </a:p>
                  </a:txBody>
                </a:tc>
                <a:tc>
                  <a:txBody>
                    <a:bodyPr/>
                    <a:lstStyle/>
                    <a:p>
                      <a:pPr lvl="0" indent="0" marL="0">
                        <a:buNone/>
                      </a:pPr>
                      <a:r>
                        <a:rPr/>
                        <a:t>Up to 3 Years</a:t>
                      </a:r>
                    </a:p>
                  </a:txBody>
                </a:tc>
              </a:tr>
              <a:tr h="0">
                <a:tc>
                  <a:txBody>
                    <a:bodyPr/>
                    <a:lstStyle/>
                    <a:p>
                      <a:pPr lvl="0" indent="0" marL="0">
                        <a:buNone/>
                      </a:pPr>
                      <a:r>
                        <a:rPr/>
                        <a:t>Parts &amp; Labor</a:t>
                      </a:r>
                    </a:p>
                  </a:txBody>
                </a:tc>
                <a:tc>
                  <a:txBody>
                    <a:bodyPr/>
                    <a:lstStyle/>
                    <a:p>
                      <a:pPr lvl="0" indent="0" marL="0">
                        <a:buNone/>
                      </a:pPr>
                      <a:r>
                        <a:rPr/>
                        <a:t>Included</a:t>
                      </a:r>
                    </a:p>
                  </a:txBody>
                </a:tc>
                <a:tc>
                  <a:txBody>
                    <a:bodyPr/>
                    <a:lstStyle/>
                    <a:p>
                      <a:pPr lvl="0" indent="0" marL="0">
                        <a:buNone/>
                      </a:pPr>
                      <a:r>
                        <a:rPr/>
                        <a:t>Included</a:t>
                      </a:r>
                    </a:p>
                  </a:txBody>
                </a:tc>
              </a:tr>
              <a:tr h="0">
                <a:tc>
                  <a:txBody>
                    <a:bodyPr/>
                    <a:lstStyle/>
                    <a:p>
                      <a:pPr lvl="0" indent="0" marL="0">
                        <a:buNone/>
                      </a:pPr>
                      <a:r>
                        <a:rPr/>
                        <a:t>Accidental Damage (Drops, Spills)</a:t>
                      </a:r>
                    </a:p>
                  </a:txBody>
                </a:tc>
                <a:tc>
                  <a:txBody>
                    <a:bodyPr/>
                    <a:lstStyle/>
                    <a:p>
                      <a:pPr lvl="0" indent="0" marL="0">
                        <a:buNone/>
                      </a:pPr>
                      <a:r>
                        <a:rPr/>
                        <a:t>Not Covered</a:t>
                      </a:r>
                    </a:p>
                  </a:txBody>
                </a:tc>
                <a:tc>
                  <a:txBody>
                    <a:bodyPr/>
                    <a:lstStyle/>
                    <a:p>
                      <a:pPr lvl="0" indent="0" marL="0">
                        <a:buNone/>
                      </a:pPr>
                      <a:r>
                        <a:rPr/>
                        <a:t>Included (limits apply)</a:t>
                      </a:r>
                    </a:p>
                  </a:txBody>
                </a:tc>
              </a:tr>
              <a:tr h="0">
                <a:tc>
                  <a:txBody>
                    <a:bodyPr/>
                    <a:lstStyle/>
                    <a:p>
                      <a:pPr lvl="0" indent="0" marL="0">
                        <a:buNone/>
                      </a:pPr>
                      <a:r>
                        <a:rPr/>
                        <a:t>Battery Replacement</a:t>
                      </a:r>
                    </a:p>
                  </a:txBody>
                </a:tc>
                <a:tc>
                  <a:txBody>
                    <a:bodyPr/>
                    <a:lstStyle/>
                    <a:p>
                      <a:pPr lvl="0" indent="0" marL="0">
                        <a:buNone/>
                      </a:pPr>
                      <a:r>
                        <a:rPr/>
                        <a:t>1 time/12 months</a:t>
                      </a:r>
                    </a:p>
                  </a:txBody>
                </a:tc>
                <a:tc>
                  <a:txBody>
                    <a:bodyPr/>
                    <a:lstStyle/>
                    <a:p>
                      <a:pPr lvl="0" indent="0" marL="0">
                        <a:buNone/>
                      </a:pPr>
                      <a:r>
                        <a:rPr/>
                        <a:t>Up to 2 times/plan</a:t>
                      </a:r>
                    </a:p>
                  </a:txBody>
                </a:tc>
              </a:tr>
              <a:tr h="0">
                <a:tc>
                  <a:txBody>
                    <a:bodyPr/>
                    <a:lstStyle/>
                    <a:p>
                      <a:pPr lvl="0" indent="0" marL="0">
                        <a:buNone/>
                      </a:pPr>
                      <a:r>
                        <a:rPr/>
                        <a:t>Express Replacement Service</a:t>
                      </a:r>
                    </a:p>
                  </a:txBody>
                </a:tc>
                <a:tc>
                  <a:txBody>
                    <a:bodyPr/>
                    <a:lstStyle/>
                    <a:p>
                      <a:pPr lvl="0" indent="0" marL="0">
                        <a:buNone/>
                      </a:pPr>
                      <a:r>
                        <a:rPr/>
                        <a:t>Not Included</a:t>
                      </a:r>
                    </a:p>
                  </a:txBody>
                </a:tc>
                <a:tc>
                  <a:txBody>
                    <a:bodyPr/>
                    <a:lstStyle/>
                    <a:p>
                      <a:pPr lvl="0" indent="0" marL="0">
                        <a:buNone/>
                      </a:pPr>
                      <a:r>
                        <a:rPr/>
                        <a:t>Included</a:t>
                      </a:r>
                    </a:p>
                  </a:txBody>
                </a:tc>
              </a:tr>
              <a:tr h="0">
                <a:tc>
                  <a:txBody>
                    <a:bodyPr/>
                    <a:lstStyle/>
                    <a:p>
                      <a:pPr lvl="0" indent="0" marL="0">
                        <a:buNone/>
                      </a:pPr>
                      <a:r>
                        <a:rPr/>
                        <a:t>Free Shipping (Repairs)</a:t>
                      </a:r>
                    </a:p>
                  </a:txBody>
                </a:tc>
                <a:tc>
                  <a:txBody>
                    <a:bodyPr/>
                    <a:lstStyle/>
                    <a:p>
                      <a:pPr lvl="0" indent="0" marL="0">
                        <a:buNone/>
                      </a:pPr>
                      <a:r>
                        <a:rPr/>
                        <a:t>Not Included</a:t>
                      </a:r>
                    </a:p>
                  </a:txBody>
                </a:tc>
                <a:tc>
                  <a:txBody>
                    <a:bodyPr/>
                    <a:lstStyle/>
                    <a:p>
                      <a:pPr lvl="0" indent="0" marL="0">
                        <a:buNone/>
                      </a:pPr>
                      <a:r>
                        <a:rPr/>
                        <a:t>Included (2/yr)</a:t>
                      </a:r>
                    </a:p>
                  </a:txBody>
                </a:tc>
              </a:tr>
              <a:tr h="0">
                <a:tc>
                  <a:txBody>
                    <a:bodyPr/>
                    <a:lstStyle/>
                    <a:p>
                      <a:pPr lvl="0" indent="0" marL="0">
                        <a:buNone/>
                      </a:pPr>
                      <a:r>
                        <a:rPr/>
                        <a:t>24x7 Priority Support</a:t>
                      </a:r>
                    </a:p>
                  </a:txBody>
                </a:tc>
                <a:tc>
                  <a:txBody>
                    <a:bodyPr/>
                    <a:lstStyle/>
                    <a:p>
                      <a:pPr lvl="0" indent="0" marL="0">
                        <a:buNone/>
                      </a:pPr>
                      <a:r>
                        <a:rPr/>
                        <a:t>Not Included</a:t>
                      </a:r>
                    </a:p>
                  </a:txBody>
                </a:tc>
                <a:tc>
                  <a:txBody>
                    <a:bodyPr/>
                    <a:lstStyle/>
                    <a:p>
                      <a:pPr lvl="0" indent="0" marL="0">
                        <a:buNone/>
                      </a:pPr>
                      <a:r>
                        <a:rPr/>
                        <a:t>Included</a:t>
                      </a:r>
                    </a:p>
                  </a:txBody>
                </a:tc>
              </a:tr>
              <a:tr h="0">
                <a:tc>
                  <a:txBody>
                    <a:bodyPr/>
                    <a:lstStyle/>
                    <a:p>
                      <a:pPr lvl="0" indent="0" marL="0">
                        <a:buNone/>
                      </a:pPr>
                      <a:r>
                        <a:rPr/>
                        <a:t>International Service Assistance</a:t>
                      </a:r>
                    </a:p>
                  </a:txBody>
                </a:tc>
                <a:tc>
                  <a:txBody>
                    <a:bodyPr/>
                    <a:lstStyle/>
                    <a:p>
                      <a:pPr lvl="0" indent="0" marL="0">
                        <a:buNone/>
                      </a:pPr>
                      <a:r>
                        <a:rPr/>
                        <a:t>Not Included</a:t>
                      </a:r>
                    </a:p>
                  </a:txBody>
                </a:tc>
                <a:tc>
                  <a:txBody>
                    <a:bodyPr/>
                    <a:lstStyle/>
                    <a:p>
                      <a:pPr lvl="0" indent="0" marL="0">
                        <a:buNone/>
                      </a:pPr>
                      <a:r>
                        <a:rPr/>
                        <a:t>Included</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Plan Pricing by Product Category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Device Type</a:t>
                      </a:r>
                    </a:p>
                  </a:txBody>
                  <a:tcPr/>
                </a:tc>
                <a:tc>
                  <a:txBody>
                    <a:bodyPr/>
                    <a:lstStyle/>
                    <a:p>
                      <a:pPr lvl="0" indent="0" marL="0">
                        <a:buNone/>
                      </a:pPr>
                      <a:r>
                        <a:rPr/>
                        <a:t>Coverage Duration</a:t>
                      </a:r>
                    </a:p>
                  </a:txBody>
                  <a:tcPr/>
                </a:tc>
                <a:tc>
                  <a:txBody>
                    <a:bodyPr/>
                    <a:lstStyle/>
                    <a:p>
                      <a:pPr lvl="0" indent="0" marL="0">
                        <a:buNone/>
                      </a:pPr>
                      <a:r>
                        <a:rPr/>
                        <a:t>Price (INR)</a:t>
                      </a:r>
                    </a:p>
                  </a:txBody>
                  <a:tcPr/>
                </a:tc>
                <a:tc>
                  <a:txBody>
                    <a:bodyPr/>
                    <a:lstStyle/>
                    <a:p>
                      <a:pPr lvl="0" indent="0" marL="0">
                        <a:buNone/>
                      </a:pPr>
                      <a:r>
                        <a:rPr/>
                        <a:t>Price (USD)</a:t>
                      </a:r>
                    </a:p>
                  </a:txBody>
                  <a:tcPr/>
                </a:tc>
                <a:tc>
                  <a:txBody>
                    <a:bodyPr/>
                    <a:lstStyle/>
                    <a:p>
                      <a:pPr lvl="0" indent="0" marL="0">
                        <a:buNone/>
                      </a:pPr>
                      <a:r>
                        <a:rPr/>
                        <a:t>Key Notes</a:t>
                      </a:r>
                    </a:p>
                  </a:txBody>
                  <a:tcPr/>
                </a:tc>
              </a:tr>
              <a:tr h="0">
                <a:tc>
                  <a:txBody>
                    <a:bodyPr/>
                    <a:lstStyle/>
                    <a:p>
                      <a:pPr lvl="0" indent="0" marL="0">
                        <a:buNone/>
                      </a:pPr>
                      <a:r>
                        <a:rPr/>
                        <a:t>Flagship &amp; Pro Phones</a:t>
                      </a:r>
                    </a:p>
                  </a:txBody>
                </a:tc>
                <a:tc>
                  <a:txBody>
                    <a:bodyPr/>
                    <a:lstStyle/>
                    <a:p>
                      <a:pPr lvl="0" indent="0" marL="0">
                        <a:buNone/>
                      </a:pPr>
                      <a:r>
                        <a:rPr/>
                        <a:t>2 Years</a:t>
                      </a:r>
                    </a:p>
                  </a:txBody>
                </a:tc>
                <a:tc>
                  <a:txBody>
                    <a:bodyPr/>
                    <a:lstStyle/>
                    <a:p>
                      <a:pPr lvl="0" indent="0" marL="0">
                        <a:buNone/>
                      </a:pPr>
                      <a:r>
                        <a:rPr/>
                        <a:t>₹7,999</a:t>
                      </a:r>
                    </a:p>
                  </a:txBody>
                </a:tc>
                <a:tc>
                  <a:txBody>
                    <a:bodyPr/>
                    <a:lstStyle/>
                    <a:p>
                      <a:pPr lvl="0" indent="0" marL="0">
                        <a:buNone/>
                      </a:pPr>
                      <a:r>
                        <a:rPr/>
                        <a:t>$95</a:t>
                      </a:r>
                    </a:p>
                  </a:txBody>
                </a:tc>
                <a:tc>
                  <a:txBody>
                    <a:bodyPr/>
                    <a:lstStyle/>
                    <a:p>
                      <a:pPr lvl="0" indent="0" marL="0">
                        <a:buNone/>
                      </a:pPr>
                      <a:r>
                        <a:rPr/>
                        <a:t>Includes accident protection, battery</a:t>
                      </a:r>
                    </a:p>
                  </a:txBody>
                </a:tc>
              </a:tr>
              <a:tr h="0">
                <a:tc>
                  <a:txBody>
                    <a:bodyPr/>
                    <a:lstStyle/>
                    <a:p>
                      <a:pPr lvl="0" indent="0" marL="0">
                        <a:buNone/>
                      </a:pPr>
                      <a:r>
                        <a:rPr/>
                        <a:t>Flagship &amp; Pro Phones</a:t>
                      </a:r>
                    </a:p>
                  </a:txBody>
                </a:tc>
                <a:tc>
                  <a:txBody>
                    <a:bodyPr/>
                    <a:lstStyle/>
                    <a:p>
                      <a:pPr lvl="0" indent="0" marL="0">
                        <a:buNone/>
                      </a:pPr>
                      <a:r>
                        <a:rPr/>
                        <a:t>3 Years</a:t>
                      </a:r>
                    </a:p>
                  </a:txBody>
                </a:tc>
                <a:tc>
                  <a:txBody>
                    <a:bodyPr/>
                    <a:lstStyle/>
                    <a:p>
                      <a:pPr lvl="0" indent="0" marL="0">
                        <a:buNone/>
                      </a:pPr>
                      <a:r>
                        <a:rPr/>
                        <a:t>₹11,999</a:t>
                      </a:r>
                    </a:p>
                  </a:txBody>
                </a:tc>
                <a:tc>
                  <a:txBody>
                    <a:bodyPr/>
                    <a:lstStyle/>
                    <a:p>
                      <a:pPr lvl="0" indent="0" marL="0">
                        <a:buNone/>
                      </a:pPr>
                      <a:r>
                        <a:rPr/>
                        <a:t>$145</a:t>
                      </a:r>
                    </a:p>
                  </a:txBody>
                </a:tc>
                <a:tc>
                  <a:txBody>
                    <a:bodyPr/>
                    <a:lstStyle/>
                    <a:p>
                      <a:endParaRPr/>
                    </a:p>
                  </a:txBody>
                </a:tc>
              </a:tr>
              <a:tr h="0">
                <a:tc>
                  <a:txBody>
                    <a:bodyPr/>
                    <a:lstStyle/>
                    <a:p>
                      <a:pPr lvl="0" indent="0" marL="0">
                        <a:buNone/>
                      </a:pPr>
                      <a:r>
                        <a:rPr/>
                        <a:t>Compact Series Phones</a:t>
                      </a:r>
                    </a:p>
                  </a:txBody>
                </a:tc>
                <a:tc>
                  <a:txBody>
                    <a:bodyPr/>
                    <a:lstStyle/>
                    <a:p>
                      <a:pPr lvl="0" indent="0" marL="0">
                        <a:buNone/>
                      </a:pPr>
                      <a:r>
                        <a:rPr/>
                        <a:t>2 Years</a:t>
                      </a:r>
                    </a:p>
                  </a:txBody>
                </a:tc>
                <a:tc>
                  <a:txBody>
                    <a:bodyPr/>
                    <a:lstStyle/>
                    <a:p>
                      <a:pPr lvl="0" indent="0" marL="0">
                        <a:buNone/>
                      </a:pPr>
                      <a:r>
                        <a:rPr/>
                        <a:t>₹6,499</a:t>
                      </a:r>
                    </a:p>
                  </a:txBody>
                </a:tc>
                <a:tc>
                  <a:txBody>
                    <a:bodyPr/>
                    <a:lstStyle/>
                    <a:p>
                      <a:pPr lvl="0" indent="0" marL="0">
                        <a:buNone/>
                      </a:pPr>
                      <a:r>
                        <a:rPr/>
                        <a:t>$78</a:t>
                      </a:r>
                    </a:p>
                  </a:txBody>
                </a:tc>
                <a:tc>
                  <a:txBody>
                    <a:bodyPr/>
                    <a:lstStyle/>
                    <a:p>
                      <a:endParaRPr/>
                    </a:p>
                  </a:txBody>
                </a:tc>
              </a:tr>
              <a:tr h="0">
                <a:tc>
                  <a:txBody>
                    <a:bodyPr/>
                    <a:lstStyle/>
                    <a:p>
                      <a:pPr lvl="0" indent="0" marL="0">
                        <a:buNone/>
                      </a:pPr>
                      <a:r>
                        <a:rPr/>
                        <a:t>Compact Series Phones</a:t>
                      </a:r>
                    </a:p>
                  </a:txBody>
                </a:tc>
                <a:tc>
                  <a:txBody>
                    <a:bodyPr/>
                    <a:lstStyle/>
                    <a:p>
                      <a:pPr lvl="0" indent="0" marL="0">
                        <a:buNone/>
                      </a:pPr>
                      <a:r>
                        <a:rPr/>
                        <a:t>3 Years</a:t>
                      </a:r>
                    </a:p>
                  </a:txBody>
                </a:tc>
                <a:tc>
                  <a:txBody>
                    <a:bodyPr/>
                    <a:lstStyle/>
                    <a:p>
                      <a:pPr lvl="0" indent="0" marL="0">
                        <a:buNone/>
                      </a:pPr>
                      <a:r>
                        <a:rPr/>
                        <a:t>₹9,499</a:t>
                      </a:r>
                    </a:p>
                  </a:txBody>
                </a:tc>
                <a:tc>
                  <a:txBody>
                    <a:bodyPr/>
                    <a:lstStyle/>
                    <a:p>
                      <a:pPr lvl="0" indent="0" marL="0">
                        <a:buNone/>
                      </a:pPr>
                      <a:r>
                        <a:rPr/>
                        <a:t>$115</a:t>
                      </a:r>
                    </a:p>
                  </a:txBody>
                </a:tc>
                <a:tc>
                  <a:txBody>
                    <a:bodyPr/>
                    <a:lstStyle/>
                    <a:p>
                      <a:endParaRPr/>
                    </a:p>
                  </a:txBody>
                </a:tc>
              </a:tr>
              <a:tr h="0">
                <a:tc>
                  <a:txBody>
                    <a:bodyPr/>
                    <a:lstStyle/>
                    <a:p>
                      <a:pPr lvl="0" indent="0" marL="0">
                        <a:buNone/>
                      </a:pPr>
                      <a:r>
                        <a:rPr/>
                        <a:t>AI-Centric Phones (Nexus)</a:t>
                      </a:r>
                    </a:p>
                  </a:txBody>
                </a:tc>
                <a:tc>
                  <a:txBody>
                    <a:bodyPr/>
                    <a:lstStyle/>
                    <a:p>
                      <a:pPr lvl="0" indent="0" marL="0">
                        <a:buNone/>
                      </a:pPr>
                      <a:r>
                        <a:rPr/>
                        <a:t>2 Years</a:t>
                      </a:r>
                    </a:p>
                  </a:txBody>
                </a:tc>
                <a:tc>
                  <a:txBody>
                    <a:bodyPr/>
                    <a:lstStyle/>
                    <a:p>
                      <a:pPr lvl="0" indent="0" marL="0">
                        <a:buNone/>
                      </a:pPr>
                      <a:r>
                        <a:rPr/>
                        <a:t>₹8,499</a:t>
                      </a:r>
                    </a:p>
                  </a:txBody>
                </a:tc>
                <a:tc>
                  <a:txBody>
                    <a:bodyPr/>
                    <a:lstStyle/>
                    <a:p>
                      <a:pPr lvl="0" indent="0" marL="0">
                        <a:buNone/>
                      </a:pPr>
                      <a:r>
                        <a:rPr/>
                        <a:t>$102</a:t>
                      </a:r>
                    </a:p>
                  </a:txBody>
                </a:tc>
                <a:tc>
                  <a:txBody>
                    <a:bodyPr/>
                    <a:lstStyle/>
                    <a:p>
                      <a:endParaRPr/>
                    </a:p>
                  </a:txBody>
                </a:tc>
              </a:tr>
              <a:tr h="0">
                <a:tc>
                  <a:txBody>
                    <a:bodyPr/>
                    <a:lstStyle/>
                    <a:p>
                      <a:pPr lvl="0" indent="0" marL="0">
                        <a:buNone/>
                      </a:pPr>
                      <a:r>
                        <a:rPr/>
                        <a:t>AI-Centric Phones (Nexus)</a:t>
                      </a:r>
                    </a:p>
                  </a:txBody>
                </a:tc>
                <a:tc>
                  <a:txBody>
                    <a:bodyPr/>
                    <a:lstStyle/>
                    <a:p>
                      <a:pPr lvl="0" indent="0" marL="0">
                        <a:buNone/>
                      </a:pPr>
                      <a:r>
                        <a:rPr/>
                        <a:t>3 Years</a:t>
                      </a:r>
                    </a:p>
                  </a:txBody>
                </a:tc>
                <a:tc>
                  <a:txBody>
                    <a:bodyPr/>
                    <a:lstStyle/>
                    <a:p>
                      <a:pPr lvl="0" indent="0" marL="0">
                        <a:buNone/>
                      </a:pPr>
                      <a:r>
                        <a:rPr/>
                        <a:t>₹12,499</a:t>
                      </a:r>
                    </a:p>
                  </a:txBody>
                </a:tc>
                <a:tc>
                  <a:txBody>
                    <a:bodyPr/>
                    <a:lstStyle/>
                    <a:p>
                      <a:pPr lvl="0" indent="0" marL="0">
                        <a:buNone/>
                      </a:pPr>
                      <a:r>
                        <a:rPr/>
                        <a:t>$151</a:t>
                      </a:r>
                    </a:p>
                  </a:txBody>
                </a:tc>
                <a:tc>
                  <a:txBody>
                    <a:bodyPr/>
                    <a:lstStyle/>
                    <a:p>
                      <a:endParaRPr/>
                    </a:p>
                  </a:txBody>
                </a:tc>
              </a:tr>
              <a:tr h="0">
                <a:tc>
                  <a:txBody>
                    <a:bodyPr/>
                    <a:lstStyle/>
                    <a:p>
                      <a:pPr lvl="0" indent="0" marL="0">
                        <a:buNone/>
                      </a:pPr>
                      <a:r>
                        <a:rPr/>
                        <a:t>Reliable &amp; Budget Phones</a:t>
                      </a:r>
                    </a:p>
                  </a:txBody>
                </a:tc>
                <a:tc>
                  <a:txBody>
                    <a:bodyPr/>
                    <a:lstStyle/>
                    <a:p>
                      <a:pPr lvl="0" indent="0" marL="0">
                        <a:buNone/>
                      </a:pPr>
                      <a:r>
                        <a:rPr/>
                        <a:t>2 Years</a:t>
                      </a:r>
                    </a:p>
                  </a:txBody>
                </a:tc>
                <a:tc>
                  <a:txBody>
                    <a:bodyPr/>
                    <a:lstStyle/>
                    <a:p>
                      <a:pPr lvl="0" indent="0" marL="0">
                        <a:buNone/>
                      </a:pPr>
                      <a:r>
                        <a:rPr/>
                        <a:t>₹4,499</a:t>
                      </a:r>
                    </a:p>
                  </a:txBody>
                </a:tc>
                <a:tc>
                  <a:txBody>
                    <a:bodyPr/>
                    <a:lstStyle/>
                    <a:p>
                      <a:pPr lvl="0" indent="0" marL="0">
                        <a:buNone/>
                      </a:pPr>
                      <a:r>
                        <a:rPr/>
                        <a:t>$54</a:t>
                      </a:r>
                    </a:p>
                  </a:txBody>
                </a:tc>
                <a:tc>
                  <a:txBody>
                    <a:bodyPr/>
                    <a:lstStyle/>
                    <a:p>
                      <a:pPr lvl="0" indent="0" marL="0">
                        <a:buNone/>
                      </a:pPr>
                      <a:r>
                        <a:rPr/>
                        <a:t>Available for Core, Start series only</a:t>
                      </a:r>
                    </a:p>
                  </a:txBody>
                </a:tc>
              </a:tr>
              <a:tr h="0">
                <a:tc>
                  <a:txBody>
                    <a:bodyPr/>
                    <a:lstStyle/>
                    <a:p>
                      <a:pPr lvl="0" indent="0" marL="0">
                        <a:buNone/>
                      </a:pPr>
                      <a:r>
                        <a:rPr/>
                        <a:t>Reliable &amp; Budget Phones</a:t>
                      </a:r>
                    </a:p>
                  </a:txBody>
                </a:tc>
                <a:tc>
                  <a:txBody>
                    <a:bodyPr/>
                    <a:lstStyle/>
                    <a:p>
                      <a:pPr lvl="0" indent="0" marL="0">
                        <a:buNone/>
                      </a:pPr>
                      <a:r>
                        <a:rPr/>
                        <a:t>3 Years</a:t>
                      </a:r>
                    </a:p>
                  </a:txBody>
                </a:tc>
                <a:tc>
                  <a:txBody>
                    <a:bodyPr/>
                    <a:lstStyle/>
                    <a:p>
                      <a:pPr lvl="0" indent="0" marL="0">
                        <a:buNone/>
                      </a:pPr>
                      <a:r>
                        <a:rPr/>
                        <a:t>₹6,499</a:t>
                      </a:r>
                    </a:p>
                  </a:txBody>
                </a:tc>
                <a:tc>
                  <a:txBody>
                    <a:bodyPr/>
                    <a:lstStyle/>
                    <a:p>
                      <a:pPr lvl="0" indent="0" marL="0">
                        <a:buNone/>
                      </a:pPr>
                      <a:r>
                        <a:rPr/>
                        <a:t>$78</a:t>
                      </a:r>
                    </a:p>
                  </a:txBody>
                </a:tc>
                <a:tc>
                  <a:txBody>
                    <a:bodyPr/>
                    <a:lstStyle/>
                    <a:p>
                      <a:endParaRPr/>
                    </a:p>
                  </a:txBody>
                </a:tc>
              </a:tr>
              <a:tr h="0">
                <a:tc>
                  <a:txBody>
                    <a:bodyPr/>
                    <a:lstStyle/>
                    <a:p>
                      <a:pPr lvl="0" indent="0" marL="0">
                        <a:buNone/>
                      </a:pPr>
                      <a:r>
                        <a:rPr/>
                        <a:t>Velvera Pad (Tablets)</a:t>
                      </a:r>
                    </a:p>
                  </a:txBody>
                </a:tc>
                <a:tc>
                  <a:txBody>
                    <a:bodyPr/>
                    <a:lstStyle/>
                    <a:p>
                      <a:pPr lvl="0" indent="0" marL="0">
                        <a:buNone/>
                      </a:pPr>
                      <a:r>
                        <a:rPr/>
                        <a:t>2 Years</a:t>
                      </a:r>
                    </a:p>
                  </a:txBody>
                </a:tc>
                <a:tc>
                  <a:txBody>
                    <a:bodyPr/>
                    <a:lstStyle/>
                    <a:p>
                      <a:pPr lvl="0" indent="0" marL="0">
                        <a:buNone/>
                      </a:pPr>
                      <a:r>
                        <a:rPr/>
                        <a:t>₹7,499</a:t>
                      </a:r>
                    </a:p>
                  </a:txBody>
                </a:tc>
                <a:tc>
                  <a:txBody>
                    <a:bodyPr/>
                    <a:lstStyle/>
                    <a:p>
                      <a:pPr lvl="0" indent="0" marL="0">
                        <a:buNone/>
                      </a:pPr>
                      <a:r>
                        <a:rPr/>
                        <a:t>$91</a:t>
                      </a:r>
                    </a:p>
                  </a:txBody>
                </a:tc>
                <a:tc>
                  <a:txBody>
                    <a:bodyPr/>
                    <a:lstStyle/>
                    <a:p>
                      <a:pPr lvl="0" indent="0" marL="0">
                        <a:buNone/>
                      </a:pPr>
                      <a:r>
                        <a:rPr/>
                        <a:t>Also covers Velvera Pencil &amp; Keyboard</a:t>
                      </a:r>
                    </a:p>
                  </a:txBody>
                </a:tc>
              </a:tr>
              <a:tr h="0">
                <a:tc>
                  <a:txBody>
                    <a:bodyPr/>
                    <a:lstStyle/>
                    <a:p>
                      <a:pPr lvl="0" indent="0" marL="0">
                        <a:buNone/>
                      </a:pPr>
                      <a:r>
                        <a:rPr/>
                        <a:t>Velvera Pad (Tablets)</a:t>
                      </a:r>
                    </a:p>
                  </a:txBody>
                </a:tc>
                <a:tc>
                  <a:txBody>
                    <a:bodyPr/>
                    <a:lstStyle/>
                    <a:p>
                      <a:pPr lvl="0" indent="0" marL="0">
                        <a:buNone/>
                      </a:pPr>
                      <a:r>
                        <a:rPr/>
                        <a:t>3 Years</a:t>
                      </a:r>
                    </a:p>
                  </a:txBody>
                </a:tc>
                <a:tc>
                  <a:txBody>
                    <a:bodyPr/>
                    <a:lstStyle/>
                    <a:p>
                      <a:pPr lvl="0" indent="0" marL="0">
                        <a:buNone/>
                      </a:pPr>
                      <a:r>
                        <a:rPr/>
                        <a:t>₹10,999</a:t>
                      </a:r>
                    </a:p>
                  </a:txBody>
                </a:tc>
                <a:tc>
                  <a:txBody>
                    <a:bodyPr/>
                    <a:lstStyle/>
                    <a:p>
                      <a:pPr lvl="0" indent="0" marL="0">
                        <a:buNone/>
                      </a:pPr>
                      <a:r>
                        <a:rPr/>
                        <a:t>$133</a:t>
                      </a:r>
                    </a:p>
                  </a:txBody>
                </a:tc>
                <a:tc>
                  <a:txBody>
                    <a:bodyPr/>
                    <a:lstStyle/>
                    <a:p>
                      <a:endParaRPr/>
                    </a:p>
                  </a:txBody>
                </a:tc>
              </a:tr>
              <a:tr h="0">
                <a:tc>
                  <a:txBody>
                    <a:bodyPr/>
                    <a:lstStyle/>
                    <a:p>
                      <a:pPr lvl="0" indent="0" marL="0">
                        <a:buNone/>
                      </a:pPr>
                      <a:r>
                        <a:rPr/>
                        <a:t>Velvera Watch (Wearables)</a:t>
                      </a:r>
                    </a:p>
                  </a:txBody>
                </a:tc>
                <a:tc>
                  <a:txBody>
                    <a:bodyPr/>
                    <a:lstStyle/>
                    <a:p>
                      <a:pPr lvl="0" indent="0" marL="0">
                        <a:buNone/>
                      </a:pPr>
                      <a:r>
                        <a:rPr/>
                        <a:t>2 Years</a:t>
                      </a:r>
                    </a:p>
                  </a:txBody>
                </a:tc>
                <a:tc>
                  <a:txBody>
                    <a:bodyPr/>
                    <a:lstStyle/>
                    <a:p>
                      <a:pPr lvl="0" indent="0" marL="0">
                        <a:buNone/>
                      </a:pPr>
                      <a:r>
                        <a:rPr/>
                        <a:t>₹3,299</a:t>
                      </a:r>
                    </a:p>
                  </a:txBody>
                </a:tc>
                <a:tc>
                  <a:txBody>
                    <a:bodyPr/>
                    <a:lstStyle/>
                    <a:p>
                      <a:pPr lvl="0" indent="0" marL="0">
                        <a:buNone/>
                      </a:pPr>
                      <a:r>
                        <a:rPr/>
                        <a:t>$40</a:t>
                      </a:r>
                    </a:p>
                  </a:txBody>
                </a:tc>
                <a:tc>
                  <a:txBody>
                    <a:bodyPr/>
                    <a:lstStyle/>
                    <a:p>
                      <a:endParaRPr/>
                    </a:p>
                  </a:txBody>
                </a:tc>
              </a:tr>
              <a:tr h="0">
                <a:tc>
                  <a:txBody>
                    <a:bodyPr/>
                    <a:lstStyle/>
                    <a:p>
                      <a:pPr lvl="0" indent="0" marL="0">
                        <a:buNone/>
                      </a:pPr>
                      <a:r>
                        <a:rPr/>
                        <a:t>Velvera Watch (Wearables)</a:t>
                      </a:r>
                    </a:p>
                  </a:txBody>
                </a:tc>
                <a:tc>
                  <a:txBody>
                    <a:bodyPr/>
                    <a:lstStyle/>
                    <a:p>
                      <a:pPr lvl="0" indent="0" marL="0">
                        <a:buNone/>
                      </a:pPr>
                      <a:r>
                        <a:rPr/>
                        <a:t>3 Years</a:t>
                      </a:r>
                    </a:p>
                  </a:txBody>
                </a:tc>
                <a:tc>
                  <a:txBody>
                    <a:bodyPr/>
                    <a:lstStyle/>
                    <a:p>
                      <a:pPr lvl="0" indent="0" marL="0">
                        <a:buNone/>
                      </a:pPr>
                      <a:r>
                        <a:rPr/>
                        <a:t>₹4,799</a:t>
                      </a:r>
                    </a:p>
                  </a:txBody>
                </a:tc>
                <a:tc>
                  <a:txBody>
                    <a:bodyPr/>
                    <a:lstStyle/>
                    <a:p>
                      <a:pPr lvl="0" indent="0" marL="0">
                        <a:buNone/>
                      </a:pPr>
                      <a:r>
                        <a:rPr/>
                        <a:t>$58</a:t>
                      </a:r>
                    </a:p>
                  </a:txBody>
                </a:tc>
                <a:tc>
                  <a:txBody>
                    <a:bodyPr/>
                    <a:lstStyle/>
                    <a:p>
                      <a:endParaRPr/>
                    </a:p>
                  </a:txBody>
                </a:tc>
              </a:tr>
              <a:tr h="0">
                <a:tc>
                  <a:txBody>
                    <a:bodyPr/>
                    <a:lstStyle/>
                    <a:p>
                      <a:pPr lvl="0" indent="0" marL="0">
                        <a:buNone/>
                      </a:pPr>
                      <a:r>
                        <a:rPr/>
                        <a:t>Velvera Audio Products</a:t>
                      </a:r>
                    </a:p>
                  </a:txBody>
                </a:tc>
                <a:tc>
                  <a:txBody>
                    <a:bodyPr/>
                    <a:lstStyle/>
                    <a:p>
                      <a:pPr lvl="0" indent="0" marL="0">
                        <a:buNone/>
                      </a:pPr>
                      <a:r>
                        <a:rPr/>
                        <a:t>2 Years</a:t>
                      </a:r>
                    </a:p>
                  </a:txBody>
                </a:tc>
                <a:tc>
                  <a:txBody>
                    <a:bodyPr/>
                    <a:lstStyle/>
                    <a:p>
                      <a:pPr lvl="0" indent="0" marL="0">
                        <a:buNone/>
                      </a:pPr>
                      <a:r>
                        <a:rPr/>
                        <a:t>₹2,199</a:t>
                      </a:r>
                    </a:p>
                  </a:txBody>
                </a:tc>
                <a:tc>
                  <a:txBody>
                    <a:bodyPr/>
                    <a:lstStyle/>
                    <a:p>
                      <a:pPr lvl="0" indent="0" marL="0">
                        <a:buNone/>
                      </a:pPr>
                      <a:r>
                        <a:rPr/>
                        <a:t>$27</a:t>
                      </a:r>
                    </a:p>
                  </a:txBody>
                </a:tc>
                <a:tc>
                  <a:txBody>
                    <a:bodyPr/>
                    <a:lstStyle/>
                    <a:p>
                      <a:endParaRPr/>
                    </a:p>
                  </a:txBody>
                </a:tc>
              </a:tr>
              <a:tr h="0">
                <a:tc>
                  <a:txBody>
                    <a:bodyPr/>
                    <a:lstStyle/>
                    <a:p>
                      <a:pPr lvl="0" indent="0" marL="0">
                        <a:buNone/>
                      </a:pPr>
                      <a:r>
                        <a:rPr/>
                        <a:t>Velvera Audio Products</a:t>
                      </a:r>
                    </a:p>
                  </a:txBody>
                </a:tc>
                <a:tc>
                  <a:txBody>
                    <a:bodyPr/>
                    <a:lstStyle/>
                    <a:p>
                      <a:pPr lvl="0" indent="0" marL="0">
                        <a:buNone/>
                      </a:pPr>
                      <a:r>
                        <a:rPr/>
                        <a:t>3 Years</a:t>
                      </a:r>
                    </a:p>
                  </a:txBody>
                </a:tc>
                <a:tc>
                  <a:txBody>
                    <a:bodyPr/>
                    <a:lstStyle/>
                    <a:p>
                      <a:pPr lvl="0" indent="0" marL="0">
                        <a:buNone/>
                      </a:pPr>
                      <a:r>
                        <a:rPr/>
                        <a:t>₹3,099</a:t>
                      </a:r>
                    </a:p>
                  </a:txBody>
                </a:tc>
                <a:tc>
                  <a:txBody>
                    <a:bodyPr/>
                    <a:lstStyle/>
                    <a:p>
                      <a:pPr lvl="0" indent="0" marL="0">
                        <a:buNone/>
                      </a:pPr>
                      <a:r>
                        <a:rPr/>
                        <a:t>$37</a:t>
                      </a:r>
                    </a:p>
                  </a:txBody>
                </a:tc>
                <a:tc>
                  <a:txBody>
                    <a:bodyPr/>
                    <a:lstStyle/>
                    <a:p>
                      <a:endParaRP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What’s Included</a:t>
            </a:r>
          </a:p>
          <a:p>
            <a:pPr lvl="0"/>
            <a:r>
              <a:rPr b="1"/>
              <a:t>Extended Warranty</a:t>
            </a:r>
            <a:r>
              <a:rPr/>
              <a:t>: Adds 1 or 2 years (total up to 3 years) device warranty, including all manufacturing defects.</a:t>
            </a:r>
          </a:p>
          <a:p>
            <a:pPr lvl="0"/>
            <a:r>
              <a:rPr b="1"/>
              <a:t>Accidental Damage Protection</a:t>
            </a:r>
            <a:r>
              <a:rPr/>
              <a:t>: Covers screen, body, and internal hardware repairs due to accidental drops, liquid spills, electrical surges, and more (</a:t>
            </a:r>
            <a:r>
              <a:rPr i="1"/>
              <a:t>2 claims per year, deductible applies</a:t>
            </a:r>
            <a:r>
              <a:rPr/>
              <a:t>).</a:t>
            </a:r>
          </a:p>
          <a:p>
            <a:pPr lvl="0"/>
            <a:r>
              <a:rPr b="1"/>
              <a:t>Battery Coverage</a:t>
            </a:r>
            <a:r>
              <a:rPr/>
              <a:t>: Free replacement for performance degradation (max 2 batteries during coverage).</a:t>
            </a:r>
          </a:p>
          <a:p>
            <a:pPr lvl="0"/>
            <a:r>
              <a:rPr b="1"/>
              <a:t>Express Replacement Service</a:t>
            </a:r>
            <a:r>
              <a:rPr/>
              <a:t>: Receive a replacement device before returning the original for eligible issues.</a:t>
            </a:r>
          </a:p>
          <a:p>
            <a:pPr lvl="0"/>
            <a:r>
              <a:rPr b="1"/>
              <a:t>Priority Support</a:t>
            </a:r>
            <a:r>
              <a:rPr/>
              <a:t>: 24x7 hotline and live chat access with expert technicians.</a:t>
            </a:r>
          </a:p>
          <a:p>
            <a:pPr lvl="0"/>
            <a:r>
              <a:rPr b="1"/>
              <a:t>International Service</a:t>
            </a:r>
            <a:r>
              <a:rPr/>
              <a:t>: Coverage honored at authorized Velvera service points globally.</a:t>
            </a:r>
          </a:p>
          <a:p>
            <a:pPr lvl="0"/>
            <a:r>
              <a:rPr b="1"/>
              <a:t>Free Shipping for Repairs</a:t>
            </a:r>
            <a:r>
              <a:rPr/>
              <a:t>: Doorstep pickup and delivery for service requests (up to 2 times per year).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Eligibility &amp; Enrollment</a:t>
            </a:r>
          </a:p>
          <a:p>
            <a:pPr lvl="0"/>
            <a:r>
              <a:rPr b="1"/>
              <a:t>Eligible Devices</a:t>
            </a:r>
            <a:r>
              <a:rPr/>
              <a:t>: All new Velvera smartphones, tablets, watches, and audio products purchased from authorized sales channels.</a:t>
            </a:r>
          </a:p>
          <a:p>
            <a:pPr lvl="0"/>
            <a:r>
              <a:rPr b="1"/>
              <a:t>Enrollment Window</a:t>
            </a:r>
            <a:r>
              <a:rPr/>
              <a:t>: Within 120 days of original purchase date.</a:t>
            </a:r>
          </a:p>
          <a:p>
            <a:pPr lvl="0"/>
            <a:r>
              <a:rPr b="1"/>
              <a:t>Plan Transfer</a:t>
            </a:r>
            <a:r>
              <a:rPr/>
              <a:t>: Coverage transfers automatically if device ownership changes via Velvera’s official transfer portal.</a:t>
            </a:r>
          </a:p>
          <a:p>
            <a:pPr lvl="0"/>
            <a:r>
              <a:rPr b="1"/>
              <a:t>Coverage Start</a:t>
            </a:r>
            <a:r>
              <a:rPr/>
              <a:t>: Begins on the date of original device purchase.</a:t>
            </a:r>
          </a:p>
          <a:p>
            <a:pPr lvl="0"/>
            <a:r>
              <a:rPr b="1"/>
              <a:t>Proof of Purchase</a:t>
            </a:r>
            <a:r>
              <a:rPr/>
              <a:t>: Required at time of service request.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Claim Process</a:t>
            </a:r>
          </a:p>
          <a:p>
            <a:pPr lvl="0" indent="-342900" marL="342900">
              <a:buAutoNum type="arabicPeriod"/>
            </a:pPr>
            <a:r>
              <a:rPr b="1"/>
              <a:t>Contact Support:</a:t>
            </a:r>
            <a:r>
              <a:rPr/>
              <a:t> Reach out via toll-free support, email, or in-app Service tab.</a:t>
            </a:r>
          </a:p>
          <a:p>
            <a:pPr lvl="0" indent="-342900" marL="342900">
              <a:buAutoNum type="arabicPeriod"/>
            </a:pPr>
            <a:r>
              <a:rPr b="1"/>
              <a:t>Remote Troubleshooting:</a:t>
            </a:r>
            <a:r>
              <a:rPr/>
              <a:t> Velvera agents diagnose the issue.</a:t>
            </a:r>
          </a:p>
          <a:p>
            <a:pPr lvl="0" indent="-342900" marL="342900">
              <a:buAutoNum type="arabicPeriod"/>
            </a:pPr>
            <a:r>
              <a:rPr b="1"/>
              <a:t>Pickup &amp; Service:</a:t>
            </a:r>
            <a:r>
              <a:rPr/>
              <a:t> For damages or hardware issues, Velvera arranges pickup (where available); most repairs completed within 3–5 business days.</a:t>
            </a:r>
          </a:p>
          <a:p>
            <a:pPr lvl="0" indent="-342900" marL="342900">
              <a:buAutoNum type="arabicPeriod"/>
            </a:pPr>
            <a:r>
              <a:rPr b="1"/>
              <a:t>Express Replacement:</a:t>
            </a:r>
            <a:r>
              <a:rPr/>
              <a:t> For major faults or urgent needs, eligible customers receive a replacement device in advance.</a:t>
            </a:r>
          </a:p>
          <a:p>
            <a:pPr lvl="0" indent="-342900" marL="342900">
              <a:buAutoNum type="arabicPeriod"/>
            </a:pPr>
            <a:r>
              <a:rPr b="1"/>
              <a:t>Claim Limitation:</a:t>
            </a:r>
            <a:r>
              <a:rPr/>
              <a:t> Maximum of 2 accidental damage claims per year; unlimited hardware defect claims during coverage.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Terms</a:t>
            </a:r>
          </a:p>
          <a:p>
            <a:pPr lvl="0"/>
            <a:r>
              <a:rPr b="1"/>
              <a:t>Deductible/Service Fee:</a:t>
            </a:r>
            <a:r>
              <a:rPr/>
              <a:t> For each accidental damage claim, a nominal fee applies (“screen: ₹1,199/US$15; other: ₹1,999/US$24 per claim”).</a:t>
            </a:r>
          </a:p>
          <a:p>
            <a:pPr lvl="0"/>
            <a:r>
              <a:rPr b="1"/>
              <a:t>What’s Not Covered:</a:t>
            </a:r>
            <a:r>
              <a:rPr/>
              <a:t> Loss/theft, intentional damage, unauthorized repairs, accessories (unless enrolled specifically), or cosmetic-only issues are not included.</a:t>
            </a:r>
          </a:p>
          <a:p>
            <a:pPr lvl="0"/>
            <a:r>
              <a:rPr b="1"/>
              <a:t>Cancellation &amp; Refunds:</a:t>
            </a:r>
            <a:r>
              <a:rPr/>
              <a:t> Full refund within 30 days of plan activation if unused. Pro-rated refund available within coverage period if no claims made.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Contact Velvera Plus</a:t>
            </a:r>
          </a:p>
          <a:p>
            <a:pPr lvl="0"/>
            <a:r>
              <a:rPr b="1"/>
              <a:t>Coverage Queries &amp; Claims:</a:t>
            </a:r>
            <a:r>
              <a:rPr/>
              <a:t> plus.support@velvera.com</a:t>
            </a:r>
            <a:br/>
          </a:p>
          <a:p>
            <a:pPr lvl="0"/>
            <a:r>
              <a:rPr b="1"/>
              <a:t>Sales &amp; Enrollment:</a:t>
            </a:r>
            <a:r>
              <a:rPr/>
              <a:t> plus@velvera.com</a:t>
            </a:r>
            <a:br/>
          </a:p>
          <a:p>
            <a:pPr lvl="0"/>
            <a:r>
              <a:rPr b="1"/>
              <a:t>Live Chat:</a:t>
            </a:r>
            <a:r>
              <a:rPr/>
              <a:t> Velvera.com/support</a:t>
            </a:r>
          </a:p>
          <a:p>
            <a:pPr lvl="0" indent="0" marL="0">
              <a:buNone/>
            </a:pPr>
            <a:r>
              <a:rPr/>
              <a:t>Full plan terms, exclusions, and privacy practices available at velvera.com/plus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Velvera Plus — Smart protection. Total peace of mind.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2025-07-29T14:53:18Z</dcterms:created>
  <dcterms:modified xsi:type="dcterms:W3CDTF">2025-07-29T14:53:18Z</dcterms:modified>
</cp:coreProperties>
</file>

<file path=docProps/custom.xml><?xml version="1.0" encoding="utf-8"?>
<Properties xmlns="http://schemas.openxmlformats.org/officeDocument/2006/custom-properties" xmlns:vt="http://schemas.openxmlformats.org/officeDocument/2006/docPropsVTypes"/>
</file>