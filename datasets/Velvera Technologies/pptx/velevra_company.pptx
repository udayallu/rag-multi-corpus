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Velvera COMPANY OVERVIEW</a:t>
            </a:r>
          </a:p>
        </p:txBody>
      </p:sp>
      <p:sp>
        <p:nvSpPr>
          <p:cNvPr id="3" name="Content Placeholder 2"/>
          <p:cNvSpPr>
            <a:spLocks noGrp="1"/>
          </p:cNvSpPr>
          <p:nvPr>
            <p:ph idx="1"/>
          </p:nvPr>
        </p:nvSpPr>
        <p:spPr/>
        <p:txBody>
          <a:bodyPr/>
          <a:lstStyle/>
          <a:p>
            <a:pPr lvl="0" indent="0" marL="0">
              <a:buNone/>
            </a:pPr>
            <a:r>
              <a:rPr b="1"/>
              <a:t>Internal Document | Confidential</a:t>
            </a:r>
            <a:br/>
            <a:r>
              <a:rPr i="1"/>
              <a:t>Document Version: 2.1 | Last Updated: July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EXECUTIVE SUMMARY</a:t>
            </a:r>
          </a:p>
          <a:p>
            <a:pPr lvl="0" indent="0" marL="0">
              <a:buNone/>
            </a:pPr>
            <a:r>
              <a:rPr/>
              <a:t>Velvera represents a paradigm shift in mobile technology, positioning itself as the premium alternative to mass-market smartphone manufacturers. Founded on the principle that technology should enhance human potential rather than exploit it, we deliver meticulously crafted mobile devices that prioritize user agency, privacy, and sustainable innovation.</a:t>
            </a:r>
          </a:p>
          <a:p>
            <a:pPr lvl="0" indent="0" marL="0">
              <a:buNone/>
            </a:pPr>
            <a:r>
              <a:rPr/>
              <a:t>Our differentiated approach combines enterprise-grade security with consumer-friendly design, targeting discerning users who demand both performance and principles from their technology investments.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COMPANY MISSION STATEMENT</a:t>
            </a:r>
          </a:p>
          <a:p>
            <a:pPr lvl="0" indent="0" marL="0">
              <a:buNone/>
            </a:pPr>
            <a:r>
              <a:rPr b="1"/>
              <a:t>Primary Mission:</a:t>
            </a:r>
            <a:br/>
            <a:r>
              <a:rPr/>
              <a:t>To architect and manufacture mobile computing devices that seamlessly integrate precision engineering, minimalist design philosophy, and human-centered technology solutions, empowering users to achieve optimal productivity and connectivity without sacrificing personal privacy or environmental responsibility.</a:t>
            </a:r>
          </a:p>
          <a:p>
            <a:pPr lvl="0" indent="0" marL="0">
              <a:buNone/>
            </a:pPr>
            <a:r>
              <a:rPr b="1"/>
              <a:t>Vision Statement:</a:t>
            </a:r>
            <a:br/>
            <a:r>
              <a:rPr/>
              <a:t>To become the globally recognized leader in ethical mobile technology, setting new industry standards for user privacy, device longevity, and sustainable manufacturing practices while maintaining uncompromising performance standards.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CORE VALUES FRAMEWORK</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Core Value</a:t>
                      </a:r>
                    </a:p>
                  </a:txBody>
                  <a:tcPr/>
                </a:tc>
                <a:tc>
                  <a:txBody>
                    <a:bodyPr/>
                    <a:lstStyle/>
                    <a:p>
                      <a:pPr lvl="0" indent="0" marL="0">
                        <a:buNone/>
                      </a:pPr>
                      <a:r>
                        <a:rPr/>
                        <a:t>Philosophy</a:t>
                      </a:r>
                    </a:p>
                  </a:txBody>
                  <a:tcPr/>
                </a:tc>
                <a:tc>
                  <a:txBody>
                    <a:bodyPr/>
                    <a:lstStyle/>
                    <a:p>
                      <a:pPr lvl="0" indent="0" marL="0">
                        <a:buNone/>
                      </a:pPr>
                      <a:r>
                        <a:rPr/>
                        <a:t>Key Implementation Areas</a:t>
                      </a:r>
                    </a:p>
                  </a:txBody>
                  <a:tcPr/>
                </a:tc>
              </a:tr>
              <a:tr h="0">
                <a:tc>
                  <a:txBody>
                    <a:bodyPr/>
                    <a:lstStyle/>
                    <a:p>
                      <a:pPr lvl="0" indent="0" marL="0">
                        <a:buNone/>
                      </a:pPr>
                      <a:r>
                        <a:rPr b="1"/>
                        <a:t>SIMPLICITY</a:t>
                      </a:r>
                    </a:p>
                  </a:txBody>
                </a:tc>
                <a:tc>
                  <a:txBody>
                    <a:bodyPr/>
                    <a:lstStyle/>
                    <a:p>
                      <a:pPr lvl="0" indent="0" marL="0">
                        <a:buNone/>
                      </a:pPr>
                      <a:r>
                        <a:rPr/>
                        <a:t>Complexity is the enemy of usability. Every interface element, software feature, and hardware component must serve a clear purpose in enhancing user experience.</a:t>
                      </a:r>
                    </a:p>
                  </a:txBody>
                </a:tc>
                <a:tc>
                  <a:txBody>
                    <a:bodyPr/>
                    <a:lstStyle/>
                    <a:p>
                      <a:pPr lvl="0" indent="0" marL="0">
                        <a:buNone/>
                      </a:pPr>
                      <a:r>
                        <a:rPr/>
                        <a:t>Zero bloatware, clean Android experience, intuitive navigation, streamlined settings</a:t>
                      </a:r>
                    </a:p>
                  </a:txBody>
                </a:tc>
              </a:tr>
              <a:tr h="0">
                <a:tc>
                  <a:txBody>
                    <a:bodyPr/>
                    <a:lstStyle/>
                    <a:p>
                      <a:pPr lvl="0" indent="0" marL="0">
                        <a:buNone/>
                      </a:pPr>
                      <a:r>
                        <a:rPr b="1"/>
                        <a:t>PERFORMANCE</a:t>
                      </a:r>
                    </a:p>
                  </a:txBody>
                </a:tc>
                <a:tc>
                  <a:txBody>
                    <a:bodyPr/>
                    <a:lstStyle/>
                    <a:p>
                      <a:pPr lvl="0" indent="0" marL="0">
                        <a:buNone/>
                      </a:pPr>
                      <a:r>
                        <a:rPr/>
                        <a:t>Hardware and software must function as a unified system, optimized for sustained performance across all use cases.</a:t>
                      </a:r>
                    </a:p>
                  </a:txBody>
                </a:tc>
                <a:tc>
                  <a:txBody>
                    <a:bodyPr/>
                    <a:lstStyle/>
                    <a:p>
                      <a:pPr lvl="0" indent="0" marL="0">
                        <a:buNone/>
                      </a:pPr>
                      <a:r>
                        <a:rPr/>
                        <a:t>Custom silicon partnerships, thermal management, optimized memory architecture, graphics processing</a:t>
                      </a:r>
                    </a:p>
                  </a:txBody>
                </a:tc>
              </a:tr>
              <a:tr h="0">
                <a:tc>
                  <a:txBody>
                    <a:bodyPr/>
                    <a:lstStyle/>
                    <a:p>
                      <a:pPr lvl="0" indent="0" marL="0">
                        <a:buNone/>
                      </a:pPr>
                      <a:r>
                        <a:rPr b="1"/>
                        <a:t>PRIVACY FIRST</a:t>
                      </a:r>
                    </a:p>
                  </a:txBody>
                </a:tc>
                <a:tc>
                  <a:txBody>
                    <a:bodyPr/>
                    <a:lstStyle/>
                    <a:p>
                      <a:pPr lvl="0" indent="0" marL="0">
                        <a:buNone/>
                      </a:pPr>
                      <a:r>
                        <a:rPr/>
                        <a:t>User data sovereignty is non-negotiable. Privacy protection must be embedded at the hardware level, not added as an afterthought.</a:t>
                      </a:r>
                    </a:p>
                  </a:txBody>
                </a:tc>
                <a:tc>
                  <a:txBody>
                    <a:bodyPr/>
                    <a:lstStyle/>
                    <a:p>
                      <a:pPr lvl="0" indent="0" marL="0">
                        <a:buNone/>
                      </a:pPr>
                      <a:r>
                        <a:rPr/>
                        <a:t>Dedicated security chip, local AI processing, granular permissions, no advertising partnerships</a:t>
                      </a:r>
                    </a:p>
                  </a:txBody>
                </a:tc>
              </a:tr>
              <a:tr h="0">
                <a:tc>
                  <a:txBody>
                    <a:bodyPr/>
                    <a:lstStyle/>
                    <a:p>
                      <a:pPr lvl="0" indent="0" marL="0">
                        <a:buNone/>
                      </a:pPr>
                      <a:r>
                        <a:rPr b="1"/>
                        <a:t>LONGEVITY</a:t>
                      </a:r>
                    </a:p>
                  </a:txBody>
                </a:tc>
                <a:tc>
                  <a:txBody>
                    <a:bodyPr/>
                    <a:lstStyle/>
                    <a:p>
                      <a:pPr lvl="0" indent="0" marL="0">
                        <a:buNone/>
                      </a:pPr>
                      <a:r>
                        <a:rPr/>
                        <a:t>Devices should remain functional, secure, and relevant for extended periods, reducing electronic waste and maximizing user investment value.</a:t>
                      </a:r>
                    </a:p>
                  </a:txBody>
                </a:tc>
                <a:tc>
                  <a:txBody>
                    <a:bodyPr/>
                    <a:lstStyle/>
                    <a:p>
                      <a:pPr lvl="0" indent="0" marL="0">
                        <a:buNone/>
                      </a:pPr>
                      <a:r>
                        <a:rPr/>
                        <a:t>Five-year software support, modular hardware design, battery optimization, comprehensive repair support</a:t>
                      </a:r>
                    </a:p>
                  </a:txBody>
                </a:tc>
              </a:tr>
              <a:tr h="0">
                <a:tc>
                  <a:txBody>
                    <a:bodyPr/>
                    <a:lstStyle/>
                    <a:p>
                      <a:pPr lvl="0" indent="0" marL="0">
                        <a:buNone/>
                      </a:pPr>
                      <a:r>
                        <a:rPr b="1"/>
                        <a:t>SUSTAINABILITY</a:t>
                      </a:r>
                    </a:p>
                  </a:txBody>
                </a:tc>
                <a:tc>
                  <a:txBody>
                    <a:bodyPr/>
                    <a:lstStyle/>
                    <a:p>
                      <a:pPr lvl="0" indent="0" marL="0">
                        <a:buNone/>
                      </a:pPr>
                      <a:r>
                        <a:rPr/>
                        <a:t>Environmental responsibility must be integrated into every aspect of product development, manufacturing, and distribution.</a:t>
                      </a:r>
                    </a:p>
                  </a:txBody>
                </a:tc>
                <a:tc>
                  <a:txBody>
                    <a:bodyPr/>
                    <a:lstStyle/>
                    <a:p>
                      <a:pPr lvl="0" indent="0" marL="0">
                        <a:buNone/>
                      </a:pPr>
                      <a:r>
                        <a:rPr/>
                        <a:t>Conflict-free sourcing, recyclable packaging, carbon-neutral logistics, take-back programs</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PRODUCT PHILOSOPHY</a:t>
            </a:r>
          </a:p>
          <a:p>
            <a:pPr lvl="0" indent="0" marL="0">
              <a:spcBef>
                <a:spcPts val="3000"/>
              </a:spcBef>
              <a:buNone/>
            </a:pPr>
            <a:r>
              <a:rPr b="1"/>
              <a:t>USER-CENTRIC DESIGN METHODOLOGY</a:t>
            </a:r>
          </a:p>
          <a:p>
            <a:pPr lvl="0" indent="0" marL="0">
              <a:buNone/>
            </a:pPr>
            <a:r>
              <a:rPr/>
              <a:t>Velvera products are developed through extensive user research and iterative design processes that prioritize real-world usage patterns over feature proliferation. Our design philosophy emphasizes three core principles that guide every product decision.</a:t>
            </a:r>
          </a:p>
          <a:p>
            <a:pPr lvl="0" indent="0" marL="0">
              <a:buNone/>
            </a:pPr>
            <a:r>
              <a:rPr b="1"/>
              <a:t>Ergonomic Excellence</a:t>
            </a:r>
            <a:r>
              <a:rPr/>
              <a:t> forms the foundation of our physical design approach. Every aspect of our devices is optimized for extended daily use, considering hand positioning, weight distribution, and tactile feedback. Our engineering teams conduct extensive usability studies to ensure comfort across diverse user demographics and usage patterns.</a:t>
            </a:r>
          </a:p>
          <a:p>
            <a:pPr lvl="0" indent="0" marL="0">
              <a:buNone/>
            </a:pPr>
            <a:r>
              <a:rPr b="1"/>
              <a:t>Aesthetic Coherence</a:t>
            </a:r>
            <a:r>
              <a:rPr/>
              <a:t> ensures that visual design elements follow consistent principles across all product lines. We maintain unified color palettes, consistent typography, and recognizable form language that creates a premium brand experience while remaining timeless and functional.</a:t>
            </a:r>
          </a:p>
          <a:p>
            <a:pPr lvl="0" indent="0" marL="0">
              <a:buNone/>
            </a:pPr>
            <a:r>
              <a:rPr b="1"/>
              <a:t>Functional Minimalism</a:t>
            </a:r>
            <a:r>
              <a:rPr/>
              <a:t> drives our feature selection process. Rather than competing on feature count, we focus on implementing capabilities that serve genuine user needs. Each feature undergoes rigorous utility analysis and performance impact assessment before integration.</a:t>
            </a:r>
          </a:p>
          <a:p>
            <a:pPr lvl="0" indent="0" marL="0">
              <a:spcBef>
                <a:spcPts val="3000"/>
              </a:spcBef>
              <a:buNone/>
            </a:pPr>
            <a:r>
              <a:rPr b="1"/>
              <a:t>TECHNICAL ARCHITECTURE PRINCIPLES</a:t>
            </a:r>
          </a:p>
          <a:p>
            <a:pPr lvl="0" indent="0" marL="0">
              <a:buNone/>
            </a:pPr>
            <a:r>
              <a:rPr/>
              <a:t>Our technical approach prioritizes </a:t>
            </a:r>
            <a:r>
              <a:rPr b="1"/>
              <a:t>Hardware-Software Integration</a:t>
            </a:r>
            <a:r>
              <a:rPr/>
              <a:t> through cross-functional development teams that work collaboratively to ensure optimal performance. We maintain shared performance benchmarks and unified testing protocols to guarantee seamless operation across all system components.</a:t>
            </a:r>
          </a:p>
          <a:p>
            <a:pPr lvl="0" indent="0" marL="0">
              <a:buNone/>
            </a:pPr>
            <a:r>
              <a:rPr b="1"/>
              <a:t>Security-by-Design</a:t>
            </a:r>
            <a:r>
              <a:rPr/>
              <a:t> represents our commitment to user privacy and data protection. Security considerations are integrated into the initial design phase rather than added as subsequent layers. This approach includes hardware security modules, encrypted storage architecture, and secure boot processes that protect user data from the ground up.</a:t>
            </a:r>
          </a:p>
          <a:p>
            <a:pPr lvl="0" indent="0" marL="0">
              <a:buNone/>
            </a:pPr>
            <a:r>
              <a:rPr b="1"/>
              <a:t>Scalable Performance</a:t>
            </a:r>
            <a:r>
              <a:rPr/>
              <a:t> ensures our devices remain relevant throughout their extended lifecycle. We design architecture that can handle increasing computational demands, incorporating future-proof processing capabilities, expandable memory architecture, and modular component design that adapts to evolving user needs.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MARKET POSITIONING</a:t>
            </a:r>
          </a:p>
          <a:p>
            <a:pPr lvl="0" indent="0" marL="0">
              <a:spcBef>
                <a:spcPts val="3000"/>
              </a:spcBef>
              <a:buNone/>
            </a:pPr>
            <a:r>
              <a:rPr b="1"/>
              <a:t>TARGET DEMOGRAPHICS</a:t>
            </a:r>
          </a:p>
          <a:p>
            <a:pPr lvl="0" indent="0" marL="0">
              <a:buNone/>
            </a:pPr>
            <a:r>
              <a:rPr/>
              <a:t>Our </a:t>
            </a:r>
            <a:r>
              <a:rPr b="1"/>
              <a:t>Primary Segment</a:t>
            </a:r>
            <a:r>
              <a:rPr/>
              <a:t> consists of privacy-conscious professionals and technology enthusiasts who prioritize security, performance, and ethical manufacturing practices over brand status or aggressive pricing. This demographic represents approximately 12% of the premium smartphone market and demonstrates high brand loyalty when their values align with product offerings.</a:t>
            </a:r>
          </a:p>
          <a:p>
            <a:pPr lvl="0" indent="0" marL="0">
              <a:buNone/>
            </a:pPr>
            <a:r>
              <a:rPr/>
              <a:t>The </a:t>
            </a:r>
            <a:r>
              <a:rPr b="1"/>
              <a:t>Secondary Segment</a:t>
            </a:r>
            <a:r>
              <a:rPr/>
              <a:t> includes creative professionals requiring reliable mobile computing platforms for content creation, editing, and collaboration workflows. These users demand consistent performance under demanding workloads and represent 8% of the premium smartphone market with specific requirements for display quality and processing power.</a:t>
            </a:r>
          </a:p>
          <a:p>
            <a:pPr lvl="0" indent="0" marL="0">
              <a:buNone/>
            </a:pPr>
            <a:r>
              <a:rPr/>
              <a:t>Our </a:t>
            </a:r>
            <a:r>
              <a:rPr b="1"/>
              <a:t>Tertiary Segment</a:t>
            </a:r>
            <a:r>
              <a:rPr/>
              <a:t> encompasses corporate users requiring secure mobile devices that meet enterprise security standards while maintaining user-friendly interfaces. This business-focused segment represents 15% of the business smartphone market and values compliance, manageability, and productivity features.</a:t>
            </a:r>
          </a:p>
          <a:p>
            <a:pPr lvl="0" indent="0" marL="0">
              <a:spcBef>
                <a:spcPts val="3000"/>
              </a:spcBef>
              <a:buNone/>
            </a:pPr>
            <a:r>
              <a:rPr b="1"/>
              <a:t>COMPETITIVE DIFFERENTIATION</a:t>
            </a:r>
          </a:p>
          <a:p>
            <a:pPr lvl="0" indent="0" marL="0">
              <a:buNone/>
            </a:pPr>
            <a:r>
              <a:rPr b="1"/>
              <a:t>Transparency</a:t>
            </a:r>
            <a:r>
              <a:rPr/>
              <a:t> sets Velvera apart through full disclosure of supply chain practices, manufacturing processes, and data handling policies. While industry standards maintain opacity around these practices, our commitment to transparency builds trust and enables informed purchasing decisions.</a:t>
            </a:r>
          </a:p>
          <a:p>
            <a:pPr lvl="0" indent="0" marL="0">
              <a:buNone/>
            </a:pPr>
            <a:r>
              <a:rPr b="1"/>
              <a:t>Repairability</a:t>
            </a:r>
            <a:r>
              <a:rPr/>
              <a:t> represents a fundamental departure from industry norms. We provide comprehensive repair support and documentation, enabling users to maintain device functionality independently or through authorized service providers. This approach reduces total cost of ownership and aligns with our sustainability commitments.</a:t>
            </a:r>
          </a:p>
          <a:p>
            <a:pPr lvl="0" indent="0" marL="0">
              <a:buNone/>
            </a:pPr>
            <a:r>
              <a:rPr b="1"/>
              <a:t>Community Engagement</a:t>
            </a:r>
            <a:r>
              <a:rPr/>
              <a:t> involves active collaboration with user communities in product development, feature prioritization, and quality assurance processes. This approach ensures genuine product-market fit and creates a sense of ownership among our user base.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OPERATIONAL COMMITMENTS</a:t>
            </a:r>
          </a:p>
          <a:p>
            <a:pPr lvl="0" indent="0" marL="0">
              <a:spcBef>
                <a:spcPts val="3000"/>
              </a:spcBef>
              <a:buNone/>
            </a:pPr>
            <a:r>
              <a:rPr b="1"/>
              <a:t>ENVIRONMENTAL RESPONSIBILITY</a:t>
            </a:r>
          </a:p>
          <a:p>
            <a:pPr lvl="0" indent="0" marL="0">
              <a:buNone/>
            </a:pPr>
            <a:r>
              <a:rPr/>
              <a:t>Our </a:t>
            </a:r>
            <a:r>
              <a:rPr b="1"/>
              <a:t>Carbon Neutrality Initiative</a:t>
            </a:r>
            <a:r>
              <a:rPr/>
              <a:t> encompasses comprehensive carbon offset programs covering manufacturing, shipping, and operational emissions. We maintain third-party verified carbon accounting and have committed to achieving net-zero emissions across all operations by 2026.</a:t>
            </a:r>
          </a:p>
          <a:p>
            <a:pPr lvl="0" indent="0" marL="0">
              <a:buNone/>
            </a:pPr>
            <a:r>
              <a:rPr b="1"/>
              <a:t>Circular Economy Integration</a:t>
            </a:r>
            <a:r>
              <a:rPr/>
              <a:t> drives our design for disassembly and material recovery approach. We maintain established partnerships for component recycling and precious metal reclamation, targeting a 95% material recovery rate by 2027.</a:t>
            </a:r>
          </a:p>
          <a:p>
            <a:pPr lvl="0" indent="0" marL="0">
              <a:buNone/>
            </a:pPr>
            <a:r>
              <a:rPr b="1"/>
              <a:t>Packaging Innovation</a:t>
            </a:r>
            <a:r>
              <a:rPr/>
              <a:t> eliminates single-use plastics in favor of biodegradable or reusable alternatives for all product protection and presentation materials. This initiative will achieve 100% plastic-free packaging by 2025.</a:t>
            </a:r>
          </a:p>
          <a:p>
            <a:pPr lvl="0" indent="0" marL="0">
              <a:spcBef>
                <a:spcPts val="3000"/>
              </a:spcBef>
              <a:buNone/>
            </a:pPr>
            <a:r>
              <a:rPr b="1"/>
              <a:t>COMMUNITY ENGAGEMENT</a:t>
            </a:r>
          </a:p>
          <a:p>
            <a:pPr lvl="0" indent="0" marL="0">
              <a:buNone/>
            </a:pPr>
            <a:r>
              <a:rPr/>
              <a:t>Our </a:t>
            </a:r>
            <a:r>
              <a:rPr b="1"/>
              <a:t>Developer Ecosystem</a:t>
            </a:r>
            <a:r>
              <a:rPr/>
              <a:t> provides open-source development tools, unlockable bootloaders, and comprehensive API documentation to support third-party innovation. This approach encourages creativity while building developer loyalty and expanding our platform capabilities.</a:t>
            </a:r>
          </a:p>
          <a:p>
            <a:pPr lvl="0" indent="0" marL="0">
              <a:buNone/>
            </a:pPr>
            <a:r>
              <a:rPr b="1"/>
              <a:t>User Feedback Integration</a:t>
            </a:r>
            <a:r>
              <a:rPr/>
              <a:t> operates through structured feedback collection systems with transparent implementation tracking and regular communication about feature development priorities. This ensures continuous improvement and maintains strong user relationships.</a:t>
            </a:r>
          </a:p>
          <a:p>
            <a:pPr lvl="0" indent="0" marL="0">
              <a:buNone/>
            </a:pPr>
            <a:r>
              <a:rPr b="1"/>
              <a:t>Educational Partnerships</a:t>
            </a:r>
            <a:r>
              <a:rPr/>
              <a:t> involve collaboration with educational institutions to support technology literacy and responsible digital citizenship programs. These partnerships build brand awareness while contributing to broader digital education goals.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PRODUCT ROADMAP OVERVIEW</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Timeline</a:t>
                      </a:r>
                    </a:p>
                  </a:txBody>
                  <a:tcPr/>
                </a:tc>
                <a:tc>
                  <a:txBody>
                    <a:bodyPr/>
                    <a:lstStyle/>
                    <a:p>
                      <a:pPr lvl="0" indent="0" marL="0">
                        <a:buNone/>
                      </a:pPr>
                      <a:r>
                        <a:rPr/>
                        <a:t>Priority Area</a:t>
                      </a:r>
                    </a:p>
                  </a:txBody>
                  <a:tcPr/>
                </a:tc>
                <a:tc>
                  <a:txBody>
                    <a:bodyPr/>
                    <a:lstStyle/>
                    <a:p>
                      <a:pPr lvl="0" indent="0" marL="0">
                        <a:buNone/>
                      </a:pPr>
                      <a:r>
                        <a:rPr/>
                        <a:t>Key Deliverables</a:t>
                      </a:r>
                    </a:p>
                  </a:txBody>
                  <a:tcPr/>
                </a:tc>
                <a:tc>
                  <a:txBody>
                    <a:bodyPr/>
                    <a:lstStyle/>
                    <a:p>
                      <a:pPr lvl="0" indent="0" marL="0">
                        <a:buNone/>
                      </a:pPr>
                      <a:r>
                        <a:rPr/>
                        <a:t>Strategic Impact</a:t>
                      </a:r>
                    </a:p>
                  </a:txBody>
                  <a:tcPr/>
                </a:tc>
              </a:tr>
              <a:tr h="0">
                <a:tc>
                  <a:txBody>
                    <a:bodyPr/>
                    <a:lstStyle/>
                    <a:p>
                      <a:pPr lvl="0" indent="0" marL="0">
                        <a:buNone/>
                      </a:pPr>
                      <a:r>
                        <a:rPr b="1"/>
                        <a:t>2025-2026</a:t>
                      </a:r>
                    </a:p>
                  </a:txBody>
                </a:tc>
                <a:tc>
                  <a:txBody>
                    <a:bodyPr/>
                    <a:lstStyle/>
                    <a:p>
                      <a:pPr lvl="0" indent="0" marL="0">
                        <a:buNone/>
                      </a:pPr>
                      <a:r>
                        <a:rPr/>
                        <a:t>Core Device Portfolio</a:t>
                      </a:r>
                    </a:p>
                  </a:txBody>
                </a:tc>
                <a:tc>
                  <a:txBody>
                    <a:bodyPr/>
                    <a:lstStyle/>
                    <a:p>
                      <a:pPr lvl="0" indent="0" marL="0">
                        <a:buNone/>
                      </a:pPr>
                      <a:r>
                        <a:rPr/>
                        <a:t>Velvera Pro, Standard, Compact models</a:t>
                      </a:r>
                    </a:p>
                  </a:txBody>
                </a:tc>
                <a:tc>
                  <a:txBody>
                    <a:bodyPr/>
                    <a:lstStyle/>
                    <a:p>
                      <a:pPr lvl="0" indent="0" marL="0">
                        <a:buNone/>
                      </a:pPr>
                      <a:r>
                        <a:rPr/>
                        <a:t>Market entry and brand establishment</a:t>
                      </a:r>
                    </a:p>
                  </a:txBody>
                </a:tc>
              </a:tr>
              <a:tr h="0">
                <a:tc>
                  <a:txBody>
                    <a:bodyPr/>
                    <a:lstStyle/>
                    <a:p>
                      <a:pPr lvl="0" indent="0" marL="0">
                        <a:buNone/>
                      </a:pPr>
                      <a:r>
                        <a:rPr b="1"/>
                        <a:t>2025-2026</a:t>
                      </a:r>
                    </a:p>
                  </a:txBody>
                </a:tc>
                <a:tc>
                  <a:txBody>
                    <a:bodyPr/>
                    <a:lstStyle/>
                    <a:p>
                      <a:pPr lvl="0" indent="0" marL="0">
                        <a:buNone/>
                      </a:pPr>
                      <a:r>
                        <a:rPr/>
                        <a:t>Ecosystem Foundation</a:t>
                      </a:r>
                    </a:p>
                  </a:txBody>
                </a:tc>
                <a:tc>
                  <a:txBody>
                    <a:bodyPr/>
                    <a:lstStyle/>
                    <a:p>
                      <a:pPr lvl="0" indent="0" marL="0">
                        <a:buNone/>
                      </a:pPr>
                      <a:r>
                        <a:rPr/>
                        <a:t>Wireless charging, audio accessories, cloud services</a:t>
                      </a:r>
                    </a:p>
                  </a:txBody>
                </a:tc>
                <a:tc>
                  <a:txBody>
                    <a:bodyPr/>
                    <a:lstStyle/>
                    <a:p>
                      <a:pPr lvl="0" indent="0" marL="0">
                        <a:buNone/>
                      </a:pPr>
                      <a:r>
                        <a:rPr/>
                        <a:t>Revenue diversification and user retention</a:t>
                      </a:r>
                    </a:p>
                  </a:txBody>
                </a:tc>
              </a:tr>
              <a:tr h="0">
                <a:tc>
                  <a:txBody>
                    <a:bodyPr/>
                    <a:lstStyle/>
                    <a:p>
                      <a:pPr lvl="0" indent="0" marL="0">
                        <a:buNone/>
                      </a:pPr>
                      <a:r>
                        <a:rPr b="1"/>
                        <a:t>2025-2026</a:t>
                      </a:r>
                    </a:p>
                  </a:txBody>
                </a:tc>
                <a:tc>
                  <a:txBody>
                    <a:bodyPr/>
                    <a:lstStyle/>
                    <a:p>
                      <a:pPr lvl="0" indent="0" marL="0">
                        <a:buNone/>
                      </a:pPr>
                      <a:r>
                        <a:rPr/>
                        <a:t>Market Expansion</a:t>
                      </a:r>
                    </a:p>
                  </a:txBody>
                </a:tc>
                <a:tc>
                  <a:txBody>
                    <a:bodyPr/>
                    <a:lstStyle/>
                    <a:p>
                      <a:pPr lvl="0" indent="0" marL="0">
                        <a:buNone/>
                      </a:pPr>
                      <a:r>
                        <a:rPr/>
                        <a:t>European Union, Canada, Australia launch</a:t>
                      </a:r>
                    </a:p>
                  </a:txBody>
                </a:tc>
                <a:tc>
                  <a:txBody>
                    <a:bodyPr/>
                    <a:lstStyle/>
                    <a:p>
                      <a:pPr lvl="0" indent="0" marL="0">
                        <a:buNone/>
                      </a:pPr>
                      <a:r>
                        <a:rPr/>
                        <a:t>Geographic revenue growth</a:t>
                      </a:r>
                    </a:p>
                  </a:txBody>
                </a:tc>
              </a:tr>
              <a:tr h="0">
                <a:tc>
                  <a:txBody>
                    <a:bodyPr/>
                    <a:lstStyle/>
                    <a:p>
                      <a:pPr lvl="0" indent="0" marL="0">
                        <a:buNone/>
                      </a:pPr>
                      <a:r>
                        <a:rPr b="1"/>
                        <a:t>2026-2028</a:t>
                      </a:r>
                    </a:p>
                  </a:txBody>
                </a:tc>
                <a:tc>
                  <a:txBody>
                    <a:bodyPr/>
                    <a:lstStyle/>
                    <a:p>
                      <a:pPr lvl="0" indent="0" marL="0">
                        <a:buNone/>
                      </a:pPr>
                      <a:r>
                        <a:rPr/>
                        <a:t>Product Diversification</a:t>
                      </a:r>
                    </a:p>
                  </a:txBody>
                </a:tc>
                <a:tc>
                  <a:txBody>
                    <a:bodyPr/>
                    <a:lstStyle/>
                    <a:p>
                      <a:pPr lvl="0" indent="0" marL="0">
                        <a:buNone/>
                      </a:pPr>
                      <a:r>
                        <a:rPr/>
                        <a:t>Tablets, wearables, smart home devices</a:t>
                      </a:r>
                    </a:p>
                  </a:txBody>
                </a:tc>
                <a:tc>
                  <a:txBody>
                    <a:bodyPr/>
                    <a:lstStyle/>
                    <a:p>
                      <a:pPr lvl="0" indent="0" marL="0">
                        <a:buNone/>
                      </a:pPr>
                      <a:r>
                        <a:rPr/>
                        <a:t>Portfolio expansion and market leadership</a:t>
                      </a:r>
                    </a:p>
                  </a:txBody>
                </a:tc>
              </a:tr>
              <a:tr h="0">
                <a:tc>
                  <a:txBody>
                    <a:bodyPr/>
                    <a:lstStyle/>
                    <a:p>
                      <a:pPr lvl="0" indent="0" marL="0">
                        <a:buNone/>
                      </a:pPr>
                      <a:r>
                        <a:rPr b="1"/>
                        <a:t>2026-2028</a:t>
                      </a:r>
                    </a:p>
                  </a:txBody>
                </a:tc>
                <a:tc>
                  <a:txBody>
                    <a:bodyPr/>
                    <a:lstStyle/>
                    <a:p>
                      <a:pPr lvl="0" indent="0" marL="0">
                        <a:buNone/>
                      </a:pPr>
                      <a:r>
                        <a:rPr/>
                        <a:t>Technology Leadership</a:t>
                      </a:r>
                    </a:p>
                  </a:txBody>
                </a:tc>
                <a:tc>
                  <a:txBody>
                    <a:bodyPr/>
                    <a:lstStyle/>
                    <a:p>
                      <a:pPr lvl="0" indent="0" marL="0">
                        <a:buNone/>
                      </a:pPr>
                      <a:r>
                        <a:rPr/>
                        <a:t>Advanced AI processing, next-gen connectivity</a:t>
                      </a:r>
                    </a:p>
                  </a:txBody>
                </a:tc>
                <a:tc>
                  <a:txBody>
                    <a:bodyPr/>
                    <a:lstStyle/>
                    <a:p>
                      <a:pPr lvl="0" indent="0" marL="0">
                        <a:buNone/>
                      </a:pPr>
                      <a:r>
                        <a:rPr/>
                        <a:t>Innovation positioning and IP development</a:t>
                      </a:r>
                    </a:p>
                  </a:txBody>
                </a:tc>
              </a:tr>
              <a:tr h="0">
                <a:tc>
                  <a:txBody>
                    <a:bodyPr/>
                    <a:lstStyle/>
                    <a:p>
                      <a:pPr lvl="0" indent="0" marL="0">
                        <a:buNone/>
                      </a:pPr>
                      <a:r>
                        <a:rPr b="1"/>
                        <a:t>2028+</a:t>
                      </a:r>
                    </a:p>
                  </a:txBody>
                </a:tc>
                <a:tc>
                  <a:txBody>
                    <a:bodyPr/>
                    <a:lstStyle/>
                    <a:p>
                      <a:pPr lvl="0" indent="0" marL="0">
                        <a:buNone/>
                      </a:pPr>
                      <a:r>
                        <a:rPr/>
                        <a:t>Industry Leadership</a:t>
                      </a:r>
                    </a:p>
                  </a:txBody>
                </a:tc>
                <a:tc>
                  <a:txBody>
                    <a:bodyPr/>
                    <a:lstStyle/>
                    <a:p>
                      <a:pPr lvl="0" indent="0" marL="0">
                        <a:buNone/>
                      </a:pPr>
                      <a:r>
                        <a:rPr/>
                        <a:t>Premium market leadership position</a:t>
                      </a:r>
                    </a:p>
                  </a:txBody>
                </a:tc>
                <a:tc>
                  <a:txBody>
                    <a:bodyPr/>
                    <a:lstStyle/>
                    <a:p>
                      <a:pPr lvl="0" indent="0" marL="0">
                        <a:buNone/>
                      </a:pPr>
                      <a:r>
                        <a:rPr/>
                        <a:t>Sustainable competitive advantage</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ORGANIZATIONAL STRUCTURE</a:t>
            </a:r>
          </a:p>
          <a:p>
            <a:pPr lvl="0" indent="0" marL="0">
              <a:spcBef>
                <a:spcPts val="3000"/>
              </a:spcBef>
              <a:buNone/>
            </a:pPr>
            <a:r>
              <a:rPr b="1"/>
              <a:t>EXECUTIVE LEADERSHIP</a:t>
            </a:r>
          </a:p>
          <a:p>
            <a:pPr lvl="0" indent="0" marL="0">
              <a:buNone/>
            </a:pPr>
            <a:r>
              <a:rPr/>
              <a:t>Our leadership team combines deep technology expertise with strong commitments to privacy, sustainability, and user empowerment. The </a:t>
            </a:r>
            <a:r>
              <a:rPr b="1"/>
              <a:t>Chief Executive Officer</a:t>
            </a:r>
            <a:r>
              <a:rPr/>
              <a:t> provides strategic vision and stakeholder relations while maintaining our company culture. The </a:t>
            </a:r>
            <a:r>
              <a:rPr b="1"/>
              <a:t>Chief Technology Officer</a:t>
            </a:r>
            <a:r>
              <a:rPr/>
              <a:t> oversees product development and technical architecture, ensuring innovation leadership. The </a:t>
            </a:r>
            <a:r>
              <a:rPr b="1"/>
              <a:t>Chief Privacy Officer</a:t>
            </a:r>
            <a:r>
              <a:rPr/>
              <a:t> manages data protection and regulatory compliance, while the </a:t>
            </a:r>
            <a:r>
              <a:rPr b="1"/>
              <a:t>Chief Sustainability Officer</a:t>
            </a:r>
            <a:r>
              <a:rPr/>
              <a:t> drives environmental impact and supply chain ethics initiatives.</a:t>
            </a:r>
          </a:p>
          <a:p>
            <a:pPr lvl="0" indent="0" marL="0">
              <a:spcBef>
                <a:spcPts val="3000"/>
              </a:spcBef>
              <a:buNone/>
            </a:pPr>
            <a:r>
              <a:rPr b="1"/>
              <a:t>DEPARTMENTAL ORGANIZATION</a:t>
            </a:r>
          </a:p>
          <a:p>
            <a:pPr lvl="0" indent="0" marL="0">
              <a:buNone/>
            </a:pPr>
            <a:r>
              <a:rPr b="1"/>
              <a:t>Engineering</a:t>
            </a:r>
            <a:r>
              <a:rPr/>
              <a:t> encompasses hardware design, software development, and quality assurance functions. This team maintains product performance benchmarks and ensures minimal defect rates through rigorous testing protocols.</a:t>
            </a:r>
          </a:p>
          <a:p>
            <a:pPr lvl="0" indent="0" marL="0">
              <a:buNone/>
            </a:pPr>
            <a:r>
              <a:rPr b="1"/>
              <a:t>Design</a:t>
            </a:r>
            <a:r>
              <a:rPr/>
              <a:t> covers user experience, industrial design, and brand identity. Success is measured through user satisfaction scores and recognition within the design community.</a:t>
            </a:r>
          </a:p>
          <a:p>
            <a:pPr lvl="0" indent="0" marL="0">
              <a:buNone/>
            </a:pPr>
            <a:r>
              <a:rPr b="1"/>
              <a:t>Operations</a:t>
            </a:r>
            <a:r>
              <a:rPr/>
              <a:t> manages manufacturing, supply chain, and logistics functions. Key performance indicators include production efficiency and quality metrics.</a:t>
            </a:r>
          </a:p>
          <a:p>
            <a:pPr lvl="0" indent="0" marL="0">
              <a:buNone/>
            </a:pPr>
            <a:r>
              <a:rPr b="1"/>
              <a:t>Marketing</a:t>
            </a:r>
            <a:r>
              <a:rPr/>
              <a:t> handles brand positioning, customer acquisition, and community engagement. Performance is tracked through brand awareness metrics and customer acquisition costs.</a:t>
            </a:r>
          </a:p>
          <a:p>
            <a:pPr lvl="0" indent="0" marL="0">
              <a:buNone/>
            </a:pPr>
            <a:r>
              <a:rPr b="1"/>
              <a:t>Customer Success</a:t>
            </a:r>
            <a:r>
              <a:rPr/>
              <a:t> provides support services, user education, and feedback collection. This team maintains high customer satisfaction and retention rates.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FINANCIAL PROJECTIONS</a:t>
            </a:r>
          </a:p>
          <a:p>
            <a:pPr lvl="0" indent="0" marL="0">
              <a:spcBef>
                <a:spcPts val="3000"/>
              </a:spcBef>
              <a:buNone/>
            </a:pPr>
            <a:r>
              <a:rPr b="1"/>
              <a:t>REVENUE STRATEGY</a:t>
            </a:r>
          </a:p>
          <a:p>
            <a:pPr lvl="0" indent="0" marL="0">
              <a:buNone/>
            </a:pPr>
            <a:r>
              <a:rPr/>
              <a:t>Device sales will constitute our primary revenue stream, representing 85% of revenue in year one and gradually decreasing to 75% by year three as ecosystem revenue grows. Premium pricing strategy with volume scaling will maintain healthy margins while expanding market reach.</a:t>
            </a:r>
          </a:p>
          <a:p>
            <a:pPr lvl="0" indent="0" marL="0">
              <a:buNone/>
            </a:pPr>
            <a:r>
              <a:rPr/>
              <a:t>Accessories represent a growing revenue opportunity, expanding from 10% to 15% of total revenue as our ecosystem develops. This includes wireless charging solutions, audio accessories, and protective cases designed to complement our devices.</a:t>
            </a:r>
          </a:p>
          <a:p>
            <a:pPr lvl="0" indent="0" marL="0">
              <a:buNone/>
            </a:pPr>
            <a:r>
              <a:rPr/>
              <a:t>Services revenue will grow from 3% to 7% of total revenue, encompassing cloud services, extended warranties, and premium support offerings. Technology licensing to partners will provide additional revenue streams as our intellectual property portfolio develops.</a:t>
            </a:r>
          </a:p>
          <a:p>
            <a:pPr lvl="0" indent="0" marL="0">
              <a:spcBef>
                <a:spcPts val="3000"/>
              </a:spcBef>
              <a:buNone/>
            </a:pPr>
            <a:r>
              <a:rPr b="1"/>
              <a:t>INVESTMENT PRIORITIES</a:t>
            </a:r>
          </a:p>
          <a:p>
            <a:pPr lvl="0" indent="0" marL="0">
              <a:buNone/>
            </a:pPr>
            <a:r>
              <a:rPr/>
              <a:t>Research and development receives 35% of investment allocation, ensuring technology leadership and innovation pipeline development. Manufacturing investment of 25% supports quality control and production scaling. Marketing allocation of 20% drives brand building and customer acquisition. Operations investment of 15% covers infrastructure and process optimization, while sustainability initiatives receive 5% allocation for environmental compliance and ethical sourcing.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RISK ASSESSMENT</a:t>
            </a:r>
          </a:p>
          <a:p>
            <a:pPr lvl="0" indent="0" marL="0">
              <a:spcBef>
                <a:spcPts val="3000"/>
              </a:spcBef>
              <a:buNone/>
            </a:pPr>
            <a:r>
              <a:rPr b="1"/>
              <a:t>STRATEGIC RISK MANAGEMENT</a:t>
            </a:r>
          </a:p>
          <a:p>
            <a:pPr lvl="0" indent="0" marL="0">
              <a:buNone/>
            </a:pPr>
            <a:r>
              <a:rPr b="1"/>
              <a:t>Supply Chain Disruption</a:t>
            </a:r>
            <a:r>
              <a:rPr/>
              <a:t> represents our highest impact risk, mitigated through diversified supplier bases and strategic inventory management. </a:t>
            </a:r>
            <a:r>
              <a:rPr b="1"/>
              <a:t>Regulatory Changes</a:t>
            </a:r>
            <a:r>
              <a:rPr/>
              <a:t> require proactive compliance monitoring and legal advisory relationships. </a:t>
            </a:r>
            <a:r>
              <a:rPr b="1"/>
              <a:t>Market Competition</a:t>
            </a:r>
            <a:r>
              <a:rPr/>
              <a:t> demands continuous differentiation and community loyalty building. </a:t>
            </a:r>
            <a:r>
              <a:rPr b="1"/>
              <a:t>Technology Obsolescence</a:t>
            </a:r>
            <a:r>
              <a:rPr/>
              <a:t> necessitates ongoing R&amp;D investment and innovation partnerships.</a:t>
            </a:r>
          </a:p>
          <a:p>
            <a:pPr lvl="0" indent="0" marL="0">
              <a:spcBef>
                <a:spcPts val="3000"/>
              </a:spcBef>
              <a:buNone/>
            </a:pPr>
            <a:r>
              <a:rPr b="1"/>
              <a:t>OPERATIONAL RISK MITIGATION</a:t>
            </a:r>
          </a:p>
          <a:p>
            <a:pPr lvl="0" indent="0" marL="0">
              <a:buNone/>
            </a:pPr>
            <a:r>
              <a:rPr/>
              <a:t>Quality control protocols and supplier audits minimize manufacturing defects, supported by comprehensive testing and rapid response procedures. Security-by-design architecture and regular audits protect against data security breaches, with incident response procedures and insurance coverage providing additional protection. Talent retention programs and succession planning address key personnel departure risks through knowledge transfer protocols and competitive compensation structures.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BRAND IDENTITY</a:t>
            </a:r>
          </a:p>
          <a:p>
            <a:pPr lvl="0" indent="0" marL="0">
              <a:spcBef>
                <a:spcPts val="3000"/>
              </a:spcBef>
              <a:buNone/>
            </a:pPr>
            <a:r>
              <a:rPr b="1"/>
              <a:t>BRAND POSITIONING</a:t>
            </a:r>
          </a:p>
          <a:p>
            <a:pPr lvl="0" indent="0" marL="0">
              <a:buNone/>
            </a:pPr>
            <a:r>
              <a:rPr b="1"/>
              <a:t>Brand Promise:</a:t>
            </a:r>
            <a:r>
              <a:rPr/>
              <a:t> “Technology, refined.”</a:t>
            </a:r>
          </a:p>
          <a:p>
            <a:pPr lvl="0" indent="0" marL="0">
              <a:buNone/>
            </a:pPr>
            <a:r>
              <a:rPr b="1"/>
              <a:t>Brand Personality:</a:t>
            </a:r>
            <a:r>
              <a:rPr/>
              <a:t> Sophisticated, trustworthy, innovative, and uncompromising in quality and ethics.</a:t>
            </a:r>
          </a:p>
          <a:p>
            <a:pPr lvl="0" indent="0" marL="0">
              <a:buNone/>
            </a:pPr>
            <a:r>
              <a:rPr b="1"/>
              <a:t>Brand Experience:</a:t>
            </a:r>
            <a:r>
              <a:rPr/>
              <a:t> Every interaction with Velvera products and services reinforces our commitment to user empowerment, privacy protection, and sustainable innovation.</a:t>
            </a:r>
          </a:p>
          <a:p>
            <a:pPr lvl="0" indent="0" marL="0">
              <a:buNone/>
            </a:pPr>
            <a:r>
              <a:rPr/>
              <a:t>Our brand identity reflects the intersection of premium technology and ethical responsibility. Visual elements emphasize clean, minimalist design that communicates both sophistication and accessibility. Communication maintains a confident yet approachable tone that respects user intelligence while remaining inclusive.</a:t>
            </a:r>
          </a:p>
          <a:p>
            <a:pPr lvl="0" indent="0" marL="0">
              <a:buNone/>
            </a:pPr>
            <a:r>
              <a:rPr b="1"/>
              <a:t>Brand Values Integration:</a:t>
            </a:r>
            <a:r>
              <a:rPr/>
              <a:t> All brand touchpoints must demonstrate our core values of simplicity, performance, privacy, longevity, and sustainability. This consistency across all user interactions builds trust and reinforces our market positioning as the ethical alternative in mobile technology.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This document contains confidential and proprietary information. Distribution is restricted to authorized personnel only.</a:t>
            </a:r>
          </a:p>
          <a:p>
            <a:pPr lvl="0" indent="0" marL="0">
              <a:buNone/>
            </a:pPr>
            <a:r>
              <a:rPr b="1"/>
              <a:t>Document Control:</a:t>
            </a:r>
            <a:r>
              <a:rPr/>
              <a:t> - Classification: Internal Use Only - Review Cycle: Quarterly - Next Review: October 2025 - Approval: Executive Leadership Team</a:t>
            </a:r>
          </a:p>
          <a:p>
            <a:pPr lvl="0" indent="0" marL="0">
              <a:buNone/>
            </a:pPr>
            <a:r>
              <a:rPr b="1"/>
              <a:t>Velvera</a:t>
            </a:r>
            <a:r>
              <a:rPr/>
              <a:t> — </a:t>
            </a:r>
            <a:r>
              <a:rPr i="1"/>
              <a:t>Technology, Refined. Life, Elevated.</a:t>
            </a:r>
          </a:p>
          <a:p>
            <a:pPr lvl="0" indent="0" marL="0">
              <a:buNone/>
            </a:pPr>
            <a:r>
              <a:rPr i="1"/>
              <a:t>Crafted with precision. Powered by innovation. Designed for tomorrow.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2025-07-29T14:52:25Z</dcterms:created>
  <dcterms:modified xsi:type="dcterms:W3CDTF">2025-07-29T14:52:25Z</dcterms:modified>
</cp:coreProperties>
</file>

<file path=docProps/custom.xml><?xml version="1.0" encoding="utf-8"?>
<Properties xmlns="http://schemas.openxmlformats.org/officeDocument/2006/custom-properties" xmlns:vt="http://schemas.openxmlformats.org/officeDocument/2006/docPropsVTypes"/>
</file>