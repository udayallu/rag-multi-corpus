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atalog.cendara.edu" TargetMode="External" /><Relationship Id="rId3" Type="http://schemas.openxmlformats.org/officeDocument/2006/relationships/hyperlink" Target="https://my.cendara.edu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endara.edu/finance/refunds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endara.edu/student-handboo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Enrollment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Cendara University! The following guide serves all new and returning students as a comprehensive resource for the complete step-by-step enrollment process, including initial registration, course selection, and procedures for making schedule changes.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Registration Process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Pre-Enrollment Preparation</a:t>
            </a:r>
          </a:p>
          <a:p>
            <a:pPr lvl="0"/>
            <a:r>
              <a:rPr b="1"/>
              <a:t>Review Academic Program Requirements</a:t>
            </a:r>
            <a:br/>
            <a:r>
              <a:rPr/>
              <a:t>Access your intended degree requirements via the </a:t>
            </a:r>
            <a:r>
              <a:rPr>
                <a:hlinkClick r:id="rId2"/>
              </a:rPr>
              <a:t>Online Program Catalog</a:t>
            </a:r>
            <a:r>
              <a:rPr/>
              <a:t> or visit your departmental academic advisor.</a:t>
            </a:r>
          </a:p>
          <a:p>
            <a:pPr lvl="0"/>
            <a:r>
              <a:rPr b="1"/>
              <a:t>Check Key Dates</a:t>
            </a:r>
            <a:br/>
            <a:r>
              <a:rPr/>
              <a:t>Refer to the Academic Calendar for application, registration, and add/drop deadlines.</a:t>
            </a:r>
          </a:p>
          <a:p>
            <a:pPr lvl="0"/>
            <a:r>
              <a:rPr b="1"/>
              <a:t>Meet with Your Advisor (Strongly Recommended)</a:t>
            </a:r>
            <a:br/>
            <a:r>
              <a:rPr/>
              <a:t>Schedule an appointment through the Student Portal to discuss academic planning, transfer credits, prerequisites, and individualized schedules.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Create or Activate Your Student Account</a:t>
            </a:r>
          </a:p>
          <a:p>
            <a:pPr lvl="0"/>
            <a:r>
              <a:rPr b="1"/>
              <a:t>New Students:</a:t>
            </a:r>
          </a:p>
          <a:p>
            <a:pPr lvl="1"/>
            <a:r>
              <a:rPr/>
              <a:t>Receive your Cendara University Student Identification (CUSID) number by email after admission confirmation.</a:t>
            </a:r>
          </a:p>
          <a:p>
            <a:pPr lvl="1"/>
            <a:r>
              <a:rPr/>
              <a:t>Use the issued CUSID to activate your MyCendara student portal account at </a:t>
            </a:r>
            <a:r>
              <a:rPr>
                <a:hlinkClick r:id="rId3"/>
              </a:rPr>
              <a:t>my.cendara.edu</a:t>
            </a:r>
            <a:r>
              <a:rPr/>
              <a:t>.</a:t>
            </a:r>
          </a:p>
          <a:p>
            <a:pPr lvl="0"/>
            <a:r>
              <a:rPr b="1"/>
              <a:t>Returning Students:</a:t>
            </a:r>
          </a:p>
          <a:p>
            <a:pPr lvl="1"/>
            <a:r>
              <a:rPr/>
              <a:t>Log in using your existing credentials.</a:t>
            </a:r>
          </a:p>
          <a:p>
            <a:pPr lvl="1"/>
            <a:r>
              <a:rPr/>
              <a:t>Reactivate your account by updating your password if prompted.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Complete Enrollment Verification</a:t>
            </a:r>
          </a:p>
          <a:p>
            <a:pPr lvl="0"/>
            <a:r>
              <a:rPr b="1"/>
              <a:t>Submit Required Documents:</a:t>
            </a:r>
          </a:p>
          <a:p>
            <a:pPr lvl="1"/>
            <a:r>
              <a:rPr/>
              <a:t>Proof of prior education (e.g., transcripts, diplomas)</a:t>
            </a:r>
          </a:p>
          <a:p>
            <a:pPr lvl="1"/>
            <a:r>
              <a:rPr/>
              <a:t>Immunization &amp; Health Clearance Forms (submit to the Health Center)</a:t>
            </a:r>
          </a:p>
          <a:p>
            <a:pPr lvl="1"/>
            <a:r>
              <a:rPr/>
              <a:t>Relevant visa and residency documents for international students</a:t>
            </a:r>
          </a:p>
          <a:p>
            <a:pPr lvl="0"/>
            <a:r>
              <a:rPr b="1"/>
              <a:t>Resolve Holds:</a:t>
            </a:r>
          </a:p>
          <a:p>
            <a:pPr lvl="1"/>
            <a:r>
              <a:rPr/>
              <a:t>Check for any registration holds (e.g., outstanding fees, missing documents) under “Student Holds” in the portal and address them before proceeding.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Register for Classes</a:t>
            </a:r>
          </a:p>
          <a:p>
            <a:pPr lvl="0"/>
            <a:r>
              <a:rPr b="1"/>
              <a:t>Access the Course Registration Portal:</a:t>
            </a:r>
          </a:p>
          <a:p>
            <a:pPr lvl="1"/>
            <a:r>
              <a:rPr/>
              <a:t>Log in to MyCendara and select the “Course Registration” tab.</a:t>
            </a:r>
          </a:p>
          <a:p>
            <a:pPr lvl="1"/>
            <a:r>
              <a:rPr/>
              <a:t>Choose the upcoming semester/term.</a:t>
            </a:r>
          </a:p>
          <a:p>
            <a:pPr lvl="0"/>
            <a:r>
              <a:rPr b="1"/>
              <a:t>Search for Courses:</a:t>
            </a:r>
          </a:p>
          <a:p>
            <a:pPr lvl="1"/>
            <a:r>
              <a:rPr/>
              <a:t>Filter courses by department, course code, instructor, or meeting times.</a:t>
            </a:r>
          </a:p>
          <a:p>
            <a:pPr lvl="1"/>
            <a:r>
              <a:rPr/>
              <a:t>Review seat availability, prerequisites, and co-requisites displayed for each course.</a:t>
            </a:r>
          </a:p>
          <a:p>
            <a:pPr lvl="0"/>
            <a:r>
              <a:rPr b="1"/>
              <a:t>Build Your Schedule:</a:t>
            </a:r>
          </a:p>
          <a:p>
            <a:pPr lvl="1"/>
            <a:r>
              <a:rPr/>
              <a:t>Add desired courses to your “Enrollment Cart.”</a:t>
            </a:r>
          </a:p>
          <a:p>
            <a:pPr lvl="1"/>
            <a:r>
              <a:rPr/>
              <a:t>Ensure courses meet degree requirements and don’t conflict in timing.</a:t>
            </a:r>
          </a:p>
          <a:p>
            <a:pPr lvl="0"/>
            <a:r>
              <a:rPr b="1"/>
              <a:t>Enroll in Courses:</a:t>
            </a:r>
          </a:p>
          <a:p>
            <a:pPr lvl="1"/>
            <a:r>
              <a:rPr/>
              <a:t>Submit your enrollment cart for approval.</a:t>
            </a:r>
          </a:p>
          <a:p>
            <a:pPr lvl="1"/>
            <a:r>
              <a:rPr/>
              <a:t>If prerequisites/advisor approval is required, the request will be routed to the appropriate department automatically.</a:t>
            </a:r>
          </a:p>
          <a:p>
            <a:pPr lvl="1"/>
            <a:r>
              <a:rPr/>
              <a:t>Once approved, confirm and finalize enrollment.</a:t>
            </a:r>
          </a:p>
          <a:p>
            <a:pPr lvl="0"/>
            <a:r>
              <a:rPr b="1"/>
              <a:t>Pay Fees and Tuition:</a:t>
            </a:r>
          </a:p>
          <a:p>
            <a:pPr lvl="1"/>
            <a:r>
              <a:rPr/>
              <a:t>Review your billing statement in the “Student Finances” section.</a:t>
            </a:r>
          </a:p>
          <a:p>
            <a:pPr lvl="1"/>
            <a:r>
              <a:rPr/>
              <a:t>Pay tuition and fees by the posted deadlines (online payment, wire transfer, or in-person).</a:t>
            </a:r>
          </a:p>
          <a:p>
            <a:pPr lvl="1"/>
            <a:r>
              <a:rPr/>
              <a:t>Failure to pay on time may result in deregistration.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Confirm Registration</a:t>
            </a:r>
          </a:p>
          <a:p>
            <a:pPr lvl="0"/>
            <a:r>
              <a:rPr b="1"/>
              <a:t>Print or Save Course Schedule:</a:t>
            </a:r>
            <a:br/>
            <a:r>
              <a:rPr/>
              <a:t>After successful enrollment and payment, print or electronically save your schedule.</a:t>
            </a:r>
          </a:p>
          <a:p>
            <a:pPr lvl="0"/>
            <a:r>
              <a:rPr b="1"/>
              <a:t>Receive Confirmation Email:</a:t>
            </a:r>
            <a:br/>
            <a:r>
              <a:rPr/>
              <a:t>You will receive an official registration confirmation and resource access details (including library, LMS, and email) within 24-48 hours.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Course Selection Guidance</a:t>
            </a:r>
          </a:p>
          <a:p>
            <a:pPr lvl="0"/>
            <a:r>
              <a:rPr b="1"/>
              <a:t>Advising Support:</a:t>
            </a:r>
            <a:br/>
            <a:r>
              <a:rPr/>
              <a:t>Undergraduate first-year and transfer students must meet with an advisor to approve their initial schedule. Graduate students should consult with their assigned faculty advisor.</a:t>
            </a:r>
          </a:p>
          <a:p>
            <a:pPr lvl="0"/>
            <a:r>
              <a:rPr b="1"/>
              <a:t>Selecting Courses:</a:t>
            </a:r>
          </a:p>
          <a:p>
            <a:pPr lvl="1"/>
            <a:r>
              <a:rPr b="1"/>
              <a:t>Requirements:</a:t>
            </a:r>
            <a:r>
              <a:rPr/>
              <a:t> Ensure all selected courses align with your major, concentration, and general education requirements.</a:t>
            </a:r>
          </a:p>
          <a:p>
            <a:pPr lvl="1"/>
            <a:r>
              <a:rPr b="1"/>
              <a:t>Electives and Minors:</a:t>
            </a:r>
            <a:r>
              <a:rPr/>
              <a:t> Use available electives for minors, interdisciplinary certificates, or personal interest areas.</a:t>
            </a:r>
          </a:p>
          <a:p>
            <a:pPr lvl="1"/>
            <a:r>
              <a:rPr b="1"/>
              <a:t>Credit Load:</a:t>
            </a:r>
            <a:r>
              <a:rPr/>
              <a:t> Full-time undergraduates must register for 12–18 credits per semester; graduates for 9–15 credits, unless otherwise authorized.</a:t>
            </a:r>
          </a:p>
          <a:p>
            <a:pPr lvl="0"/>
            <a:r>
              <a:rPr b="1"/>
              <a:t>Special Programs:</a:t>
            </a:r>
          </a:p>
          <a:p>
            <a:pPr lvl="1"/>
            <a:r>
              <a:rPr/>
              <a:t>Participation in Honors College, Sustainable Technology Initiative, or international programs may have unique registration steps. Contact the relevant coordinator for details.</a:t>
            </a:r>
          </a:p>
          <a:p>
            <a:pPr lvl="0"/>
            <a:r>
              <a:rPr b="1"/>
              <a:t>Waitlists:</a:t>
            </a:r>
          </a:p>
          <a:p>
            <a:pPr lvl="1"/>
            <a:r>
              <a:rPr/>
              <a:t>If a desired course is full, add yourself to its waitlist. Notification of available seats is sent via your university email.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Schedule Changes: Add/Drop, Withdrawal, and Modification Procedures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Add/Drop Period</a:t>
            </a:r>
          </a:p>
          <a:p>
            <a:pPr lvl="0"/>
            <a:r>
              <a:rPr b="1"/>
              <a:t>Timeframe:</a:t>
            </a:r>
          </a:p>
          <a:p>
            <a:pPr lvl="1"/>
            <a:r>
              <a:rPr/>
              <a:t>Add/drop is permitted through the second week of classes in standard semesters (see Academic Calendar for exact dates).</a:t>
            </a:r>
          </a:p>
          <a:p>
            <a:pPr lvl="0"/>
            <a:r>
              <a:rPr b="1"/>
              <a:t>How to Add/Drop:</a:t>
            </a:r>
          </a:p>
          <a:p>
            <a:pPr lvl="1"/>
            <a:r>
              <a:rPr/>
              <a:t>Log in to MyCendara and access “Enrollment Management.”</a:t>
            </a:r>
          </a:p>
          <a:p>
            <a:pPr lvl="1"/>
            <a:r>
              <a:rPr/>
              <a:t>Search and add available courses, or drop current ones directly from your schedule.</a:t>
            </a:r>
          </a:p>
          <a:p>
            <a:pPr lvl="1"/>
            <a:r>
              <a:rPr/>
              <a:t>Changes are reflected instantly; always confirm your updated course list.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Course Withdrawal</a:t>
            </a:r>
          </a:p>
          <a:p>
            <a:pPr lvl="0"/>
            <a:r>
              <a:rPr b="1"/>
              <a:t>Withdrawing After Add/Drop:</a:t>
            </a:r>
          </a:p>
          <a:p>
            <a:pPr lvl="1"/>
            <a:r>
              <a:rPr/>
              <a:t>Withdrawals permitted until designated mid-semester deadline (specific dates in Calendar).</a:t>
            </a:r>
          </a:p>
          <a:p>
            <a:pPr lvl="1"/>
            <a:r>
              <a:rPr/>
              <a:t>Withdrawn courses appear as “W” on transcripts and may impact financial aid or athletic eligibility.</a:t>
            </a:r>
          </a:p>
          <a:p>
            <a:pPr lvl="0"/>
            <a:r>
              <a:rPr b="1"/>
              <a:t>Process:</a:t>
            </a:r>
          </a:p>
          <a:p>
            <a:pPr lvl="1"/>
            <a:r>
              <a:rPr/>
              <a:t>Access the “Course Withdrawal” form in MyCendara.</a:t>
            </a:r>
          </a:p>
          <a:p>
            <a:pPr lvl="1"/>
            <a:r>
              <a:rPr/>
              <a:t>Obtain required electronic signatures from your advisor and instructor if specified.</a:t>
            </a:r>
          </a:p>
          <a:p>
            <a:pPr lvl="1"/>
            <a:r>
              <a:rPr/>
              <a:t>Submit form and monitor status; confirmation will be sent to your email.</a:t>
            </a:r>
          </a:p>
          <a:p>
            <a:pPr lvl="1"/>
            <a:r>
              <a:rPr/>
              <a:t>Review tuition refund policy for withdrawn courses in the </a:t>
            </a:r>
            <a:r>
              <a:rPr>
                <a:hlinkClick r:id="rId2"/>
              </a:rPr>
              <a:t>Student Financial Guide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Schedule Modifications After Enrollment</a:t>
            </a:r>
          </a:p>
          <a:p>
            <a:pPr lvl="0"/>
            <a:r>
              <a:rPr b="1"/>
              <a:t>Changing Sections:</a:t>
            </a:r>
          </a:p>
          <a:p>
            <a:pPr lvl="1"/>
            <a:r>
              <a:rPr/>
              <a:t>You may switch sections (e.g., different class times or instructors) within the same course during add/drop.</a:t>
            </a:r>
          </a:p>
          <a:p>
            <a:pPr lvl="0"/>
            <a:r>
              <a:rPr b="1"/>
              <a:t>Switching Modality:</a:t>
            </a:r>
          </a:p>
          <a:p>
            <a:pPr lvl="1"/>
            <a:r>
              <a:rPr/>
              <a:t>For hybrid/online classes, request a change in MyCendara or through your department as available.</a:t>
            </a:r>
          </a:p>
          <a:p>
            <a:pPr lvl="0"/>
            <a:r>
              <a:rPr b="1"/>
              <a:t>Overloads &amp; Underloads:</a:t>
            </a:r>
          </a:p>
          <a:p>
            <a:pPr lvl="1"/>
            <a:r>
              <a:rPr/>
              <a:t>Approval from your advisor (and, for overloads, the Dean of your school) required to exceed maximum or fall below minimum credit limits.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Special Considerations</a:t>
            </a:r>
          </a:p>
          <a:p>
            <a:pPr lvl="0"/>
            <a:r>
              <a:rPr b="1"/>
              <a:t>Prerequisite Issues:</a:t>
            </a:r>
            <a:br/>
            <a:r>
              <a:rPr/>
              <a:t>If unable to register due to missing prerequisites, request a prerequisite override in consultation with your academic advisor and course instructor.</a:t>
            </a:r>
          </a:p>
          <a:p>
            <a:pPr lvl="0"/>
            <a:r>
              <a:rPr b="1"/>
              <a:t>Academic Appeals:</a:t>
            </a:r>
            <a:br/>
            <a:r>
              <a:rPr/>
              <a:t>Academic appeals (for late add, late withdrawal, etc.) must be submitted with complete documentation to the Office of the Registrar for consideration.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Contacts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of Admissions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admissions@cendara.edu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555-402-1021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Beckett Hall, Room 101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Registrar’s Office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registrar@cendara.edu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555-402-1022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Beckett Hall, Room 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 Advising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advising@cendara.edu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555-402-1145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Pearson Building, Room 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Financial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555-402-1064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Kendry Hall, Room 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International Student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intlservices@cendara.edu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555-402-1098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Beckett Hall, Room 310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Frequently Asked Questions</a:t>
            </a:r>
          </a:p>
          <a:p>
            <a:pPr lvl="0"/>
            <a:r>
              <a:rPr b="1"/>
              <a:t>How do I know if a course is required for my major?</a:t>
            </a:r>
            <a:br/>
            <a:r>
              <a:rPr/>
              <a:t>Refer to your degree audit in MyCendara or consult your advisor for clarification.</a:t>
            </a:r>
          </a:p>
          <a:p>
            <a:pPr lvl="0"/>
            <a:r>
              <a:rPr b="1"/>
              <a:t>What happens if I miss the registration deadline?</a:t>
            </a:r>
            <a:br/>
            <a:r>
              <a:rPr/>
              <a:t>Late registrations are not guaranteed and incur late fees. Contact the Registrar’s Office immediately.</a:t>
            </a:r>
          </a:p>
          <a:p>
            <a:pPr lvl="0"/>
            <a:r>
              <a:rPr b="1"/>
              <a:t>Can I take courses in more than one department?</a:t>
            </a:r>
            <a:br/>
            <a:r>
              <a:rPr/>
              <a:t>Yes, as long as you meet prerequisites and credit load policies.</a:t>
            </a:r>
          </a:p>
          <a:p>
            <a:pPr lvl="0"/>
            <a:r>
              <a:rPr b="1"/>
              <a:t>When will I get my university ID card?</a:t>
            </a:r>
            <a:br/>
            <a:r>
              <a:rPr/>
              <a:t>ID cards are issued at Orientation or may be picked up from the Student Affairs Office after registration is confirmed.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further information, review the full </a:t>
            </a:r>
            <a:r>
              <a:rPr>
                <a:hlinkClick r:id="rId2"/>
              </a:rPr>
              <a:t>Student Handbook</a:t>
            </a:r>
            <a:r>
              <a:rPr/>
              <a:t> or contact an enrollment advisor.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2025-07-29T15:04:27Z</dcterms:created>
  <dcterms:modified xsi:type="dcterms:W3CDTF">2025-07-29T15:04:27Z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