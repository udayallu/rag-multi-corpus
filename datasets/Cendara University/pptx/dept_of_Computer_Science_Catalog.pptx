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5" Type="http://schemas.openxmlformats.org/officeDocument/2006/relationships/viewProps" Target="viewProps.xml" /><Relationship Id="rId34" Type="http://schemas.openxmlformats.org/officeDocument/2006/relationships/presProps" Target="presProps.xml" /><Relationship Id="rId1" Type="http://schemas.openxmlformats.org/officeDocument/2006/relationships/slideMaster" Target="slideMasters/slideMaster1.xml" /><Relationship Id="rId37" Type="http://schemas.openxmlformats.org/officeDocument/2006/relationships/tableStyles" Target="tableStyles.xml" /><Relationship Id="rId36"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Cendara University</a:t>
            </a:r>
          </a:p>
        </p:txBody>
      </p:sp>
      <p:sp>
        <p:nvSpPr>
          <p:cNvPr id="3" name="Content Placeholder 2"/>
          <p:cNvSpPr>
            <a:spLocks noGrp="1"/>
          </p:cNvSpPr>
          <p:nvPr>
            <p:ph idx="1"/>
          </p:nvPr>
        </p:nvSpPr>
        <p:spPr/>
        <p:txBody>
          <a:bodyPr/>
          <a:lstStyle/>
          <a:p>
            <a:pPr lvl="0" indent="0" marL="0">
              <a:spcBef>
                <a:spcPts val="3000"/>
              </a:spcBef>
              <a:buNone/>
            </a:pPr>
            <a:r>
              <a:rPr b="1"/>
              <a:t>Department of Computer Science</a:t>
            </a:r>
          </a:p>
          <a:p>
            <a:pPr lvl="0" indent="0" marL="0">
              <a:spcBef>
                <a:spcPts val="3000"/>
              </a:spcBef>
              <a:buNone/>
            </a:pPr>
            <a:r>
              <a:rPr b="1"/>
              <a:t>Course Catalog 2024–2025</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Undergraduate Program — B.Sc. in Computer Science</a:t>
            </a:r>
          </a:p>
          <a:p>
            <a:pPr lvl="0" indent="0" marL="0">
              <a:spcBef>
                <a:spcPts val="3000"/>
              </a:spcBef>
              <a:buNone/>
            </a:pPr>
            <a:r>
              <a:rPr b="1"/>
              <a:t>Tracks Offered</a:t>
            </a:r>
          </a:p>
          <a:p>
            <a:pPr lvl="0"/>
            <a:r>
              <a:rPr b="1"/>
              <a:t>Software Engineering</a:t>
            </a:r>
          </a:p>
          <a:p>
            <a:pPr lvl="0"/>
            <a:r>
              <a:rPr b="1"/>
              <a:t>Artificial Intelligence</a:t>
            </a:r>
          </a:p>
          <a:p>
            <a:pPr lvl="0"/>
            <a:r>
              <a:rPr b="1"/>
              <a:t>Cybersecurity</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Course Listings</a:t>
            </a:r>
          </a:p>
          <a:p>
            <a:pPr lvl="0" indent="0" marL="0">
              <a:spcBef>
                <a:spcPts val="3000"/>
              </a:spcBef>
              <a:buNone/>
            </a:pPr>
            <a:r>
              <a:rPr b="1"/>
              <a:t>CS101: Introduction to Computer Science</a:t>
            </a:r>
          </a:p>
          <a:p>
            <a:pPr lvl="0"/>
            <a:r>
              <a:rPr b="1"/>
              <a:t>Description:</a:t>
            </a:r>
            <a:br/>
            <a:r>
              <a:rPr/>
              <a:t>An overview of the foundational concepts of computer science. Topics include algorithms, programming fundamentals, computer hardware, operating systems, and current trends in the field. Designed for students with little or no prior programming experience.</a:t>
            </a:r>
          </a:p>
          <a:p>
            <a:pPr lvl="0"/>
            <a:r>
              <a:rPr b="1"/>
              <a:t>Prerequisites:</a:t>
            </a:r>
            <a:r>
              <a:rPr/>
              <a:t> None</a:t>
            </a:r>
            <a:br/>
          </a:p>
          <a:p>
            <a:pPr lvl="0"/>
            <a:r>
              <a:rPr b="1"/>
              <a:t>Credit Hours:</a:t>
            </a:r>
            <a:r>
              <a:rPr/>
              <a:t> 3</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CS115: Programming Fundamentals with Python</a:t>
            </a:r>
          </a:p>
          <a:p>
            <a:pPr lvl="0"/>
            <a:r>
              <a:rPr b="1"/>
              <a:t>Description:</a:t>
            </a:r>
            <a:br/>
            <a:r>
              <a:rPr/>
              <a:t>Introduction to structured problem-solving and algorithmic thinking using Python. Covers variable types, control structures, functions, simple data structures, and debugging practices.</a:t>
            </a:r>
          </a:p>
          <a:p>
            <a:pPr lvl="0"/>
            <a:r>
              <a:rPr b="1"/>
              <a:t>Prerequisites:</a:t>
            </a:r>
            <a:r>
              <a:rPr/>
              <a:t> None</a:t>
            </a:r>
            <a:br/>
          </a:p>
          <a:p>
            <a:pPr lvl="0"/>
            <a:r>
              <a:rPr b="1"/>
              <a:t>Credit Hours:</a:t>
            </a:r>
            <a:r>
              <a:rPr/>
              <a:t> 4</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CS130: Data Structures and Algorithms</a:t>
            </a:r>
          </a:p>
          <a:p>
            <a:pPr lvl="0"/>
            <a:r>
              <a:rPr b="1"/>
              <a:t>Description:</a:t>
            </a:r>
            <a:br/>
            <a:r>
              <a:rPr/>
              <a:t>Concepts and implementation of fundamental data structures (lists, stacks, queues, trees, graphs) and basic algorithms (sorting, searching, recursion). Emphasis on algorithmic analysis and computational complexity.</a:t>
            </a:r>
          </a:p>
          <a:p>
            <a:pPr lvl="0"/>
            <a:r>
              <a:rPr b="1"/>
              <a:t>Prerequisites:</a:t>
            </a:r>
            <a:r>
              <a:rPr/>
              <a:t> CS115</a:t>
            </a:r>
            <a:br/>
          </a:p>
          <a:p>
            <a:pPr lvl="0"/>
            <a:r>
              <a:rPr b="1"/>
              <a:t>Credit Hours:</a:t>
            </a:r>
            <a:r>
              <a:rPr/>
              <a:t> 3</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CS205: Discrete Mathematics for Computer Science</a:t>
            </a:r>
          </a:p>
          <a:p>
            <a:pPr lvl="0"/>
            <a:r>
              <a:rPr b="1"/>
              <a:t>Description:</a:t>
            </a:r>
            <a:br/>
            <a:r>
              <a:rPr/>
              <a:t>Mathematical foundations including logic, set theory, combinatorics, graph theory, and proofs relevant to computer science applications.</a:t>
            </a:r>
          </a:p>
          <a:p>
            <a:pPr lvl="0"/>
            <a:r>
              <a:rPr b="1"/>
              <a:t>Prerequisites:</a:t>
            </a:r>
            <a:r>
              <a:rPr/>
              <a:t> CS101 or instructor consent</a:t>
            </a:r>
            <a:br/>
          </a:p>
          <a:p>
            <a:pPr lvl="0"/>
            <a:r>
              <a:rPr b="1"/>
              <a:t>Credit Hours:</a:t>
            </a:r>
            <a:r>
              <a:rPr/>
              <a:t> 3</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CS210: Object-Oriented Programming</a:t>
            </a:r>
          </a:p>
          <a:p>
            <a:pPr lvl="0"/>
            <a:r>
              <a:rPr b="1"/>
              <a:t>Description:</a:t>
            </a:r>
            <a:br/>
            <a:r>
              <a:rPr/>
              <a:t>Principles of object-oriented programming using Java. Topics include classes, objects, inheritance, polymorphism, encapsulation, interfaces, and software design patterns.</a:t>
            </a:r>
          </a:p>
          <a:p>
            <a:pPr lvl="0"/>
            <a:r>
              <a:rPr b="1"/>
              <a:t>Prerequisites:</a:t>
            </a:r>
            <a:r>
              <a:rPr/>
              <a:t> CS115</a:t>
            </a:r>
            <a:br/>
          </a:p>
          <a:p>
            <a:pPr lvl="0"/>
            <a:r>
              <a:rPr b="1"/>
              <a:t>Credit Hours:</a:t>
            </a:r>
            <a:r>
              <a:rPr/>
              <a:t> 4</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CS235: Computer Organization and Architecture</a:t>
            </a:r>
          </a:p>
          <a:p>
            <a:pPr lvl="0"/>
            <a:r>
              <a:rPr b="1"/>
              <a:t>Description:</a:t>
            </a:r>
            <a:br/>
            <a:r>
              <a:rPr/>
              <a:t>Study of computer hardware and system organization. Covers digital logic, assembly language, processor design, memory hierarchy, and input/output systems.</a:t>
            </a:r>
          </a:p>
          <a:p>
            <a:pPr lvl="0"/>
            <a:r>
              <a:rPr b="1"/>
              <a:t>Prerequisites:</a:t>
            </a:r>
            <a:r>
              <a:rPr/>
              <a:t> CS130</a:t>
            </a:r>
            <a:br/>
          </a:p>
          <a:p>
            <a:pPr lvl="0"/>
            <a:r>
              <a:rPr b="1"/>
              <a:t>Credit Hours:</a:t>
            </a:r>
            <a:r>
              <a:rPr/>
              <a:t> 3</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CS250: Introduction to Software Engineering</a:t>
            </a:r>
          </a:p>
          <a:p>
            <a:pPr lvl="0"/>
            <a:r>
              <a:rPr b="1"/>
              <a:t>Description:</a:t>
            </a:r>
            <a:br/>
            <a:r>
              <a:rPr/>
              <a:t>Software design and development methodologies. Topics include requirement analysis, version control, Agile principles, system modeling, testing, and documentation.</a:t>
            </a:r>
          </a:p>
          <a:p>
            <a:pPr lvl="0"/>
            <a:r>
              <a:rPr b="1"/>
              <a:t>Prerequisites:</a:t>
            </a:r>
            <a:r>
              <a:rPr/>
              <a:t> CS210</a:t>
            </a:r>
            <a:br/>
          </a:p>
          <a:p>
            <a:pPr lvl="0"/>
            <a:r>
              <a:rPr b="1"/>
              <a:t>Credit Hours:</a:t>
            </a:r>
            <a:r>
              <a:rPr/>
              <a:t> 3</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CS271: Principles of Cybersecurity</a:t>
            </a:r>
          </a:p>
          <a:p>
            <a:pPr lvl="0"/>
            <a:r>
              <a:rPr b="1"/>
              <a:t>Description:</a:t>
            </a:r>
            <a:br/>
            <a:r>
              <a:rPr/>
              <a:t>An introductory course to cybersecurity concepts. Examines secure coding, cryptography basics, network security, and ethical issues in cybersecurity.</a:t>
            </a:r>
          </a:p>
          <a:p>
            <a:pPr lvl="0"/>
            <a:r>
              <a:rPr b="1"/>
              <a:t>Prerequisites:</a:t>
            </a:r>
            <a:r>
              <a:rPr/>
              <a:t> CS130</a:t>
            </a:r>
            <a:br/>
          </a:p>
          <a:p>
            <a:pPr lvl="0"/>
            <a:r>
              <a:rPr b="1"/>
              <a:t>Credit Hours:</a:t>
            </a:r>
            <a:r>
              <a:rPr/>
              <a:t> 3</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CS290: Database Systems</a:t>
            </a:r>
          </a:p>
          <a:p>
            <a:pPr lvl="0"/>
            <a:r>
              <a:rPr b="1"/>
              <a:t>Description:</a:t>
            </a:r>
            <a:br/>
            <a:r>
              <a:rPr/>
              <a:t>Introduction to relational database design, SQL, normalization, transactions, and database application development. Includes hands-on lab projects.</a:t>
            </a:r>
          </a:p>
          <a:p>
            <a:pPr lvl="0"/>
            <a:r>
              <a:rPr b="1"/>
              <a:t>Prerequisites:</a:t>
            </a:r>
            <a:r>
              <a:rPr/>
              <a:t> CS130</a:t>
            </a:r>
            <a:br/>
          </a:p>
          <a:p>
            <a:pPr lvl="0"/>
            <a:r>
              <a:rPr b="1"/>
              <a:t>Credit Hours:</a:t>
            </a:r>
            <a:r>
              <a:rPr/>
              <a:t> 3</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CS310: Theory of Computation</a:t>
            </a:r>
          </a:p>
          <a:p>
            <a:pPr lvl="0"/>
            <a:r>
              <a:rPr b="1"/>
              <a:t>Description:</a:t>
            </a:r>
            <a:br/>
            <a:r>
              <a:rPr/>
              <a:t>Study of automata, formal languages, Turing machines, decidability, and computational complexity.</a:t>
            </a:r>
          </a:p>
          <a:p>
            <a:pPr lvl="0"/>
            <a:r>
              <a:rPr b="1"/>
              <a:t>Prerequisites:</a:t>
            </a:r>
            <a:r>
              <a:rPr/>
              <a:t> CS205</a:t>
            </a:r>
            <a:br/>
          </a:p>
          <a:p>
            <a:pPr lvl="0"/>
            <a:r>
              <a:rPr b="1"/>
              <a:t>Credit Hours:</a:t>
            </a:r>
            <a:r>
              <a:rPr/>
              <a:t> 3</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CS330: Operating Systems</a:t>
            </a:r>
          </a:p>
          <a:p>
            <a:pPr lvl="0"/>
            <a:r>
              <a:rPr b="1"/>
              <a:t>Description:</a:t>
            </a:r>
            <a:br/>
            <a:r>
              <a:rPr/>
              <a:t>Concepts and architectures of operating systems. Explores process management, CPU scheduling, memory management, file systems, and concurrency.</a:t>
            </a:r>
          </a:p>
          <a:p>
            <a:pPr lvl="0"/>
            <a:r>
              <a:rPr b="1"/>
              <a:t>Prerequisites:</a:t>
            </a:r>
            <a:r>
              <a:rPr/>
              <a:t> CS235</a:t>
            </a:r>
            <a:br/>
          </a:p>
          <a:p>
            <a:pPr lvl="0"/>
            <a:r>
              <a:rPr b="1"/>
              <a:t>Credit Hours:</a:t>
            </a:r>
            <a:r>
              <a:rPr/>
              <a:t> 4</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CS355: Artificial Intelligence Foundations</a:t>
            </a:r>
          </a:p>
          <a:p>
            <a:pPr lvl="0"/>
            <a:r>
              <a:rPr b="1"/>
              <a:t>Description:</a:t>
            </a:r>
            <a:br/>
            <a:r>
              <a:rPr/>
              <a:t>Introduction to AI, including search algorithms, knowledge representation, reasoning, machine learning basics, and ethical issues in AI.</a:t>
            </a:r>
          </a:p>
          <a:p>
            <a:pPr lvl="0"/>
            <a:r>
              <a:rPr b="1"/>
              <a:t>Prerequisites:</a:t>
            </a:r>
            <a:r>
              <a:rPr/>
              <a:t> CS130</a:t>
            </a:r>
            <a:br/>
          </a:p>
          <a:p>
            <a:pPr lvl="0"/>
            <a:r>
              <a:rPr b="1"/>
              <a:t>Credit Hours:</a:t>
            </a:r>
            <a:r>
              <a:rPr/>
              <a:t> 3</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CS370: Mobile App Development</a:t>
            </a:r>
          </a:p>
          <a:p>
            <a:pPr lvl="0"/>
            <a:r>
              <a:rPr b="1"/>
              <a:t>Description:</a:t>
            </a:r>
            <a:br/>
            <a:r>
              <a:rPr/>
              <a:t>Design and implementation of mobile applications for iOS and Android platforms. Focus on user interfaces, mobile frameworks, and cross-platform tools.</a:t>
            </a:r>
          </a:p>
          <a:p>
            <a:pPr lvl="0"/>
            <a:r>
              <a:rPr b="1"/>
              <a:t>Prerequisites:</a:t>
            </a:r>
            <a:r>
              <a:rPr/>
              <a:t> CS210</a:t>
            </a:r>
            <a:br/>
          </a:p>
          <a:p>
            <a:pPr lvl="0"/>
            <a:r>
              <a:rPr b="1"/>
              <a:t>Credit Hours:</a:t>
            </a:r>
            <a:r>
              <a:rPr/>
              <a:t> 3</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CS395: Special Topics in Computer Science</a:t>
            </a:r>
          </a:p>
          <a:p>
            <a:pPr lvl="0"/>
            <a:r>
              <a:rPr b="1"/>
              <a:t>Description:</a:t>
            </a:r>
            <a:br/>
            <a:r>
              <a:rPr/>
              <a:t>Offers in-depth study of new and emerging areas in computer science. Topics vary each semester and may include Internet of Things, Blockchain, or Advanced Web Development.</a:t>
            </a:r>
          </a:p>
          <a:p>
            <a:pPr lvl="0"/>
            <a:r>
              <a:rPr b="1"/>
              <a:t>Prerequisites:</a:t>
            </a:r>
            <a:r>
              <a:rPr/>
              <a:t> Junior standing and instructor approval</a:t>
            </a:r>
            <a:br/>
          </a:p>
          <a:p>
            <a:pPr lvl="0"/>
            <a:r>
              <a:rPr b="1"/>
              <a:t>Credit Hours:</a:t>
            </a:r>
            <a:r>
              <a:rPr/>
              <a:t> 3</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CS401: Software Project (Capstone)</a:t>
            </a:r>
          </a:p>
          <a:p>
            <a:pPr lvl="0"/>
            <a:r>
              <a:rPr b="1"/>
              <a:t>Description:</a:t>
            </a:r>
            <a:br/>
            <a:r>
              <a:rPr/>
              <a:t>Team-based software project integrating knowledge learned throughout the curriculum. Involves project proposal, development, testing, deployment, and presentation.</a:t>
            </a:r>
          </a:p>
          <a:p>
            <a:pPr lvl="0"/>
            <a:r>
              <a:rPr b="1"/>
              <a:t>Prerequisites:</a:t>
            </a:r>
            <a:r>
              <a:rPr/>
              <a:t> Senior standing, CS250</a:t>
            </a:r>
            <a:br/>
          </a:p>
          <a:p>
            <a:pPr lvl="0"/>
            <a:r>
              <a:rPr b="1"/>
              <a:t>Credit Hours:</a:t>
            </a:r>
            <a:r>
              <a:rPr/>
              <a:t> 4</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Electives by Track</a:t>
            </a:r>
          </a:p>
          <a:p>
            <a:pPr lvl="0" indent="0" marL="0">
              <a:spcBef>
                <a:spcPts val="3000"/>
              </a:spcBef>
              <a:buNone/>
            </a:pPr>
            <a:r>
              <a:rPr b="1"/>
              <a:t>Software Engineering</a:t>
            </a:r>
          </a:p>
          <a:p>
            <a:pPr lvl="0"/>
            <a:r>
              <a:rPr b="1"/>
              <a:t>CS425: Advanced Software Engineering</a:t>
            </a:r>
          </a:p>
          <a:p>
            <a:pPr lvl="0"/>
            <a:r>
              <a:rPr b="1"/>
              <a:t>CS432: DevOps and Continuous Integration</a:t>
            </a:r>
          </a:p>
          <a:p>
            <a:pPr lvl="0" indent="0" marL="0">
              <a:spcBef>
                <a:spcPts val="3000"/>
              </a:spcBef>
              <a:buNone/>
            </a:pPr>
            <a:r>
              <a:rPr b="1"/>
              <a:t>Artificial Intelligence</a:t>
            </a:r>
          </a:p>
          <a:p>
            <a:pPr lvl="0"/>
            <a:r>
              <a:rPr b="1"/>
              <a:t>CS441: Machine Learning</a:t>
            </a:r>
          </a:p>
          <a:p>
            <a:pPr lvl="0"/>
            <a:r>
              <a:rPr b="1"/>
              <a:t>CS445: Natural Language Processing</a:t>
            </a:r>
          </a:p>
          <a:p>
            <a:pPr lvl="0" indent="0" marL="0">
              <a:spcBef>
                <a:spcPts val="3000"/>
              </a:spcBef>
              <a:buNone/>
            </a:pPr>
            <a:r>
              <a:rPr b="1"/>
              <a:t>Cybersecurity</a:t>
            </a:r>
          </a:p>
          <a:p>
            <a:pPr lvl="0"/>
            <a:r>
              <a:rPr b="1"/>
              <a:t>CS460: Ethical Hacking and Penetration Testing</a:t>
            </a:r>
          </a:p>
          <a:p>
            <a:pPr lvl="0"/>
            <a:r>
              <a:rPr b="1"/>
              <a:t>CS466: Network Security and Forensics</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CS425: Advanced Software Engineering</a:t>
            </a:r>
          </a:p>
          <a:p>
            <a:pPr lvl="0"/>
            <a:r>
              <a:rPr b="1"/>
              <a:t>Description:</a:t>
            </a:r>
            <a:br/>
            <a:r>
              <a:rPr/>
              <a:t>Explores advanced concepts in software engineering, including software architecture, project management, refactoring, and automated testing practices.</a:t>
            </a:r>
          </a:p>
          <a:p>
            <a:pPr lvl="0"/>
            <a:r>
              <a:rPr b="1"/>
              <a:t>Prerequisites:</a:t>
            </a:r>
            <a:r>
              <a:rPr/>
              <a:t> CS250</a:t>
            </a:r>
            <a:br/>
          </a:p>
          <a:p>
            <a:pPr lvl="0"/>
            <a:r>
              <a:rPr b="1"/>
              <a:t>Credit Hours:</a:t>
            </a:r>
            <a:r>
              <a:rPr/>
              <a:t> 3</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CS441: Machine Learning</a:t>
            </a:r>
          </a:p>
          <a:p>
            <a:pPr lvl="0"/>
            <a:r>
              <a:rPr b="1"/>
              <a:t>Description:</a:t>
            </a:r>
            <a:br/>
            <a:r>
              <a:rPr/>
              <a:t>Principles and algorithms in machine learning. Covers supervised and unsupervised learning, neural networks, feature selection, model evaluation, and practical applications.</a:t>
            </a:r>
          </a:p>
          <a:p>
            <a:pPr lvl="0"/>
            <a:r>
              <a:rPr b="1"/>
              <a:t>Prerequisites:</a:t>
            </a:r>
            <a:r>
              <a:rPr/>
              <a:t> CS355, CS205</a:t>
            </a:r>
            <a:br/>
          </a:p>
          <a:p>
            <a:pPr lvl="0"/>
            <a:r>
              <a:rPr b="1"/>
              <a:t>Credit Hours:</a:t>
            </a:r>
            <a:r>
              <a:rPr/>
              <a:t> 3</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CS460: Ethical Hacking and Penetration Testing</a:t>
            </a:r>
          </a:p>
          <a:p>
            <a:pPr lvl="0"/>
            <a:r>
              <a:rPr b="1"/>
              <a:t>Description:</a:t>
            </a:r>
            <a:br/>
            <a:r>
              <a:rPr/>
              <a:t>Techniques and tools used in ethical hacking, penetration testing, vulnerability assessment, and incident reporting within legal and ethical frameworks.</a:t>
            </a:r>
          </a:p>
          <a:p>
            <a:pPr lvl="0"/>
            <a:r>
              <a:rPr b="1"/>
              <a:t>Prerequisites:</a:t>
            </a:r>
            <a:r>
              <a:rPr/>
              <a:t> CS271</a:t>
            </a:r>
            <a:br/>
          </a:p>
          <a:p>
            <a:pPr lvl="0"/>
            <a:r>
              <a:rPr b="1"/>
              <a:t>Credit Hours:</a:t>
            </a:r>
            <a:r>
              <a:rPr/>
              <a:t> 3</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Graduate Program — M.Sc./Ph.D. in Computer Science</a:t>
            </a:r>
          </a:p>
          <a:p>
            <a:pPr lvl="0" indent="0" marL="0">
              <a:spcBef>
                <a:spcPts val="3000"/>
              </a:spcBef>
              <a:buNone/>
            </a:pPr>
            <a:r>
              <a:rPr b="1"/>
              <a:t>Core Graduate Courses</a:t>
            </a:r>
          </a:p>
          <a:p>
            <a:pPr lvl="0" indent="0" marL="0">
              <a:spcBef>
                <a:spcPts val="3000"/>
              </a:spcBef>
              <a:buNone/>
            </a:pPr>
            <a:r>
              <a:rPr b="1"/>
              <a:t>CS501: Advanced Algorithms</a:t>
            </a:r>
          </a:p>
          <a:p>
            <a:pPr lvl="0"/>
            <a:r>
              <a:rPr b="1"/>
              <a:t>Description:</a:t>
            </a:r>
            <a:br/>
            <a:r>
              <a:rPr/>
              <a:t>In-depth study of algorithm design and analysis, including greedy algorithms, dynamic programming, network flows, NP-completeness, and approximation algorithms.</a:t>
            </a:r>
          </a:p>
          <a:p>
            <a:pPr lvl="0"/>
            <a:r>
              <a:rPr b="1"/>
              <a:t>Prerequisites:</a:t>
            </a:r>
            <a:r>
              <a:rPr/>
              <a:t> Undergraduate algorithms or equivalent</a:t>
            </a:r>
            <a:br/>
          </a:p>
          <a:p>
            <a:pPr lvl="0"/>
            <a:r>
              <a:rPr b="1"/>
              <a:t>Credit Hours:</a:t>
            </a:r>
            <a:r>
              <a:rPr/>
              <a:t> 3</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CS505: Research Methods in Computer Science</a:t>
            </a:r>
          </a:p>
          <a:p>
            <a:pPr lvl="0"/>
            <a:r>
              <a:rPr b="1"/>
              <a:t>Description:</a:t>
            </a:r>
            <a:br/>
            <a:r>
              <a:rPr/>
              <a:t>Methodologies and practices for conducting research in computer science, including literature review, research proposal, data collection and analysis, and academic writing.</a:t>
            </a:r>
          </a:p>
          <a:p>
            <a:pPr lvl="0"/>
            <a:r>
              <a:rPr b="1"/>
              <a:t>Prerequisites:</a:t>
            </a:r>
            <a:r>
              <a:rPr/>
              <a:t> Graduate standing</a:t>
            </a:r>
            <a:br/>
          </a:p>
          <a:p>
            <a:pPr lvl="0"/>
            <a:r>
              <a:rPr b="1"/>
              <a:t>Credit Hours:</a:t>
            </a:r>
            <a:r>
              <a:rPr/>
              <a:t> 2</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CS510: Machine Learning</a:t>
            </a:r>
          </a:p>
          <a:p>
            <a:pPr lvl="0"/>
            <a:r>
              <a:rPr b="1"/>
              <a:t>Description:</a:t>
            </a:r>
            <a:br/>
            <a:r>
              <a:rPr/>
              <a:t>Advanced topics in machine learning: supervised/unsupervised learning, deep learning, support vector machines, and current applications. Includes practical labs.</a:t>
            </a:r>
          </a:p>
          <a:p>
            <a:pPr lvl="0"/>
            <a:r>
              <a:rPr b="1"/>
              <a:t>Prerequisites:</a:t>
            </a:r>
            <a:r>
              <a:rPr/>
              <a:t> Undergraduate probability/statistics and algorithms or consent</a:t>
            </a:r>
            <a:br/>
          </a:p>
          <a:p>
            <a:pPr lvl="0"/>
            <a:r>
              <a:rPr b="1"/>
              <a:t>Credit Hours:</a:t>
            </a:r>
            <a:r>
              <a:rPr/>
              <a:t> 3</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CS515: Advanced Database Systems</a:t>
            </a:r>
          </a:p>
          <a:p>
            <a:pPr lvl="0"/>
            <a:r>
              <a:rPr b="1"/>
              <a:t>Description:</a:t>
            </a:r>
            <a:br/>
            <a:r>
              <a:rPr/>
              <a:t>Concepts in database theory, distributed databases, NoSQL, data warehousing, and big data management techniques.</a:t>
            </a:r>
          </a:p>
          <a:p>
            <a:pPr lvl="0"/>
            <a:r>
              <a:rPr b="1"/>
              <a:t>Prerequisites:</a:t>
            </a:r>
            <a:r>
              <a:rPr/>
              <a:t> Undergraduate databases</a:t>
            </a:r>
            <a:br/>
          </a:p>
          <a:p>
            <a:pPr lvl="0"/>
            <a:r>
              <a:rPr b="1"/>
              <a:t>Credit Hours:</a:t>
            </a:r>
            <a:r>
              <a:rPr/>
              <a:t> 3</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CS538: Artificial Intelligence Seminar</a:t>
            </a:r>
          </a:p>
          <a:p>
            <a:pPr lvl="0"/>
            <a:r>
              <a:rPr b="1"/>
              <a:t>Description:</a:t>
            </a:r>
            <a:br/>
            <a:r>
              <a:rPr/>
              <a:t>Weekly seminar series featuring research topics in AI, including robotics, natural language processing, computer vision, and ethics in intelligent systems.</a:t>
            </a:r>
          </a:p>
          <a:p>
            <a:pPr lvl="0"/>
            <a:r>
              <a:rPr b="1"/>
              <a:t>Prerequisites:</a:t>
            </a:r>
            <a:r>
              <a:rPr/>
              <a:t> Enrolled in M.Sc./Ph.D. or instructor approval</a:t>
            </a:r>
            <a:br/>
          </a:p>
          <a:p>
            <a:pPr lvl="0"/>
            <a:r>
              <a:rPr b="1"/>
              <a:t>Credit Hours:</a:t>
            </a:r>
            <a:r>
              <a:rPr/>
              <a:t> 1</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CS542: Cybersecurity Principles</a:t>
            </a:r>
          </a:p>
          <a:p>
            <a:pPr lvl="0"/>
            <a:r>
              <a:rPr b="1"/>
              <a:t>Description:</a:t>
            </a:r>
            <a:br/>
            <a:r>
              <a:rPr/>
              <a:t>Comprehensive survey of cybersecurity threats, defense mechanisms, cryptography, secure protocols, and regulatory frameworks.</a:t>
            </a:r>
          </a:p>
          <a:p>
            <a:pPr lvl="0"/>
            <a:r>
              <a:rPr b="1"/>
              <a:t>Prerequisites:</a:t>
            </a:r>
            <a:r>
              <a:rPr/>
              <a:t> Undergraduate cybersecurity or equivalent</a:t>
            </a:r>
            <a:br/>
          </a:p>
          <a:p>
            <a:pPr lvl="0"/>
            <a:r>
              <a:rPr b="1"/>
              <a:t>Credit Hours:</a:t>
            </a:r>
            <a:r>
              <a:rPr/>
              <a:t> 3</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CS590: Thesis Research</a:t>
            </a:r>
          </a:p>
          <a:p>
            <a:pPr lvl="0"/>
            <a:r>
              <a:rPr b="1"/>
              <a:t>Description:</a:t>
            </a:r>
            <a:br/>
            <a:r>
              <a:rPr/>
              <a:t>Independent research under faculty supervision culminating in a thesis or dissertation. Students define problems, conduct investigations, and present findings.</a:t>
            </a:r>
          </a:p>
          <a:p>
            <a:pPr lvl="0"/>
            <a:r>
              <a:rPr b="1"/>
              <a:t>Prerequisites:</a:t>
            </a:r>
            <a:r>
              <a:rPr/>
              <a:t> Completion of required graduate coursework and advisor approval</a:t>
            </a:r>
            <a:br/>
          </a:p>
          <a:p>
            <a:pPr lvl="0"/>
            <a:r>
              <a:rPr b="1"/>
              <a:t>Credit Hours:</a:t>
            </a:r>
            <a:r>
              <a:rPr/>
              <a:t> 6</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Graduate Electives</a:t>
            </a:r>
          </a:p>
          <a:p>
            <a:pPr lvl="0" indent="0" marL="0">
              <a:spcBef>
                <a:spcPts val="3000"/>
              </a:spcBef>
              <a:buNone/>
            </a:pPr>
            <a:r>
              <a:rPr b="1"/>
              <a:t>CS560: Distributed Systems</a:t>
            </a:r>
          </a:p>
          <a:p>
            <a:pPr lvl="0"/>
            <a:r>
              <a:rPr b="1"/>
              <a:t>Description:</a:t>
            </a:r>
            <a:br/>
            <a:r>
              <a:rPr/>
              <a:t>Study of distributed computing architectures, synchronization, fault tolerance, distributed storage, and cloud computing.</a:t>
            </a:r>
          </a:p>
          <a:p>
            <a:pPr lvl="0"/>
            <a:r>
              <a:rPr b="1"/>
              <a:t>Prerequisites:</a:t>
            </a:r>
            <a:r>
              <a:rPr/>
              <a:t> Graduate standing</a:t>
            </a:r>
            <a:br/>
          </a:p>
          <a:p>
            <a:pPr lvl="0"/>
            <a:r>
              <a:rPr b="1"/>
              <a:t>Credit Hours:</a:t>
            </a:r>
            <a:r>
              <a:rPr/>
              <a:t> 3</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CS570: Advanced Topics in Computer Vision</a:t>
            </a:r>
          </a:p>
          <a:p>
            <a:pPr lvl="0"/>
            <a:r>
              <a:rPr b="1"/>
              <a:t>Description:</a:t>
            </a:r>
            <a:br/>
            <a:r>
              <a:rPr/>
              <a:t>Techniques in image processing, object detection, pattern recognition, and hardware acceleration for computer vision tasks.</a:t>
            </a:r>
          </a:p>
          <a:p>
            <a:pPr lvl="0"/>
            <a:r>
              <a:rPr b="1"/>
              <a:t>Prerequisites:</a:t>
            </a:r>
            <a:r>
              <a:rPr/>
              <a:t> CS510 or equivalent</a:t>
            </a:r>
            <a:br/>
          </a:p>
          <a:p>
            <a:pPr lvl="0"/>
            <a:r>
              <a:rPr b="1"/>
              <a:t>Credit Hours:</a:t>
            </a:r>
            <a:r>
              <a:rPr/>
              <a:t> 3</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CS580: Special Topics in Computer Science</a:t>
            </a:r>
          </a:p>
          <a:p>
            <a:pPr lvl="0"/>
            <a:r>
              <a:rPr b="1"/>
              <a:t>Description:</a:t>
            </a:r>
            <a:br/>
            <a:r>
              <a:rPr/>
              <a:t>Rotating advanced topics across emerging areas such as quantum computing, advanced machine learning, or ethical AI.</a:t>
            </a:r>
          </a:p>
          <a:p>
            <a:pPr lvl="0"/>
            <a:r>
              <a:rPr b="1"/>
              <a:t>Prerequisites:</a:t>
            </a:r>
            <a:r>
              <a:rPr/>
              <a:t> As announced per topic</a:t>
            </a:r>
            <a:br/>
          </a:p>
          <a:p>
            <a:pPr lvl="0"/>
            <a:r>
              <a:rPr b="1"/>
              <a:t>Credit Hours:</a:t>
            </a:r>
            <a:r>
              <a:rPr/>
              <a:t> 3</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Contact</a:t>
            </a:r>
          </a:p>
        </p:txBody>
      </p:sp>
      <p:sp>
        <p:nvSpPr>
          <p:cNvPr id="3" name="Content Placeholder 2"/>
          <p:cNvSpPr>
            <a:spLocks noGrp="1"/>
          </p:cNvSpPr>
          <p:nvPr>
            <p:ph idx="1"/>
          </p:nvPr>
        </p:nvSpPr>
        <p:spPr/>
        <p:txBody>
          <a:bodyPr/>
          <a:lstStyle/>
          <a:p>
            <a:pPr lvl="0" indent="0" marL="0">
              <a:buNone/>
            </a:pPr>
            <a:r>
              <a:rPr/>
              <a:t>For more information about courses or degree requirements, please contact:</a:t>
            </a:r>
          </a:p>
          <a:p>
            <a:pPr lvl="0" indent="0" marL="0">
              <a:buNone/>
            </a:pPr>
            <a:r>
              <a:rPr b="1"/>
              <a:t>Department of Computer Science</a:t>
            </a:r>
            <a:br/>
            <a:r>
              <a:rPr/>
              <a:t>Cendara University</a:t>
            </a:r>
            <a:br/>
            <a:r>
              <a:rPr/>
              <a:t>Email: cs-advising@cendara.edu</a:t>
            </a:r>
            <a:br/>
            <a:r>
              <a:rPr/>
              <a:t>Phone: +1 (845) 555-7812</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2025-07-29T15:06:18Z</dcterms:created>
  <dcterms:modified xsi:type="dcterms:W3CDTF">2025-07-29T15:06:18Z</dcterms:modified>
</cp:coreProperties>
</file>

<file path=docProps/custom.xml><?xml version="1.0" encoding="utf-8"?>
<Properties xmlns="http://schemas.openxmlformats.org/officeDocument/2006/custom-properties" xmlns:vt="http://schemas.openxmlformats.org/officeDocument/2006/docPropsVTypes"/>
</file>