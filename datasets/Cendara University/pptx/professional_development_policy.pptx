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Professional Development Policy</a:t>
            </a:r>
          </a:p>
        </p:txBody>
      </p:sp>
      <p:sp>
        <p:nvSpPr>
          <p:cNvPr id="3" name="Content Placeholder 2"/>
          <p:cNvSpPr>
            <a:spLocks noGrp="1"/>
          </p:cNvSpPr>
          <p:nvPr>
            <p:ph idx="1"/>
          </p:nvPr>
        </p:nvSpPr>
        <p:spPr/>
        <p:txBody>
          <a:bodyPr/>
          <a:lstStyle/>
          <a:p>
            <a:pPr lvl="0" indent="0" marL="0">
              <a:buNone/>
            </a:pPr>
            <a:r>
              <a:rPr b="1"/>
              <a:t>Effective Date:</a:t>
            </a:r>
            <a:r>
              <a:rPr/>
              <a:t> September 1, 2023</a:t>
            </a:r>
            <a:br/>
            <a:r>
              <a:rPr b="1"/>
              <a:t>Approved by:</a:t>
            </a:r>
            <a:r>
              <a:rPr/>
              <a:t> University Council</a:t>
            </a:r>
            <a:br/>
            <a:r>
              <a:rPr b="1"/>
              <a:t>Review Date:</a:t>
            </a:r>
            <a:r>
              <a:rPr/>
              <a:t> September 1, 2026</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Purpose</a:t>
            </a:r>
          </a:p>
          <a:p>
            <a:pPr lvl="0" indent="0" marL="0">
              <a:buNone/>
            </a:pPr>
            <a:r>
              <a:rPr/>
              <a:t>Cendara University is committed to the ongoing professional and academic growth of its faculty and staff. This policy outlines the university’s provisions for training opportunities, conference attendance, and support for continuing education. It aims to foster a vibrant, informed, and highly skilled workforce aligned with the university’s mission of educational excellence.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Scope</a:t>
            </a:r>
          </a:p>
          <a:p>
            <a:pPr lvl="0" indent="0" marL="0">
              <a:buNone/>
            </a:pPr>
            <a:r>
              <a:rPr/>
              <a:t>This policy applies to all full-time and part-time academic staff, administrative personnel, and professional staff employed by Cendara University.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Training Opportunities</a:t>
            </a:r>
          </a:p>
          <a:p>
            <a:pPr lvl="0" indent="0" marL="0">
              <a:spcBef>
                <a:spcPts val="3000"/>
              </a:spcBef>
              <a:buNone/>
            </a:pPr>
            <a:r>
              <a:rPr b="1"/>
              <a:t>3.1 Internal Training</a:t>
            </a:r>
          </a:p>
          <a:p>
            <a:pPr lvl="0"/>
            <a:r>
              <a:rPr b="1"/>
              <a:t>Workshops and Seminars:</a:t>
            </a:r>
            <a:r>
              <a:rPr/>
              <a:t> Regularly scheduled workshops and seminars are provided on campus covering topics including instructional technology, academic advising, research ethics, project management, and student engagement strategies.</a:t>
            </a:r>
          </a:p>
          <a:p>
            <a:pPr lvl="0"/>
            <a:r>
              <a:rPr b="1"/>
              <a:t>Mandatory Training:</a:t>
            </a:r>
            <a:r>
              <a:rPr/>
              <a:t> All new employees are required to complete orientation, workplace safety, and diversity and inclusion modules within their first three months.</a:t>
            </a:r>
          </a:p>
          <a:p>
            <a:pPr lvl="0"/>
            <a:r>
              <a:rPr b="1"/>
              <a:t>Leadership Development:</a:t>
            </a:r>
            <a:r>
              <a:rPr/>
              <a:t> Annual leadership programs are available for aspiring department chairs and administrative leaders.</a:t>
            </a:r>
          </a:p>
          <a:p>
            <a:pPr lvl="0" indent="0" marL="0">
              <a:spcBef>
                <a:spcPts val="3000"/>
              </a:spcBef>
              <a:buNone/>
            </a:pPr>
            <a:r>
              <a:rPr b="1"/>
              <a:t>3.2 Access and Enrollment</a:t>
            </a:r>
          </a:p>
          <a:p>
            <a:pPr lvl="0"/>
            <a:r>
              <a:rPr/>
              <a:t>Training calendars are posted each semester on the university’s Intranet.</a:t>
            </a:r>
          </a:p>
          <a:p>
            <a:pPr lvl="0"/>
            <a:r>
              <a:rPr/>
              <a:t>Enrollment is on a first-come, first-served basis, with priority given to staff whose roles directly align with the subject matter.</a:t>
            </a:r>
          </a:p>
          <a:p>
            <a:pPr lvl="0"/>
            <a:r>
              <a:rPr/>
              <a:t>Employees may request specific training relevant to their duties through their department head.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Conference Attendance</a:t>
            </a:r>
          </a:p>
          <a:p>
            <a:pPr lvl="0" indent="0" marL="0">
              <a:spcBef>
                <a:spcPts val="3000"/>
              </a:spcBef>
              <a:buNone/>
            </a:pPr>
            <a:r>
              <a:rPr b="1"/>
              <a:t>4.1 Eligibility</a:t>
            </a:r>
          </a:p>
          <a:p>
            <a:pPr lvl="0"/>
            <a:r>
              <a:rPr/>
              <a:t>All academic and administrative staff are eligible to apply for funding to attend professional conferences, symposia, or workshops relevant to their roles or departmental objectives.</a:t>
            </a:r>
          </a:p>
          <a:p>
            <a:pPr lvl="0"/>
            <a:r>
              <a:rPr/>
              <a:t>Each employee may receive funding for up to two (2) conferences per academic year, subject to budget limitations.</a:t>
            </a:r>
          </a:p>
          <a:p>
            <a:pPr lvl="0" indent="0" marL="0">
              <a:spcBef>
                <a:spcPts val="3000"/>
              </a:spcBef>
              <a:buNone/>
            </a:pPr>
            <a:r>
              <a:rPr b="1"/>
              <a:t>4.2 Application Process</a:t>
            </a:r>
          </a:p>
          <a:p>
            <a:pPr lvl="0"/>
            <a:r>
              <a:rPr b="1"/>
              <a:t>Submission:</a:t>
            </a:r>
            <a:r>
              <a:rPr/>
              <a:t> Complete the Conference Funding Application form and submit it to the Office of Academic Affairs at least eight weeks prior to the event.</a:t>
            </a:r>
          </a:p>
          <a:p>
            <a:pPr lvl="0"/>
            <a:r>
              <a:rPr b="1"/>
              <a:t>Supporting Documents:</a:t>
            </a:r>
            <a:r>
              <a:rPr/>
              <a:t> Applications should include a conference agenda, statement of purpose, and estimated budget.</a:t>
            </a:r>
          </a:p>
          <a:p>
            <a:pPr lvl="0"/>
            <a:r>
              <a:rPr b="1"/>
              <a:t>Approval:</a:t>
            </a:r>
            <a:r>
              <a:rPr/>
              <a:t> Applications are reviewed monthly by the Professional Development Committee; decisions are communicated within 14 business days.</a:t>
            </a:r>
          </a:p>
          <a:p>
            <a:pPr lvl="0" indent="0" marL="0">
              <a:spcBef>
                <a:spcPts val="3000"/>
              </a:spcBef>
              <a:buNone/>
            </a:pPr>
            <a:r>
              <a:rPr b="1"/>
              <a:t>4.3 Covered Expenses</a:t>
            </a:r>
          </a:p>
          <a:p>
            <a:pPr lvl="0"/>
            <a:r>
              <a:rPr/>
              <a:t>Registration fees</a:t>
            </a:r>
          </a:p>
          <a:p>
            <a:pPr lvl="0"/>
            <a:r>
              <a:rPr/>
              <a:t>Economy class travel (rail or air)</a:t>
            </a:r>
          </a:p>
          <a:p>
            <a:pPr lvl="0"/>
            <a:r>
              <a:rPr/>
              <a:t>Standard accommodation</a:t>
            </a:r>
          </a:p>
          <a:p>
            <a:pPr lvl="0"/>
            <a:r>
              <a:rPr/>
              <a:t>Daily meal allowance (maximum $60 per day)</a:t>
            </a:r>
          </a:p>
          <a:p>
            <a:pPr lvl="0" indent="0" marL="0">
              <a:spcBef>
                <a:spcPts val="3000"/>
              </a:spcBef>
              <a:buNone/>
            </a:pPr>
            <a:r>
              <a:rPr b="1"/>
              <a:t>4.4 Reporting Requirement</a:t>
            </a:r>
          </a:p>
          <a:p>
            <a:pPr lvl="0"/>
            <a:r>
              <a:rPr/>
              <a:t>Upon return, attendees are required to submit a brief report summarizing key learnings and potential applications at Cendara University.</a:t>
            </a:r>
          </a:p>
          <a:p>
            <a:pPr lvl="0"/>
            <a:r>
              <a:rPr/>
              <a:t>Attendees are encouraged to present a summary session or workshop within their department.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Continuing Education Support</a:t>
            </a:r>
          </a:p>
          <a:p>
            <a:pPr lvl="0" indent="0" marL="0">
              <a:spcBef>
                <a:spcPts val="3000"/>
              </a:spcBef>
              <a:buNone/>
            </a:pPr>
            <a:r>
              <a:rPr b="1"/>
              <a:t>5.1 Tuition Reimbursement</a:t>
            </a:r>
          </a:p>
          <a:p>
            <a:pPr lvl="0"/>
            <a:r>
              <a:rPr/>
              <a:t>Eligible employees may apply for tuition reimbursement for accredited courses or certificate programs that relate to their University roles.</a:t>
            </a:r>
          </a:p>
          <a:p>
            <a:pPr lvl="0"/>
            <a:r>
              <a:rPr/>
              <a:t>Up to 75% of tuition costs may be reimbursed per academic year, not exceeding $6,000 annually.</a:t>
            </a:r>
          </a:p>
          <a:p>
            <a:pPr lvl="0"/>
            <a:r>
              <a:rPr/>
              <a:t>Reimbursement is contingent upon successful completion with a minimum grade of B or equivalent.</a:t>
            </a:r>
          </a:p>
          <a:p>
            <a:pPr lvl="0" indent="0" marL="0">
              <a:spcBef>
                <a:spcPts val="3000"/>
              </a:spcBef>
              <a:buNone/>
            </a:pPr>
            <a:r>
              <a:rPr b="1"/>
              <a:t>5.2 Study Leave</a:t>
            </a:r>
          </a:p>
          <a:p>
            <a:pPr lvl="0"/>
            <a:r>
              <a:rPr/>
              <a:t>Staff pursuing a degree or certification may apply for paid study leave of up to 10 working days per academic year.</a:t>
            </a:r>
          </a:p>
          <a:p>
            <a:pPr lvl="0"/>
            <a:r>
              <a:rPr/>
              <a:t>Requests should be submitted at least three months in advance and must be approved by the relevant Dean or Director.</a:t>
            </a:r>
          </a:p>
          <a:p>
            <a:pPr lvl="0" indent="0" marL="0">
              <a:spcBef>
                <a:spcPts val="3000"/>
              </a:spcBef>
              <a:buNone/>
            </a:pPr>
            <a:r>
              <a:rPr b="1"/>
              <a:t>5.3 External Programs and Fellowships</a:t>
            </a:r>
          </a:p>
          <a:p>
            <a:pPr lvl="0"/>
            <a:r>
              <a:rPr/>
              <a:t>The university will consider financial and administrative support for staff selected for competitive external programs, fellowships, or advanced research opportunities.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Responsibilities</a:t>
            </a:r>
          </a:p>
          <a:p>
            <a:pPr lvl="0"/>
            <a:r>
              <a:rPr b="1"/>
              <a:t>Professional Development Committee:</a:t>
            </a:r>
            <a:r>
              <a:rPr/>
              <a:t> Reviews funding applications, monitors policy application, and evaluates annual development needs.</a:t>
            </a:r>
          </a:p>
          <a:p>
            <a:pPr lvl="0"/>
            <a:r>
              <a:rPr b="1"/>
              <a:t>Supervisors/Department Heads:</a:t>
            </a:r>
            <a:r>
              <a:rPr/>
              <a:t> Communicate opportunities, encourage participation, and assess individual training needs during annual performance reviews.</a:t>
            </a:r>
          </a:p>
          <a:p>
            <a:pPr lvl="0"/>
            <a:r>
              <a:rPr b="1"/>
              <a:t>Employees:</a:t>
            </a:r>
            <a:r>
              <a:rPr/>
              <a:t> Proactively seek relevant opportunities, submit timely applications, and fulfill all reporting obligations.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Funding and Budget</a:t>
            </a:r>
          </a:p>
          <a:p>
            <a:pPr lvl="0"/>
            <a:r>
              <a:rPr/>
              <a:t>The Professional Development Fund is allocated annually as part of the University’s operating budget, administered by the Office of Human Resources in consultation with Academic Affairs.</a:t>
            </a:r>
          </a:p>
          <a:p>
            <a:pPr lvl="0"/>
            <a:r>
              <a:rPr/>
              <a:t>Funding requests exceeding $6,000 per person or special case consideration require Vice Chancellor approval.</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Review and Amendments</a:t>
            </a:r>
          </a:p>
          <a:p>
            <a:pPr lvl="0" indent="0" marL="0">
              <a:buNone/>
            </a:pPr>
            <a:r>
              <a:rPr/>
              <a:t>This policy is subject to review every three years or as required based on operational or legislative changes. Suggestions for amendment may be submitted to the Office of Human Resources.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 Contact</a:t>
            </a:r>
          </a:p>
          <a:p>
            <a:pPr lvl="0" indent="0" marL="0">
              <a:buNone/>
            </a:pPr>
            <a:r>
              <a:rPr/>
              <a:t>For further information, contact:</a:t>
            </a:r>
          </a:p>
          <a:p>
            <a:pPr lvl="0" indent="0" marL="0">
              <a:buNone/>
            </a:pPr>
            <a:r>
              <a:rPr/>
              <a:t>Office of Human Resources</a:t>
            </a:r>
            <a:br/>
            <a:r>
              <a:rPr/>
              <a:t>Cendara University</a:t>
            </a:r>
            <a:br/>
            <a:r>
              <a:rPr/>
              <a:t>Email: hr@cendara.edu</a:t>
            </a:r>
            <a:br/>
            <a:r>
              <a:rPr/>
              <a:t>Phone: (0458) 327-9811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2025-07-29T15:05:26Z</dcterms:created>
  <dcterms:modified xsi:type="dcterms:W3CDTF">2025-07-29T15:05:26Z</dcterms:modified>
</cp:coreProperties>
</file>

<file path=docProps/custom.xml><?xml version="1.0" encoding="utf-8"?>
<Properties xmlns="http://schemas.openxmlformats.org/officeDocument/2006/custom-properties" xmlns:vt="http://schemas.openxmlformats.org/officeDocument/2006/docPropsVTypes"/>
</file>