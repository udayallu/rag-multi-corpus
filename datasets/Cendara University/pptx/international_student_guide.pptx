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7" Type="http://schemas.openxmlformats.org/officeDocument/2006/relationships/viewProps" Target="viewProps.xml" /><Relationship Id="rId16" Type="http://schemas.openxmlformats.org/officeDocument/2006/relationships/presProps" Target="presProps.xml" /><Relationship Id="rId1" Type="http://schemas.openxmlformats.org/officeDocument/2006/relationships/slideMaster" Target="slideMasters/slideMaster1.xml" /><Relationship Id="rId19" Type="http://schemas.openxmlformats.org/officeDocument/2006/relationships/tableStyles" Target="tableStyles.xml" /><Relationship Id="rId18"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Cendara University International Student Guide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Welcome Letter from the Office of Global Engagement</a:t>
            </a:r>
          </a:p>
          <a:p>
            <a:pPr lvl="0" indent="0" marL="0">
              <a:buNone/>
            </a:pPr>
            <a:r>
              <a:rPr/>
              <a:t>Dear International Students,</a:t>
            </a:r>
          </a:p>
          <a:p>
            <a:pPr lvl="0" indent="0" marL="0">
              <a:buNone/>
            </a:pPr>
            <a:r>
              <a:rPr/>
              <a:t>Welcome to Cendara University! Whether you are joining us from across the globe or continuing your studies far from home, we are thrilled to have you as a valued member of our vibrant and diverse campus community. Navigating a new country and academic environment can be both exciting and challenging, but please know you are not alone—our entire community is eager to support your journey and help you thrive.</a:t>
            </a:r>
          </a:p>
          <a:p>
            <a:pPr lvl="0" indent="0" marL="0">
              <a:buNone/>
            </a:pPr>
            <a:r>
              <a:rPr/>
              <a:t>This guide provides essential information to help you transition smoothly to life at Cendara University and in the city of Albaire. Inside, you’ll find details about orientation, support services, immigration compliance, academics, and student life, as well as the many ways you can connect with others and make the most of your experience.</a:t>
            </a:r>
          </a:p>
          <a:p>
            <a:pPr lvl="0" indent="0" marL="0">
              <a:buNone/>
            </a:pPr>
            <a:r>
              <a:rPr/>
              <a:t>We look forward to supporting your goals and learning from your unique perspectives.</a:t>
            </a:r>
          </a:p>
          <a:p>
            <a:pPr lvl="0" indent="0" marL="0">
              <a:buNone/>
            </a:pPr>
            <a:r>
              <a:rPr/>
              <a:t>Warm regards,</a:t>
            </a:r>
            <a:br/>
            <a:r>
              <a:rPr/>
              <a:t>Evelyn Zhao, Director</a:t>
            </a:r>
            <a:br/>
            <a:r>
              <a:rPr/>
              <a:t>Office of Global Engagement</a:t>
            </a:r>
            <a:br/>
            <a:r>
              <a:rPr/>
              <a:t>global@cendara.edu</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Contents</a:t>
            </a:r>
          </a:p>
          <a:p>
            <a:pPr lvl="0" indent="-342900" marL="342900">
              <a:buAutoNum type="arabicPeriod"/>
            </a:pPr>
            <a:r>
              <a:rPr/>
              <a:t>Arrival and Orientation</a:t>
            </a:r>
            <a:br/>
          </a:p>
          <a:p>
            <a:pPr lvl="0" indent="-342900" marL="342900">
              <a:buAutoNum type="arabicPeriod"/>
            </a:pPr>
            <a:r>
              <a:rPr/>
              <a:t>Immigration and Legal Matters</a:t>
            </a:r>
            <a:br/>
          </a:p>
          <a:p>
            <a:pPr lvl="0" indent="-342900" marL="342900">
              <a:buAutoNum type="arabicPeriod"/>
            </a:pPr>
            <a:r>
              <a:rPr/>
              <a:t>Academic Expectations and Support</a:t>
            </a:r>
            <a:br/>
          </a:p>
          <a:p>
            <a:pPr lvl="0" indent="-342900" marL="342900">
              <a:buAutoNum type="arabicPeriod"/>
            </a:pPr>
            <a:r>
              <a:rPr/>
              <a:t>Campus Life and Community</a:t>
            </a:r>
            <a:br/>
          </a:p>
          <a:p>
            <a:pPr lvl="0" indent="-342900" marL="342900">
              <a:buAutoNum type="arabicPeriod"/>
            </a:pPr>
            <a:r>
              <a:rPr/>
              <a:t>Health, Wellness, and Safety</a:t>
            </a:r>
            <a:br/>
          </a:p>
          <a:p>
            <a:pPr lvl="0" indent="-342900" marL="342900">
              <a:buAutoNum type="arabicPeriod"/>
            </a:pPr>
            <a:r>
              <a:rPr/>
              <a:t>Working in the U.S.</a:t>
            </a:r>
            <a:br/>
          </a:p>
          <a:p>
            <a:pPr lvl="0" indent="-342900" marL="342900">
              <a:buAutoNum type="arabicPeriod"/>
            </a:pPr>
            <a:r>
              <a:rPr/>
              <a:t>Living in Albaire: Local Resources</a:t>
            </a:r>
            <a:br/>
          </a:p>
          <a:p>
            <a:pPr lvl="0" indent="-342900" marL="342900">
              <a:buAutoNum type="arabicPeriod"/>
            </a:pPr>
            <a:r>
              <a:rPr/>
              <a:t>Key Contacts and Offices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 Arrival and Orientation</a:t>
            </a:r>
          </a:p>
          <a:p>
            <a:pPr lvl="0" indent="0" marL="0">
              <a:spcBef>
                <a:spcPts val="3000"/>
              </a:spcBef>
              <a:buNone/>
            </a:pPr>
            <a:r>
              <a:rPr b="1"/>
              <a:t>Pre-Arrival Checklist</a:t>
            </a:r>
          </a:p>
          <a:p>
            <a:pPr lvl="0"/>
            <a:r>
              <a:rPr/>
              <a:t>Confirm your student visa (F-1/J-1) is approved and valid.</a:t>
            </a:r>
          </a:p>
          <a:p>
            <a:pPr lvl="0"/>
            <a:r>
              <a:rPr/>
              <a:t>Purchase airline tickets, aiming to arrive 7–10 days before classes start.</a:t>
            </a:r>
          </a:p>
          <a:p>
            <a:pPr lvl="0"/>
            <a:r>
              <a:rPr/>
              <a:t>Arrange temporary or permanent housing in advance.</a:t>
            </a:r>
          </a:p>
          <a:p>
            <a:pPr lvl="0"/>
            <a:r>
              <a:rPr/>
              <a:t>Submit required immunization records to Health Services.</a:t>
            </a:r>
          </a:p>
          <a:p>
            <a:pPr lvl="0"/>
            <a:r>
              <a:rPr/>
              <a:t>Register for International Student Orientation via global.cendara.edu/orientation.</a:t>
            </a:r>
          </a:p>
          <a:p>
            <a:pPr lvl="0" indent="0" marL="0">
              <a:spcBef>
                <a:spcPts val="3000"/>
              </a:spcBef>
              <a:buNone/>
            </a:pPr>
            <a:r>
              <a:rPr b="1"/>
              <a:t>Transportation to Campus</a:t>
            </a:r>
          </a:p>
          <a:p>
            <a:pPr lvl="0" indent="0" marL="0">
              <a:buNone/>
            </a:pPr>
            <a:r>
              <a:rPr/>
              <a:t>Cendara University is located in central Albaire, approximately 35 minutes from Sable International Airport (SBL).</a:t>
            </a:r>
            <a:br/>
            <a:r>
              <a:rPr/>
              <a:t>Transportation options include:</a:t>
            </a:r>
          </a:p>
          <a:p>
            <a:pPr lvl="0"/>
            <a:r>
              <a:rPr b="1"/>
              <a:t>Airport Welcome Shuttle:</a:t>
            </a:r>
            <a:r>
              <a:rPr/>
              <a:t> Complimentary pick-up service during orientation week (reservation required).</a:t>
            </a:r>
          </a:p>
          <a:p>
            <a:pPr lvl="0"/>
            <a:r>
              <a:rPr b="1"/>
              <a:t>City Taxi Service:</a:t>
            </a:r>
            <a:r>
              <a:rPr/>
              <a:t> Flat rate of $40 to campus hotels and residence halls.</a:t>
            </a:r>
          </a:p>
          <a:p>
            <a:pPr lvl="0"/>
            <a:r>
              <a:rPr b="1"/>
              <a:t>Riverton Bus Line:</a:t>
            </a:r>
            <a:r>
              <a:rPr/>
              <a:t> Bus #12 connects the airport to downtown; fare: $3.50 (cash/credit).</a:t>
            </a:r>
          </a:p>
          <a:p>
            <a:pPr lvl="0" indent="0" marL="0">
              <a:spcBef>
                <a:spcPts val="3000"/>
              </a:spcBef>
              <a:buNone/>
            </a:pPr>
            <a:r>
              <a:rPr b="1"/>
              <a:t>International Student Orientation</a:t>
            </a:r>
          </a:p>
          <a:p>
            <a:pPr lvl="0" indent="0" marL="0">
              <a:buNone/>
            </a:pPr>
            <a:r>
              <a:rPr b="1"/>
              <a:t>Fall 2024 Orientation:</a:t>
            </a:r>
            <a:r>
              <a:rPr/>
              <a:t> August 14–18, 2024</a:t>
            </a:r>
            <a:br/>
            <a:r>
              <a:rPr/>
              <a:t>All new international students must attend the five-day orientation, which covers:</a:t>
            </a:r>
          </a:p>
          <a:p>
            <a:pPr lvl="0"/>
            <a:r>
              <a:rPr/>
              <a:t>Immigration regulations &amp; visa maintenance</a:t>
            </a:r>
          </a:p>
          <a:p>
            <a:pPr lvl="0"/>
            <a:r>
              <a:rPr/>
              <a:t>Campus resources and facilities tour</a:t>
            </a:r>
          </a:p>
          <a:p>
            <a:pPr lvl="0"/>
            <a:r>
              <a:rPr/>
              <a:t>Academic integrity and classroom expectations</a:t>
            </a:r>
          </a:p>
          <a:p>
            <a:pPr lvl="0"/>
            <a:r>
              <a:rPr/>
              <a:t>Health insurance enrollment</a:t>
            </a:r>
          </a:p>
          <a:p>
            <a:pPr lvl="0"/>
            <a:r>
              <a:rPr/>
              <a:t>Banking &amp; mobile phone setup</a:t>
            </a:r>
          </a:p>
          <a:p>
            <a:pPr lvl="0"/>
            <a:r>
              <a:rPr/>
              <a:t>City walking tour and cultural adjustment workshops</a:t>
            </a:r>
          </a:p>
          <a:p>
            <a:pPr lvl="0" indent="0" marL="0">
              <a:buNone/>
            </a:pPr>
            <a:r>
              <a:rPr/>
              <a:t>Peer Mentors will be on hand to answer your questions and help you meet fellow new students.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 Immigration and Legal Matters</a:t>
            </a:r>
          </a:p>
          <a:p>
            <a:pPr lvl="0" indent="0" marL="0">
              <a:spcBef>
                <a:spcPts val="3000"/>
              </a:spcBef>
              <a:buNone/>
            </a:pPr>
            <a:r>
              <a:rPr b="1"/>
              <a:t>Visa Status Requirements</a:t>
            </a:r>
          </a:p>
          <a:p>
            <a:pPr lvl="0"/>
            <a:r>
              <a:rPr/>
              <a:t>Maintain a valid passport (at least 6 months into the future).</a:t>
            </a:r>
          </a:p>
          <a:p>
            <a:pPr lvl="0"/>
            <a:r>
              <a:rPr/>
              <a:t>Full-time enrollment:</a:t>
            </a:r>
          </a:p>
          <a:p>
            <a:pPr lvl="1"/>
            <a:r>
              <a:rPr/>
              <a:t>Undergraduates: 12 credit hours/semester</a:t>
            </a:r>
            <a:br/>
          </a:p>
          <a:p>
            <a:pPr lvl="1"/>
            <a:r>
              <a:rPr/>
              <a:t>Graduates: 9 credit hours/semester</a:t>
            </a:r>
          </a:p>
          <a:p>
            <a:pPr lvl="0"/>
            <a:r>
              <a:rPr/>
              <a:t>Report any address changes to the Office of Global Engagement within 10 days.</a:t>
            </a:r>
          </a:p>
          <a:p>
            <a:pPr lvl="0"/>
            <a:r>
              <a:rPr/>
              <a:t>Do not accept employment off-campus without prior authorization.</a:t>
            </a:r>
          </a:p>
          <a:p>
            <a:pPr lvl="0" indent="0" marL="0">
              <a:spcBef>
                <a:spcPts val="3000"/>
              </a:spcBef>
              <a:buNone/>
            </a:pPr>
            <a:r>
              <a:rPr b="1"/>
              <a:t>SEVIS Registration</a:t>
            </a:r>
          </a:p>
          <a:p>
            <a:pPr lvl="0" indent="0" marL="0">
              <a:buNone/>
            </a:pPr>
            <a:r>
              <a:rPr/>
              <a:t>You must check in with the Office of Global Engagement within 3 days of arrival. Please bring:</a:t>
            </a:r>
          </a:p>
          <a:p>
            <a:pPr lvl="0"/>
            <a:r>
              <a:rPr/>
              <a:t>Passport (with valid visa)</a:t>
            </a:r>
          </a:p>
          <a:p>
            <a:pPr lvl="0"/>
            <a:r>
              <a:rPr/>
              <a:t>I-20 (F-1)/DS-2019 (J-1) document</a:t>
            </a:r>
          </a:p>
          <a:p>
            <a:pPr lvl="0"/>
            <a:r>
              <a:rPr/>
              <a:t>I-94 Arrival/Departure record</a:t>
            </a:r>
          </a:p>
          <a:p>
            <a:pPr lvl="0"/>
            <a:r>
              <a:rPr/>
              <a:t>Proof of local address</a:t>
            </a:r>
          </a:p>
          <a:p>
            <a:pPr lvl="0" indent="0" marL="0">
              <a:spcBef>
                <a:spcPts val="3000"/>
              </a:spcBef>
              <a:buNone/>
            </a:pPr>
            <a:r>
              <a:rPr b="1"/>
              <a:t>Travel/Leave of Absence</a:t>
            </a:r>
          </a:p>
          <a:p>
            <a:pPr lvl="0" indent="0" marL="0">
              <a:buNone/>
            </a:pPr>
            <a:r>
              <a:rPr/>
              <a:t>Contact your international advisor before leaving the U.S. for more than 30 days or if you plan to take a semester off.</a:t>
            </a:r>
            <a:br/>
            <a:r>
              <a:rPr/>
              <a:t>Re-entering the U.S.? Your I-20/DS-2019 must be signed by a DSO within the last 12 months.</a:t>
            </a:r>
          </a:p>
          <a:p>
            <a:pPr lvl="0" indent="0" marL="0">
              <a:spcBef>
                <a:spcPts val="3000"/>
              </a:spcBef>
              <a:buNone/>
            </a:pPr>
            <a:r>
              <a:rPr b="1"/>
              <a:t>Common Immigration Violations</a:t>
            </a:r>
          </a:p>
          <a:p>
            <a:pPr lvl="0"/>
            <a:r>
              <a:rPr/>
              <a:t>Failing to enroll full-time without pre-approved authorization</a:t>
            </a:r>
          </a:p>
          <a:p>
            <a:pPr lvl="0"/>
            <a:r>
              <a:rPr/>
              <a:t>Unauthorized employment</a:t>
            </a:r>
          </a:p>
          <a:p>
            <a:pPr lvl="0"/>
            <a:r>
              <a:rPr/>
              <a:t>Expired I-20 or DS-2019</a:t>
            </a:r>
          </a:p>
          <a:p>
            <a:pPr lvl="0"/>
            <a:r>
              <a:rPr/>
              <a:t>Not updating address promptly</a:t>
            </a:r>
          </a:p>
          <a:p>
            <a:pPr lvl="0" indent="0" marL="0">
              <a:buNone/>
            </a:pPr>
            <a:r>
              <a:rPr/>
              <a:t>Questions? Meet with a Designated School Official (email: isss@cendara.edu).</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3. Academic Expectations and Support</a:t>
            </a:r>
          </a:p>
          <a:p>
            <a:pPr lvl="0" indent="0" marL="0">
              <a:spcBef>
                <a:spcPts val="3000"/>
              </a:spcBef>
              <a:buNone/>
            </a:pPr>
            <a:r>
              <a:rPr b="1"/>
              <a:t>The American Classroom</a:t>
            </a:r>
          </a:p>
          <a:p>
            <a:pPr lvl="0"/>
            <a:r>
              <a:rPr/>
              <a:t>Active participation is strongly encouraged. Be prepared to ask and answer questions, and contribute to discussions.</a:t>
            </a:r>
          </a:p>
          <a:p>
            <a:pPr lvl="0"/>
            <a:r>
              <a:rPr/>
              <a:t>Academic honesty is essential. Plagiarism, cheating, and unauthorized collaboration can result in disciplinary action.</a:t>
            </a:r>
          </a:p>
          <a:p>
            <a:pPr lvl="0"/>
            <a:r>
              <a:rPr/>
              <a:t>Professors hold weekly office hours for additional help—attending is recommended.</a:t>
            </a:r>
          </a:p>
          <a:p>
            <a:pPr lvl="0" indent="0" marL="0">
              <a:spcBef>
                <a:spcPts val="3000"/>
              </a:spcBef>
              <a:buNone/>
            </a:pPr>
            <a:r>
              <a:rPr b="1"/>
              <a:t>Grading System</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Grade</a:t>
                      </a:r>
                    </a:p>
                  </a:txBody>
                  <a:tcPr/>
                </a:tc>
                <a:tc>
                  <a:txBody>
                    <a:bodyPr/>
                    <a:lstStyle/>
                    <a:p>
                      <a:pPr lvl="0" indent="0" marL="0">
                        <a:buNone/>
                      </a:pPr>
                      <a:r>
                        <a:rPr/>
                        <a:t>Description</a:t>
                      </a:r>
                    </a:p>
                  </a:txBody>
                  <a:tcPr/>
                </a:tc>
                <a:tc>
                  <a:txBody>
                    <a:bodyPr/>
                    <a:lstStyle/>
                    <a:p>
                      <a:pPr lvl="0" indent="0" marL="0">
                        <a:buNone/>
                      </a:pPr>
                      <a:r>
                        <a:rPr/>
                        <a:t>Grade Points</a:t>
                      </a:r>
                    </a:p>
                  </a:txBody>
                  <a:tcPr/>
                </a:tc>
              </a:tr>
              <a:tr h="0">
                <a:tc>
                  <a:txBody>
                    <a:bodyPr/>
                    <a:lstStyle/>
                    <a:p>
                      <a:pPr lvl="0" indent="0" marL="0">
                        <a:buNone/>
                      </a:pPr>
                      <a:r>
                        <a:rPr/>
                        <a:t>A</a:t>
                      </a:r>
                    </a:p>
                  </a:txBody>
                </a:tc>
                <a:tc>
                  <a:txBody>
                    <a:bodyPr/>
                    <a:lstStyle/>
                    <a:p>
                      <a:pPr lvl="0" indent="0" marL="0">
                        <a:buNone/>
                      </a:pPr>
                      <a:r>
                        <a:rPr/>
                        <a:t>Excellent</a:t>
                      </a:r>
                    </a:p>
                  </a:txBody>
                </a:tc>
                <a:tc>
                  <a:txBody>
                    <a:bodyPr/>
                    <a:lstStyle/>
                    <a:p>
                      <a:pPr lvl="0" indent="0" marL="0">
                        <a:buNone/>
                      </a:pPr>
                      <a:r>
                        <a:rPr/>
                        <a:t>4.0</a:t>
                      </a:r>
                    </a:p>
                  </a:txBody>
                </a:tc>
              </a:tr>
              <a:tr h="0">
                <a:tc>
                  <a:txBody>
                    <a:bodyPr/>
                    <a:lstStyle/>
                    <a:p>
                      <a:pPr lvl="0" indent="0" marL="0">
                        <a:buNone/>
                      </a:pPr>
                      <a:r>
                        <a:rPr/>
                        <a:t>B</a:t>
                      </a:r>
                    </a:p>
                  </a:txBody>
                </a:tc>
                <a:tc>
                  <a:txBody>
                    <a:bodyPr/>
                    <a:lstStyle/>
                    <a:p>
                      <a:pPr lvl="0" indent="0" marL="0">
                        <a:buNone/>
                      </a:pPr>
                      <a:r>
                        <a:rPr/>
                        <a:t>Good</a:t>
                      </a:r>
                    </a:p>
                  </a:txBody>
                </a:tc>
                <a:tc>
                  <a:txBody>
                    <a:bodyPr/>
                    <a:lstStyle/>
                    <a:p>
                      <a:pPr lvl="0" indent="0" marL="0">
                        <a:buNone/>
                      </a:pPr>
                      <a:r>
                        <a:rPr/>
                        <a:t>3.0</a:t>
                      </a:r>
                    </a:p>
                  </a:txBody>
                </a:tc>
              </a:tr>
              <a:tr h="0">
                <a:tc>
                  <a:txBody>
                    <a:bodyPr/>
                    <a:lstStyle/>
                    <a:p>
                      <a:pPr lvl="0" indent="0" marL="0">
                        <a:buNone/>
                      </a:pPr>
                      <a:r>
                        <a:rPr/>
                        <a:t>C</a:t>
                      </a:r>
                    </a:p>
                  </a:txBody>
                </a:tc>
                <a:tc>
                  <a:txBody>
                    <a:bodyPr/>
                    <a:lstStyle/>
                    <a:p>
                      <a:pPr lvl="0" indent="0" marL="0">
                        <a:buNone/>
                      </a:pPr>
                      <a:r>
                        <a:rPr/>
                        <a:t>Satisfactory</a:t>
                      </a:r>
                    </a:p>
                  </a:txBody>
                </a:tc>
                <a:tc>
                  <a:txBody>
                    <a:bodyPr/>
                    <a:lstStyle/>
                    <a:p>
                      <a:pPr lvl="0" indent="0" marL="0">
                        <a:buNone/>
                      </a:pPr>
                      <a:r>
                        <a:rPr/>
                        <a:t>2.0</a:t>
                      </a:r>
                    </a:p>
                  </a:txBody>
                </a:tc>
              </a:tr>
              <a:tr h="0">
                <a:tc>
                  <a:txBody>
                    <a:bodyPr/>
                    <a:lstStyle/>
                    <a:p>
                      <a:pPr lvl="0" indent="0" marL="0">
                        <a:buNone/>
                      </a:pPr>
                      <a:r>
                        <a:rPr/>
                        <a:t>D</a:t>
                      </a:r>
                    </a:p>
                  </a:txBody>
                </a:tc>
                <a:tc>
                  <a:txBody>
                    <a:bodyPr/>
                    <a:lstStyle/>
                    <a:p>
                      <a:pPr lvl="0" indent="0" marL="0">
                        <a:buNone/>
                      </a:pPr>
                      <a:r>
                        <a:rPr/>
                        <a:t>Passing</a:t>
                      </a:r>
                    </a:p>
                  </a:txBody>
                </a:tc>
                <a:tc>
                  <a:txBody>
                    <a:bodyPr/>
                    <a:lstStyle/>
                    <a:p>
                      <a:pPr lvl="0" indent="0" marL="0">
                        <a:buNone/>
                      </a:pPr>
                      <a:r>
                        <a:rPr/>
                        <a:t>1.0</a:t>
                      </a:r>
                    </a:p>
                  </a:txBody>
                </a:tc>
              </a:tr>
              <a:tr h="0">
                <a:tc>
                  <a:txBody>
                    <a:bodyPr/>
                    <a:lstStyle/>
                    <a:p>
                      <a:pPr lvl="0" indent="0" marL="0">
                        <a:buNone/>
                      </a:pPr>
                      <a:r>
                        <a:rPr/>
                        <a:t>F</a:t>
                      </a:r>
                    </a:p>
                  </a:txBody>
                </a:tc>
                <a:tc>
                  <a:txBody>
                    <a:bodyPr/>
                    <a:lstStyle/>
                    <a:p>
                      <a:pPr lvl="0" indent="0" marL="0">
                        <a:buNone/>
                      </a:pPr>
                      <a:r>
                        <a:rPr/>
                        <a:t>Failing</a:t>
                      </a:r>
                    </a:p>
                  </a:txBody>
                </a:tc>
                <a:tc>
                  <a:txBody>
                    <a:bodyPr/>
                    <a:lstStyle/>
                    <a:p>
                      <a:pPr lvl="0" indent="0" marL="0">
                        <a:buNone/>
                      </a:pPr>
                      <a:r>
                        <a:rPr/>
                        <a:t>0.0</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Courses may also use plus (+) and minus (–) distinctions.</a:t>
            </a:r>
          </a:p>
          <a:p>
            <a:pPr lvl="0" indent="0" marL="0">
              <a:spcBef>
                <a:spcPts val="3000"/>
              </a:spcBef>
              <a:buNone/>
            </a:pPr>
            <a:r>
              <a:rPr b="1"/>
              <a:t>Academic Support Services</a:t>
            </a:r>
          </a:p>
          <a:p>
            <a:pPr lvl="0"/>
            <a:r>
              <a:rPr b="1"/>
              <a:t>International Tutoring Center:</a:t>
            </a:r>
            <a:r>
              <a:rPr/>
              <a:t> Offers English language and subject tutoring—weekly group sessions and private appointments.</a:t>
            </a:r>
          </a:p>
          <a:p>
            <a:pPr lvl="0"/>
            <a:r>
              <a:rPr b="1"/>
              <a:t>Writing Studio:</a:t>
            </a:r>
            <a:r>
              <a:rPr/>
              <a:t> Specialists help develop writing and presentation skills, including citation practices.</a:t>
            </a:r>
          </a:p>
          <a:p>
            <a:pPr lvl="0"/>
            <a:r>
              <a:rPr b="1"/>
              <a:t>Academic Advising:</a:t>
            </a:r>
            <a:r>
              <a:rPr/>
              <a:t> Dedicated advisors assist with course selection, degree planning, and adjustment to new academic norms.</a:t>
            </a:r>
          </a:p>
          <a:p>
            <a:pPr lvl="0" indent="0" marL="0">
              <a:spcBef>
                <a:spcPts val="3000"/>
              </a:spcBef>
              <a:buNone/>
            </a:pPr>
            <a:r>
              <a:rPr b="1"/>
              <a:t>Important Dates (Fall 2024)</a:t>
            </a:r>
          </a:p>
          <a:p>
            <a:pPr lvl="0"/>
            <a:r>
              <a:rPr/>
              <a:t>Classes Begin: August 21</a:t>
            </a:r>
          </a:p>
          <a:p>
            <a:pPr lvl="0"/>
            <a:r>
              <a:rPr/>
              <a:t>Last Day to Add/Drop: August 30</a:t>
            </a:r>
          </a:p>
          <a:p>
            <a:pPr lvl="0"/>
            <a:r>
              <a:rPr/>
              <a:t>Midterm Exams: October 14–18</a:t>
            </a:r>
          </a:p>
          <a:p>
            <a:pPr lvl="0"/>
            <a:r>
              <a:rPr/>
              <a:t>Thanksgiving Break: November 27–December 1</a:t>
            </a:r>
          </a:p>
          <a:p>
            <a:pPr lvl="0"/>
            <a:r>
              <a:rPr/>
              <a:t>Final Exams: December 10–17</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4. Campus Life and Community</a:t>
            </a:r>
          </a:p>
          <a:p>
            <a:pPr lvl="0" indent="0" marL="0">
              <a:spcBef>
                <a:spcPts val="3000"/>
              </a:spcBef>
              <a:buNone/>
            </a:pPr>
            <a:r>
              <a:rPr b="1"/>
              <a:t>Living On Campus</a:t>
            </a:r>
          </a:p>
          <a:p>
            <a:pPr lvl="0"/>
            <a:r>
              <a:rPr b="1"/>
              <a:t>Residence Halls:</a:t>
            </a:r>
            <a:r>
              <a:rPr/>
              <a:t> On-campus housing for undergraduates; meal plans available.</a:t>
            </a:r>
          </a:p>
          <a:p>
            <a:pPr lvl="1"/>
            <a:r>
              <a:rPr/>
              <a:t>Typical Room: Double occupancy, shared bathroom, Wi-Fi, communal kitchens.</a:t>
            </a:r>
          </a:p>
          <a:p>
            <a:pPr lvl="1"/>
            <a:r>
              <a:rPr/>
              <a:t>International Living Community (ILC): Cultural programming and peer support.</a:t>
            </a:r>
          </a:p>
          <a:p>
            <a:pPr lvl="0"/>
            <a:r>
              <a:rPr b="1"/>
              <a:t>Graduate Housing:</a:t>
            </a:r>
            <a:r>
              <a:rPr/>
              <a:t> Limited apartments available; apply early.</a:t>
            </a:r>
          </a:p>
          <a:p>
            <a:pPr lvl="0" indent="0" marL="0">
              <a:spcBef>
                <a:spcPts val="3000"/>
              </a:spcBef>
              <a:buNone/>
            </a:pPr>
            <a:r>
              <a:rPr b="1"/>
              <a:t>Dining</a:t>
            </a:r>
          </a:p>
          <a:p>
            <a:pPr lvl="0"/>
            <a:r>
              <a:rPr b="1"/>
              <a:t>Dining Commons:</a:t>
            </a:r>
            <a:r>
              <a:rPr/>
              <a:t> Diverse menu with global cuisine options (vegetarian, halal, gluten-free available).</a:t>
            </a:r>
          </a:p>
          <a:p>
            <a:pPr lvl="0"/>
            <a:r>
              <a:rPr b="1"/>
              <a:t>Campus Cafés:</a:t>
            </a:r>
            <a:r>
              <a:rPr/>
              <a:t> Java Junction and The Garden Table offer coffee, snacks, and study space.</a:t>
            </a:r>
          </a:p>
          <a:p>
            <a:pPr lvl="0" indent="0" marL="0">
              <a:spcBef>
                <a:spcPts val="3000"/>
              </a:spcBef>
              <a:buNone/>
            </a:pPr>
            <a:r>
              <a:rPr b="1"/>
              <a:t>Student Organizations</a:t>
            </a:r>
          </a:p>
          <a:p>
            <a:pPr lvl="0"/>
            <a:r>
              <a:rPr b="1"/>
              <a:t>International Students Association (ISA):</a:t>
            </a:r>
            <a:r>
              <a:rPr/>
              <a:t> Social events, cultural festivals, and mentorship programs.</a:t>
            </a:r>
          </a:p>
          <a:p>
            <a:pPr lvl="0"/>
            <a:r>
              <a:rPr b="1"/>
              <a:t>Multicultural Resource Center:</a:t>
            </a:r>
            <a:r>
              <a:rPr/>
              <a:t> Affinity groups, language exchange, and interfaith dialogues.</a:t>
            </a:r>
          </a:p>
          <a:p>
            <a:pPr lvl="0"/>
            <a:r>
              <a:rPr b="1"/>
              <a:t>Student Government Association:</a:t>
            </a:r>
            <a:r>
              <a:rPr/>
              <a:t> Advocacy and leadership opportunities.</a:t>
            </a:r>
          </a:p>
          <a:p>
            <a:pPr lvl="0" indent="0" marL="0">
              <a:spcBef>
                <a:spcPts val="3000"/>
              </a:spcBef>
              <a:buNone/>
            </a:pPr>
            <a:r>
              <a:rPr b="1"/>
              <a:t>Cultural Programs</a:t>
            </a:r>
          </a:p>
          <a:p>
            <a:pPr lvl="0"/>
            <a:r>
              <a:rPr/>
              <a:t>International Night (October): Music, dance, and food from around the world.</a:t>
            </a:r>
          </a:p>
          <a:p>
            <a:pPr lvl="0"/>
            <a:r>
              <a:rPr/>
              <a:t>Lunar New Year Festival (February), Diwali Celebration (November), Eid Gathering (April).</a:t>
            </a:r>
          </a:p>
          <a:p>
            <a:pPr lvl="0"/>
            <a:r>
              <a:rPr/>
              <a:t>Cendara Unity Dialogues: Dialogue series on belonging, identity, and intercultural understanding.</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5. Health, Wellness, and Safety</a:t>
            </a:r>
          </a:p>
          <a:p>
            <a:pPr lvl="0" indent="0" marL="0">
              <a:spcBef>
                <a:spcPts val="3000"/>
              </a:spcBef>
              <a:buNone/>
            </a:pPr>
            <a:r>
              <a:rPr b="1"/>
              <a:t>Health Insurance</a:t>
            </a:r>
          </a:p>
          <a:p>
            <a:pPr lvl="0" indent="0" marL="0">
              <a:buNone/>
            </a:pPr>
            <a:r>
              <a:rPr/>
              <a:t>All international students are required to enroll in the Cendara University Student Health Insurance Plan (SHIP):</a:t>
            </a:r>
          </a:p>
          <a:p>
            <a:pPr lvl="0"/>
            <a:r>
              <a:rPr/>
              <a:t>Coverage: On-campus Health Center services, local hospitals, mental health counseling, prescriptions, emergency care.</a:t>
            </a:r>
          </a:p>
          <a:p>
            <a:pPr lvl="0"/>
            <a:r>
              <a:rPr/>
              <a:t>Annual Cost (2024–2025): $1,350</a:t>
            </a:r>
          </a:p>
          <a:p>
            <a:pPr lvl="0"/>
            <a:r>
              <a:rPr/>
              <a:t>Waivers: Available if you have comparable insurance.</a:t>
            </a:r>
          </a:p>
          <a:p>
            <a:pPr lvl="0" indent="0" marL="0">
              <a:spcBef>
                <a:spcPts val="3000"/>
              </a:spcBef>
              <a:buNone/>
            </a:pPr>
            <a:r>
              <a:rPr b="1"/>
              <a:t>Health Services</a:t>
            </a:r>
          </a:p>
          <a:p>
            <a:pPr lvl="0"/>
            <a:r>
              <a:rPr b="1"/>
              <a:t>Campus Health Center:</a:t>
            </a:r>
            <a:r>
              <a:rPr/>
              <a:t> Primary care, vaccinations, urgent care, and referral services. Open Monday–Friday, 8:00 a.m.–5:30 p.m.</a:t>
            </a:r>
          </a:p>
          <a:p>
            <a:pPr lvl="0"/>
            <a:r>
              <a:rPr b="1"/>
              <a:t>Counseling Services:</a:t>
            </a:r>
            <a:r>
              <a:rPr/>
              <a:t> Free, confidential counseling with multicultural staff, plus support groups for international students.</a:t>
            </a:r>
          </a:p>
          <a:p>
            <a:pPr lvl="0"/>
            <a:r>
              <a:rPr b="1"/>
              <a:t>Accessibility Services:</a:t>
            </a:r>
            <a:r>
              <a:rPr/>
              <a:t> Academic accommodations and assistive technology support.</a:t>
            </a:r>
          </a:p>
          <a:p>
            <a:pPr lvl="0" indent="0" marL="0">
              <a:spcBef>
                <a:spcPts val="3000"/>
              </a:spcBef>
              <a:buNone/>
            </a:pPr>
            <a:r>
              <a:rPr b="1"/>
              <a:t>Campus Safety</a:t>
            </a:r>
          </a:p>
          <a:p>
            <a:pPr lvl="0"/>
            <a:r>
              <a:rPr/>
              <a:t>24/7 Campus Security patrols and emergency call boxes throughout campus.</a:t>
            </a:r>
          </a:p>
          <a:p>
            <a:pPr lvl="0"/>
            <a:r>
              <a:rPr/>
              <a:t>Night Owl free campus shuttle (operates 7:00 p.m.–2:00 a.m.).</a:t>
            </a:r>
          </a:p>
          <a:p>
            <a:pPr lvl="0"/>
            <a:r>
              <a:rPr/>
              <a:t>Safety App: Cendara Guardian (real-time alerts and check-in).</a:t>
            </a:r>
          </a:p>
          <a:p>
            <a:pPr lvl="0" indent="0" marL="0">
              <a:buNone/>
            </a:pPr>
            <a:r>
              <a:rPr/>
              <a:t>For emergencies, dial 911 from any phone.</a:t>
            </a:r>
            <a:br/>
            <a:r>
              <a:rPr/>
              <a:t>Non-emergency Campus Security: (747) 229-6500</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6. Working in the U.S.</a:t>
            </a:r>
          </a:p>
          <a:p>
            <a:pPr lvl="0" indent="0" marL="0">
              <a:spcBef>
                <a:spcPts val="3000"/>
              </a:spcBef>
              <a:buNone/>
            </a:pPr>
            <a:r>
              <a:rPr b="1"/>
              <a:t>On-Campus Employment</a:t>
            </a:r>
          </a:p>
          <a:p>
            <a:pPr lvl="0"/>
            <a:r>
              <a:rPr/>
              <a:t>Up to 20 hours per week during semesters; full-time during breaks.</a:t>
            </a:r>
          </a:p>
          <a:p>
            <a:pPr lvl="0"/>
            <a:r>
              <a:rPr/>
              <a:t>Opportunities include library assistant, research aide, dining services, and campus events.</a:t>
            </a:r>
          </a:p>
          <a:p>
            <a:pPr lvl="0" indent="0" marL="0">
              <a:spcBef>
                <a:spcPts val="3000"/>
              </a:spcBef>
              <a:buNone/>
            </a:pPr>
            <a:r>
              <a:rPr b="1"/>
              <a:t>Off-Campus Employment</a:t>
            </a:r>
          </a:p>
          <a:p>
            <a:pPr lvl="0"/>
            <a:r>
              <a:rPr b="1"/>
              <a:t>Curricular Practical Training (CPT):</a:t>
            </a:r>
            <a:r>
              <a:rPr/>
              <a:t> For internships directly related to your major, after 1 academic year.</a:t>
            </a:r>
          </a:p>
          <a:p>
            <a:pPr lvl="0"/>
            <a:r>
              <a:rPr b="1"/>
              <a:t>Optional Practical Training (OPT):</a:t>
            </a:r>
            <a:r>
              <a:rPr/>
              <a:t> Up to 12 months of work authorization upon program completion (F-1 students).</a:t>
            </a:r>
          </a:p>
          <a:p>
            <a:pPr lvl="0"/>
            <a:r>
              <a:rPr b="1"/>
              <a:t>Social Security Number (SSN):</a:t>
            </a:r>
            <a:r>
              <a:rPr/>
              <a:t> Required for employment; apply after securing a job offer.</a:t>
            </a:r>
          </a:p>
          <a:p>
            <a:pPr lvl="0" indent="0" marL="0">
              <a:spcBef>
                <a:spcPts val="3000"/>
              </a:spcBef>
              <a:buNone/>
            </a:pPr>
            <a:r>
              <a:rPr b="1"/>
              <a:t>Taxes</a:t>
            </a:r>
          </a:p>
          <a:p>
            <a:pPr lvl="0"/>
            <a:r>
              <a:rPr/>
              <a:t>All international students, even those without income, must file Form 8843 annually.</a:t>
            </a:r>
          </a:p>
          <a:p>
            <a:pPr lvl="0"/>
            <a:r>
              <a:rPr/>
              <a:t>Guidance webinars available each spring (see global.cendara.edu/taxinfo).</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7. Living in Albaire: Local Resources</a:t>
            </a:r>
          </a:p>
          <a:p>
            <a:pPr lvl="0" indent="0" marL="0">
              <a:spcBef>
                <a:spcPts val="3000"/>
              </a:spcBef>
              <a:buNone/>
            </a:pPr>
            <a:r>
              <a:rPr b="1"/>
              <a:t>Housing</a:t>
            </a:r>
          </a:p>
          <a:p>
            <a:pPr lvl="0"/>
            <a:r>
              <a:rPr/>
              <a:t>On-campus and off-campus options—check the Cendara Housing Portal and bulletin boards.</a:t>
            </a:r>
          </a:p>
          <a:p>
            <a:pPr lvl="0"/>
            <a:r>
              <a:rPr/>
              <a:t>Albaire neighborhoods popular with students: Old Port, Rosedale, and Campus Ridge.</a:t>
            </a:r>
          </a:p>
          <a:p>
            <a:pPr lvl="0"/>
            <a:r>
              <a:rPr/>
              <a:t>Average off-campus rent:</a:t>
            </a:r>
          </a:p>
          <a:p>
            <a:pPr lvl="1"/>
            <a:r>
              <a:rPr/>
              <a:t>Studio: $790/month</a:t>
            </a:r>
            <a:br/>
          </a:p>
          <a:p>
            <a:pPr lvl="1"/>
            <a:r>
              <a:rPr/>
              <a:t>2-bedroom: $1,120/month</a:t>
            </a:r>
          </a:p>
          <a:p>
            <a:pPr lvl="0" indent="0" marL="0">
              <a:spcBef>
                <a:spcPts val="3000"/>
              </a:spcBef>
              <a:buNone/>
            </a:pPr>
            <a:r>
              <a:rPr b="1"/>
              <a:t>Banking</a:t>
            </a:r>
          </a:p>
          <a:p>
            <a:pPr lvl="0"/>
            <a:r>
              <a:rPr b="1"/>
              <a:t>RiverBank (on campus branch):</a:t>
            </a:r>
            <a:r>
              <a:rPr/>
              <a:t> Free checking account for students, multi-language ATMs.</a:t>
            </a:r>
          </a:p>
          <a:p>
            <a:pPr lvl="0"/>
            <a:r>
              <a:rPr/>
              <a:t>Other options: Albaire Federal Credit Union, Northfield Bank (downtown).</a:t>
            </a:r>
          </a:p>
          <a:p>
            <a:pPr lvl="0" indent="0" marL="0">
              <a:spcBef>
                <a:spcPts val="3000"/>
              </a:spcBef>
              <a:buNone/>
            </a:pPr>
            <a:r>
              <a:rPr b="1"/>
              <a:t>Transportation</a:t>
            </a:r>
          </a:p>
          <a:p>
            <a:pPr lvl="0"/>
            <a:r>
              <a:rPr/>
              <a:t>City bus pass: $45/month (student discount)</a:t>
            </a:r>
          </a:p>
          <a:p>
            <a:pPr lvl="0"/>
            <a:r>
              <a:rPr/>
              <a:t>Bike-share: Cendara Wheels program; annual access $20</a:t>
            </a:r>
          </a:p>
          <a:p>
            <a:pPr lvl="0"/>
            <a:r>
              <a:rPr/>
              <a:t>Cendara University Shuttle: Covers campus and nearby apartments (included in student fees).</a:t>
            </a:r>
          </a:p>
          <a:p>
            <a:pPr lvl="0" indent="0" marL="0">
              <a:spcBef>
                <a:spcPts val="3000"/>
              </a:spcBef>
              <a:buNone/>
            </a:pPr>
            <a:r>
              <a:rPr b="1"/>
              <a:t>Shopping and Dining</a:t>
            </a:r>
          </a:p>
          <a:p>
            <a:pPr lvl="0"/>
            <a:r>
              <a:rPr/>
              <a:t>Albaire Market (international groceries)</a:t>
            </a:r>
          </a:p>
          <a:p>
            <a:pPr lvl="0"/>
            <a:r>
              <a:rPr/>
              <a:t>Ginkgo Plaza (clothing, electronics, bookstores)</a:t>
            </a:r>
          </a:p>
          <a:p>
            <a:pPr lvl="0"/>
            <a:r>
              <a:rPr/>
              <a:t>Restaurants: Taste of Seoul, El Mercado, Le Petit Boulanger, Mumbai Spice, and many more</a:t>
            </a:r>
          </a:p>
          <a:p>
            <a:pPr lvl="0" indent="0" marL="0">
              <a:spcBef>
                <a:spcPts val="3000"/>
              </a:spcBef>
              <a:buNone/>
            </a:pPr>
            <a:r>
              <a:rPr b="1"/>
              <a:t>Religious &amp; Cultural Centers</a:t>
            </a:r>
          </a:p>
          <a:p>
            <a:pPr lvl="0"/>
            <a:r>
              <a:rPr/>
              <a:t>Albaire Islamic Center</a:t>
            </a:r>
          </a:p>
          <a:p>
            <a:pPr lvl="0"/>
            <a:r>
              <a:rPr/>
              <a:t>Grace United Church</a:t>
            </a:r>
          </a:p>
          <a:p>
            <a:pPr lvl="0"/>
            <a:r>
              <a:rPr/>
              <a:t>Albaire Buddhist Temple</a:t>
            </a:r>
          </a:p>
          <a:p>
            <a:pPr lvl="0"/>
            <a:r>
              <a:rPr/>
              <a:t>Jewish Student Center (Hillel)</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8. Key Contacts and Offices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Office</a:t>
                      </a:r>
                    </a:p>
                  </a:txBody>
                  <a:tcPr/>
                </a:tc>
                <a:tc>
                  <a:txBody>
                    <a:bodyPr/>
                    <a:lstStyle/>
                    <a:p>
                      <a:pPr lvl="0" indent="0" marL="0">
                        <a:buNone/>
                      </a:pPr>
                      <a:r>
                        <a:rPr/>
                        <a:t>Location</a:t>
                      </a:r>
                    </a:p>
                  </a:txBody>
                  <a:tcPr/>
                </a:tc>
                <a:tc>
                  <a:txBody>
                    <a:bodyPr/>
                    <a:lstStyle/>
                    <a:p>
                      <a:pPr lvl="0" indent="0" marL="0">
                        <a:buNone/>
                      </a:pPr>
                      <a:r>
                        <a:rPr/>
                        <a:t>Email</a:t>
                      </a:r>
                    </a:p>
                  </a:txBody>
                  <a:tcPr/>
                </a:tc>
                <a:tc>
                  <a:txBody>
                    <a:bodyPr/>
                    <a:lstStyle/>
                    <a:p>
                      <a:pPr lvl="0" indent="0" marL="0">
                        <a:buNone/>
                      </a:pPr>
                      <a:r>
                        <a:rPr/>
                        <a:t>Phone</a:t>
                      </a:r>
                    </a:p>
                  </a:txBody>
                  <a:tcPr/>
                </a:tc>
              </a:tr>
              <a:tr h="0">
                <a:tc>
                  <a:txBody>
                    <a:bodyPr/>
                    <a:lstStyle/>
                    <a:p>
                      <a:pPr lvl="0" indent="0" marL="0">
                        <a:buNone/>
                      </a:pPr>
                      <a:r>
                        <a:rPr/>
                        <a:t>Office of Global Engagement</a:t>
                      </a:r>
                    </a:p>
                  </a:txBody>
                </a:tc>
                <a:tc>
                  <a:txBody>
                    <a:bodyPr/>
                    <a:lstStyle/>
                    <a:p>
                      <a:pPr lvl="0" indent="0" marL="0">
                        <a:buNone/>
                      </a:pPr>
                      <a:r>
                        <a:rPr/>
                        <a:t>Taylor Hall 101</a:t>
                      </a:r>
                    </a:p>
                  </a:txBody>
                </a:tc>
                <a:tc>
                  <a:txBody>
                    <a:bodyPr/>
                    <a:lstStyle/>
                    <a:p>
                      <a:pPr lvl="0" indent="0" marL="0">
                        <a:buNone/>
                      </a:pPr>
                      <a:r>
                        <a:rPr/>
                        <a:t>global@cendara.edu</a:t>
                      </a:r>
                    </a:p>
                  </a:txBody>
                </a:tc>
                <a:tc>
                  <a:txBody>
                    <a:bodyPr/>
                    <a:lstStyle/>
                    <a:p>
                      <a:pPr lvl="0" indent="0" marL="0">
                        <a:buNone/>
                      </a:pPr>
                      <a:r>
                        <a:rPr/>
                        <a:t>(747) 229-6401</a:t>
                      </a:r>
                    </a:p>
                  </a:txBody>
                </a:tc>
              </a:tr>
              <a:tr h="0">
                <a:tc>
                  <a:txBody>
                    <a:bodyPr/>
                    <a:lstStyle/>
                    <a:p>
                      <a:pPr lvl="0" indent="0" marL="0">
                        <a:buNone/>
                      </a:pPr>
                      <a:r>
                        <a:rPr/>
                        <a:t>International Student Services</a:t>
                      </a:r>
                    </a:p>
                  </a:txBody>
                </a:tc>
                <a:tc>
                  <a:txBody>
                    <a:bodyPr/>
                    <a:lstStyle/>
                    <a:p>
                      <a:pPr lvl="0" indent="0" marL="0">
                        <a:buNone/>
                      </a:pPr>
                      <a:r>
                        <a:rPr/>
                        <a:t>Taylor Hall 102</a:t>
                      </a:r>
                    </a:p>
                  </a:txBody>
                </a:tc>
                <a:tc>
                  <a:txBody>
                    <a:bodyPr/>
                    <a:lstStyle/>
                    <a:p>
                      <a:pPr lvl="0" indent="0" marL="0">
                        <a:buNone/>
                      </a:pPr>
                      <a:r>
                        <a:rPr/>
                        <a:t>isss@cendara.edu</a:t>
                      </a:r>
                    </a:p>
                  </a:txBody>
                </a:tc>
                <a:tc>
                  <a:txBody>
                    <a:bodyPr/>
                    <a:lstStyle/>
                    <a:p>
                      <a:pPr lvl="0" indent="0" marL="0">
                        <a:buNone/>
                      </a:pPr>
                      <a:r>
                        <a:rPr/>
                        <a:t>(747) 229-6507</a:t>
                      </a:r>
                    </a:p>
                  </a:txBody>
                </a:tc>
              </a:tr>
              <a:tr h="0">
                <a:tc>
                  <a:txBody>
                    <a:bodyPr/>
                    <a:lstStyle/>
                    <a:p>
                      <a:pPr lvl="0" indent="0" marL="0">
                        <a:buNone/>
                      </a:pPr>
                      <a:r>
                        <a:rPr/>
                        <a:t>Campus Health Center</a:t>
                      </a:r>
                    </a:p>
                  </a:txBody>
                </a:tc>
                <a:tc>
                  <a:txBody>
                    <a:bodyPr/>
                    <a:lstStyle/>
                    <a:p>
                      <a:pPr lvl="0" indent="0" marL="0">
                        <a:buNone/>
                      </a:pPr>
                      <a:r>
                        <a:rPr/>
                        <a:t>Oak Hall Lower</a:t>
                      </a:r>
                    </a:p>
                  </a:txBody>
                </a:tc>
                <a:tc>
                  <a:txBody>
                    <a:bodyPr/>
                    <a:lstStyle/>
                    <a:p>
                      <a:pPr lvl="0" indent="0" marL="0">
                        <a:buNone/>
                      </a:pPr>
                      <a:r>
                        <a:rPr/>
                        <a:t>health@cendara.edu</a:t>
                      </a:r>
                    </a:p>
                  </a:txBody>
                </a:tc>
                <a:tc>
                  <a:txBody>
                    <a:bodyPr/>
                    <a:lstStyle/>
                    <a:p>
                      <a:pPr lvl="0" indent="0" marL="0">
                        <a:buNone/>
                      </a:pPr>
                      <a:r>
                        <a:rPr/>
                        <a:t>(747) 229-6520</a:t>
                      </a:r>
                    </a:p>
                  </a:txBody>
                </a:tc>
              </a:tr>
              <a:tr h="0">
                <a:tc>
                  <a:txBody>
                    <a:bodyPr/>
                    <a:lstStyle/>
                    <a:p>
                      <a:pPr lvl="0" indent="0" marL="0">
                        <a:buNone/>
                      </a:pPr>
                      <a:r>
                        <a:rPr/>
                        <a:t>Counseling &amp; Wellness</a:t>
                      </a:r>
                    </a:p>
                  </a:txBody>
                </a:tc>
                <a:tc>
                  <a:txBody>
                    <a:bodyPr/>
                    <a:lstStyle/>
                    <a:p>
                      <a:pPr lvl="0" indent="0" marL="0">
                        <a:buNone/>
                      </a:pPr>
                      <a:r>
                        <a:rPr/>
                        <a:t>MRC Suite 200</a:t>
                      </a:r>
                    </a:p>
                  </a:txBody>
                </a:tc>
                <a:tc>
                  <a:txBody>
                    <a:bodyPr/>
                    <a:lstStyle/>
                    <a:p>
                      <a:pPr lvl="0" indent="0" marL="0">
                        <a:buNone/>
                      </a:pPr>
                      <a:r>
                        <a:rPr/>
                        <a:t>wellness@cendara.edu</a:t>
                      </a:r>
                    </a:p>
                  </a:txBody>
                </a:tc>
                <a:tc>
                  <a:txBody>
                    <a:bodyPr/>
                    <a:lstStyle/>
                    <a:p>
                      <a:pPr lvl="0" indent="0" marL="0">
                        <a:buNone/>
                      </a:pPr>
                      <a:r>
                        <a:rPr/>
                        <a:t>(747) 229-6544</a:t>
                      </a:r>
                    </a:p>
                  </a:txBody>
                </a:tc>
              </a:tr>
              <a:tr h="0">
                <a:tc>
                  <a:txBody>
                    <a:bodyPr/>
                    <a:lstStyle/>
                    <a:p>
                      <a:pPr lvl="0" indent="0" marL="0">
                        <a:buNone/>
                      </a:pPr>
                      <a:r>
                        <a:rPr/>
                        <a:t>Housing and Residential Life</a:t>
                      </a:r>
                    </a:p>
                  </a:txBody>
                </a:tc>
                <a:tc>
                  <a:txBody>
                    <a:bodyPr/>
                    <a:lstStyle/>
                    <a:p>
                      <a:pPr lvl="0" indent="0" marL="0">
                        <a:buNone/>
                      </a:pPr>
                      <a:r>
                        <a:rPr/>
                        <a:t>Cedar House 1st</a:t>
                      </a:r>
                    </a:p>
                  </a:txBody>
                </a:tc>
                <a:tc>
                  <a:txBody>
                    <a:bodyPr/>
                    <a:lstStyle/>
                    <a:p>
                      <a:pPr lvl="0" indent="0" marL="0">
                        <a:buNone/>
                      </a:pPr>
                      <a:r>
                        <a:rPr/>
                        <a:t>housing@cendara.edu</a:t>
                      </a:r>
                    </a:p>
                  </a:txBody>
                </a:tc>
                <a:tc>
                  <a:txBody>
                    <a:bodyPr/>
                    <a:lstStyle/>
                    <a:p>
                      <a:pPr lvl="0" indent="0" marL="0">
                        <a:buNone/>
                      </a:pPr>
                      <a:r>
                        <a:rPr/>
                        <a:t>(747) 229-6133</a:t>
                      </a:r>
                    </a:p>
                  </a:txBody>
                </a:tc>
              </a:tr>
              <a:tr h="0">
                <a:tc>
                  <a:txBody>
                    <a:bodyPr/>
                    <a:lstStyle/>
                    <a:p>
                      <a:pPr lvl="0" indent="0" marL="0">
                        <a:buNone/>
                      </a:pPr>
                      <a:r>
                        <a:rPr/>
                        <a:t>Accessibility Services</a:t>
                      </a:r>
                    </a:p>
                  </a:txBody>
                </a:tc>
                <a:tc>
                  <a:txBody>
                    <a:bodyPr/>
                    <a:lstStyle/>
                    <a:p>
                      <a:pPr lvl="0" indent="0" marL="0">
                        <a:buNone/>
                      </a:pPr>
                      <a:r>
                        <a:rPr/>
                        <a:t>Oak Hall 106</a:t>
                      </a:r>
                    </a:p>
                  </a:txBody>
                </a:tc>
                <a:tc>
                  <a:txBody>
                    <a:bodyPr/>
                    <a:lstStyle/>
                    <a:p>
                      <a:pPr lvl="0" indent="0" marL="0">
                        <a:buNone/>
                      </a:pPr>
                      <a:r>
                        <a:rPr/>
                        <a:t>access@cendara.edu</a:t>
                      </a:r>
                    </a:p>
                  </a:txBody>
                </a:tc>
                <a:tc>
                  <a:txBody>
                    <a:bodyPr/>
                    <a:lstStyle/>
                    <a:p>
                      <a:pPr lvl="0" indent="0" marL="0">
                        <a:buNone/>
                      </a:pPr>
                      <a:r>
                        <a:rPr/>
                        <a:t>(747) 229-6582</a:t>
                      </a:r>
                    </a:p>
                  </a:txBody>
                </a:tc>
              </a:tr>
              <a:tr h="0">
                <a:tc>
                  <a:txBody>
                    <a:bodyPr/>
                    <a:lstStyle/>
                    <a:p>
                      <a:pPr lvl="0" indent="0" marL="0">
                        <a:buNone/>
                      </a:pPr>
                      <a:r>
                        <a:rPr/>
                        <a:t>Campus Security</a:t>
                      </a:r>
                    </a:p>
                  </a:txBody>
                </a:tc>
                <a:tc>
                  <a:txBody>
                    <a:bodyPr/>
                    <a:lstStyle/>
                    <a:p>
                      <a:pPr lvl="0" indent="0" marL="0">
                        <a:buNone/>
                      </a:pPr>
                      <a:r>
                        <a:rPr/>
                        <a:t>Security Bldg</a:t>
                      </a:r>
                    </a:p>
                  </a:txBody>
                </a:tc>
                <a:tc>
                  <a:txBody>
                    <a:bodyPr/>
                    <a:lstStyle/>
                    <a:p>
                      <a:pPr lvl="0" indent="0" marL="0">
                        <a:buNone/>
                      </a:pPr>
                      <a:r>
                        <a:rPr/>
                        <a:t>security@cendara.edu</a:t>
                      </a:r>
                    </a:p>
                  </a:txBody>
                </a:tc>
                <a:tc>
                  <a:txBody>
                    <a:bodyPr/>
                    <a:lstStyle/>
                    <a:p>
                      <a:pPr lvl="0" indent="0" marL="0">
                        <a:buNone/>
                      </a:pPr>
                      <a:r>
                        <a:rPr/>
                        <a:t>(747) 229-6500</a:t>
                      </a:r>
                    </a:p>
                  </a:txBody>
                </a:tc>
              </a:tr>
              <a:tr h="0">
                <a:tc>
                  <a:txBody>
                    <a:bodyPr/>
                    <a:lstStyle/>
                    <a:p>
                      <a:pPr lvl="0" indent="0" marL="0">
                        <a:buNone/>
                      </a:pPr>
                      <a:r>
                        <a:rPr/>
                        <a:t>Office of Diversity Initiatives</a:t>
                      </a:r>
                    </a:p>
                  </a:txBody>
                </a:tc>
                <a:tc>
                  <a:txBody>
                    <a:bodyPr/>
                    <a:lstStyle/>
                    <a:p>
                      <a:pPr lvl="0" indent="0" marL="0">
                        <a:buNone/>
                      </a:pPr>
                      <a:r>
                        <a:rPr/>
                        <a:t>MRC, Room 220</a:t>
                      </a:r>
                    </a:p>
                  </a:txBody>
                </a:tc>
                <a:tc>
                  <a:txBody>
                    <a:bodyPr/>
                    <a:lstStyle/>
                    <a:p>
                      <a:pPr lvl="0" indent="0" marL="0">
                        <a:buNone/>
                      </a:pPr>
                      <a:r>
                        <a:rPr/>
                        <a:t>diversity@cendara.edu</a:t>
                      </a:r>
                    </a:p>
                  </a:txBody>
                </a:tc>
                <a:tc>
                  <a:txBody>
                    <a:bodyPr/>
                    <a:lstStyle/>
                    <a:p>
                      <a:pPr lvl="0" indent="0" marL="0">
                        <a:buNone/>
                      </a:pPr>
                      <a:r>
                        <a:rPr/>
                        <a:t>(747) 229-6558</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Final Tips for Success</a:t>
            </a:r>
          </a:p>
        </p:txBody>
      </p:sp>
      <p:sp>
        <p:nvSpPr>
          <p:cNvPr id="3" name="Content Placeholder 2"/>
          <p:cNvSpPr>
            <a:spLocks noGrp="1"/>
          </p:cNvSpPr>
          <p:nvPr>
            <p:ph idx="1"/>
          </p:nvPr>
        </p:nvSpPr>
        <p:spPr/>
        <p:txBody>
          <a:bodyPr/>
          <a:lstStyle/>
          <a:p>
            <a:pPr lvl="0"/>
            <a:r>
              <a:rPr/>
              <a:t>Get involved—join a club, attend events, and connect with your peers.</a:t>
            </a:r>
          </a:p>
          <a:p>
            <a:pPr lvl="0"/>
            <a:r>
              <a:rPr/>
              <a:t>Reach out for help early. Our staff are here to support your success.</a:t>
            </a:r>
          </a:p>
          <a:p>
            <a:pPr lvl="0"/>
            <a:r>
              <a:rPr/>
              <a:t>Explore Albaire and the surrounding region; embrace new experiences while sharing your culture.</a:t>
            </a:r>
          </a:p>
          <a:p>
            <a:pPr lvl="0" indent="0" marL="0">
              <a:buNone/>
            </a:pPr>
            <a:r>
              <a:rPr/>
              <a:t>We are delighted you chose Cendara University. Welcome to your new academic home!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This guide was produced by the Office of Global Engagement in partnership with International Student Services and the Multicultural Resource Center. For the most current information and updates, please visit global.cendara.edu/guide.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2025-07-29T15:04:22Z</dcterms:created>
  <dcterms:modified xsi:type="dcterms:W3CDTF">2025-07-29T15:04:22Z</dcterms:modified>
</cp:coreProperties>
</file>

<file path=docProps/custom.xml><?xml version="1.0" encoding="utf-8"?>
<Properties xmlns="http://schemas.openxmlformats.org/officeDocument/2006/custom-properties" xmlns:vt="http://schemas.openxmlformats.org/officeDocument/2006/docPropsVTypes"/>
</file>