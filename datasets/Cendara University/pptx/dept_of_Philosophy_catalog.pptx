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6" Type="http://schemas.openxmlformats.org/officeDocument/2006/relationships/viewProps" Target="viewProps.xml" /><Relationship Id="rId25" Type="http://schemas.openxmlformats.org/officeDocument/2006/relationships/presProps" Target="presProps.xml" /><Relationship Id="rId1" Type="http://schemas.openxmlformats.org/officeDocument/2006/relationships/slideMaster" Target="slideMasters/slideMaster1.xml" /><Relationship Id="rId28" Type="http://schemas.openxmlformats.org/officeDocument/2006/relationships/tableStyles" Target="tableStyles.xml" /><Relationship Id="rId2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Cendara University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Department of Philosophy</a:t>
            </a:r>
          </a:p>
        </p:txBody>
      </p:sp>
      <p:sp>
        <p:nvSpPr>
          <p:cNvPr id="3" name="Content Placeholder 2"/>
          <p:cNvSpPr>
            <a:spLocks noGrp="1"/>
          </p:cNvSpPr>
          <p:nvPr>
            <p:ph idx="1"/>
          </p:nvPr>
        </p:nvSpPr>
        <p:spPr/>
        <p:txBody>
          <a:bodyPr/>
          <a:lstStyle/>
          <a:p>
            <a:pPr lvl="0" indent="0" marL="0">
              <a:spcBef>
                <a:spcPts val="3000"/>
              </a:spcBef>
              <a:buNone/>
            </a:pPr>
            <a:r>
              <a:rPr b="1"/>
              <a:t>Course Catalog 2024–2025</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Overview</a:t>
            </a:r>
          </a:p>
        </p:txBody>
      </p:sp>
      <p:sp>
        <p:nvSpPr>
          <p:cNvPr id="3" name="Content Placeholder 2"/>
          <p:cNvSpPr>
            <a:spLocks noGrp="1"/>
          </p:cNvSpPr>
          <p:nvPr>
            <p:ph idx="1"/>
          </p:nvPr>
        </p:nvSpPr>
        <p:spPr/>
        <p:txBody>
          <a:bodyPr/>
          <a:lstStyle/>
          <a:p>
            <a:pPr lvl="0" indent="0" marL="0">
              <a:buNone/>
            </a:pPr>
            <a:r>
              <a:rPr/>
              <a:t>The Department of Philosophy at Cendara University offers a rich curriculum for B.A. and M.A. students, emphasizing rigorous analysis in logic, ethics, epistemology, and the history of philosophy. Our program is designed to prepare students for graduate study, teaching, or careers requiring critical thought, communication, and ethical reasoning.</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Listings</a:t>
            </a:r>
          </a:p>
        </p:txBody>
      </p:sp>
      <p:sp>
        <p:nvSpPr>
          <p:cNvPr id="3" name="Content Placeholder 2"/>
          <p:cNvSpPr>
            <a:spLocks noGrp="1"/>
          </p:cNvSpPr>
          <p:nvPr>
            <p:ph idx="1"/>
          </p:nvPr>
        </p:nvSpPr>
        <p:spPr/>
        <p:txBody>
          <a:bodyPr/>
          <a:lstStyle/>
          <a:p>
            <a:pPr lvl="0" indent="0" marL="0">
              <a:spcBef>
                <a:spcPts val="3000"/>
              </a:spcBef>
              <a:buNone/>
            </a:pPr>
            <a:r>
              <a:rPr b="1"/>
              <a:t>PHIL 101: Introduction to Philosophy</a:t>
            </a:r>
          </a:p>
          <a:p>
            <a:pPr lvl="0"/>
            <a:r>
              <a:rPr b="1"/>
              <a:t>Credits</a:t>
            </a:r>
            <a:r>
              <a:rPr/>
              <a:t>: 3</a:t>
            </a:r>
            <a:br/>
          </a:p>
          <a:p>
            <a:pPr lvl="0"/>
            <a:r>
              <a:rPr b="1"/>
              <a:t>Prerequisites</a:t>
            </a:r>
            <a:r>
              <a:rPr/>
              <a:t>: None</a:t>
            </a:r>
            <a:br/>
          </a:p>
          <a:p>
            <a:pPr lvl="0"/>
            <a:r>
              <a:rPr b="1"/>
              <a:t>Description</a:t>
            </a:r>
            <a:r>
              <a:rPr/>
              <a:t>:</a:t>
            </a:r>
            <a:br/>
            <a:r>
              <a:rPr/>
              <a:t>A broad introduction to central questions in philosophy, including the nature of reality, the limits of knowledge, morality, free will, and the existence of God. Readings include both classical and contemporary philosophers. This course provides essential tools for analytical reading and writing.</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PHIL 120: Introduction to Logic</a:t>
            </a:r>
          </a:p>
          <a:p>
            <a:pPr lvl="0"/>
            <a:r>
              <a:rPr b="1"/>
              <a:t>Credits</a:t>
            </a:r>
            <a:r>
              <a:rPr/>
              <a:t>: 3</a:t>
            </a:r>
            <a:br/>
          </a:p>
          <a:p>
            <a:pPr lvl="0"/>
            <a:r>
              <a:rPr b="1"/>
              <a:t>Prerequisites</a:t>
            </a:r>
            <a:r>
              <a:rPr/>
              <a:t>: None</a:t>
            </a:r>
            <a:br/>
          </a:p>
          <a:p>
            <a:pPr lvl="0"/>
            <a:r>
              <a:rPr b="1"/>
              <a:t>Description</a:t>
            </a:r>
            <a:r>
              <a:rPr/>
              <a:t>:</a:t>
            </a:r>
            <a:br/>
            <a:r>
              <a:rPr/>
              <a:t>Covers the fundamentals of formal reasoning and logical argument. Topics include categorical and propositional logic, logical fallacies, and techniques for evaluating arguments in philosophical and real-world contexts.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PHIL 201: Ancient Greek Philosophy</a:t>
            </a:r>
          </a:p>
          <a:p>
            <a:pPr lvl="0"/>
            <a:r>
              <a:rPr b="1"/>
              <a:t>Credits</a:t>
            </a:r>
            <a:r>
              <a:rPr/>
              <a:t>: 4</a:t>
            </a:r>
            <a:br/>
          </a:p>
          <a:p>
            <a:pPr lvl="0"/>
            <a:r>
              <a:rPr b="1"/>
              <a:t>Prerequisites</a:t>
            </a:r>
            <a:r>
              <a:rPr/>
              <a:t>: PHIL 101 or consent of instructor</a:t>
            </a:r>
            <a:br/>
          </a:p>
          <a:p>
            <a:pPr lvl="0"/>
            <a:r>
              <a:rPr b="1"/>
              <a:t>Description</a:t>
            </a:r>
            <a:r>
              <a:rPr/>
              <a:t>:</a:t>
            </a:r>
            <a:br/>
            <a:r>
              <a:rPr/>
              <a:t>A study of the major philosophers of ancient Greece, such as Socrates, Plato, and Aristotle. Emphasis is placed on their approaches to metaphysics, political philosophy, and ethics within their historical context.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PHIL 210: Introduction to Ethics</a:t>
            </a:r>
          </a:p>
          <a:p>
            <a:pPr lvl="0"/>
            <a:r>
              <a:rPr b="1"/>
              <a:t>Credits</a:t>
            </a:r>
            <a:r>
              <a:rPr/>
              <a:t>: 3</a:t>
            </a:r>
            <a:br/>
          </a:p>
          <a:p>
            <a:pPr lvl="0"/>
            <a:r>
              <a:rPr b="1"/>
              <a:t>Prerequisites</a:t>
            </a:r>
            <a:r>
              <a:rPr/>
              <a:t>: None</a:t>
            </a:r>
            <a:br/>
          </a:p>
          <a:p>
            <a:pPr lvl="0"/>
            <a:r>
              <a:rPr b="1"/>
              <a:t>Description</a:t>
            </a:r>
            <a:r>
              <a:rPr/>
              <a:t>:</a:t>
            </a:r>
            <a:br/>
            <a:r>
              <a:rPr/>
              <a:t>An exploration of fundamental theories in moral philosophy including utilitarianism, Kantian deontology, and virtue ethics. Students will apply ethical frameworks to contemporary moral dilemmas.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PHIL 218: Philosophy of Mind</a:t>
            </a:r>
          </a:p>
          <a:p>
            <a:pPr lvl="0"/>
            <a:r>
              <a:rPr b="1"/>
              <a:t>Credits</a:t>
            </a:r>
            <a:r>
              <a:rPr/>
              <a:t>: 3</a:t>
            </a:r>
            <a:br/>
          </a:p>
          <a:p>
            <a:pPr lvl="0"/>
            <a:r>
              <a:rPr b="1"/>
              <a:t>Prerequisites</a:t>
            </a:r>
            <a:r>
              <a:rPr/>
              <a:t>: PHIL 101 or sophomore standing</a:t>
            </a:r>
            <a:br/>
          </a:p>
          <a:p>
            <a:pPr lvl="0"/>
            <a:r>
              <a:rPr b="1"/>
              <a:t>Description</a:t>
            </a:r>
            <a:r>
              <a:rPr/>
              <a:t>:</a:t>
            </a:r>
            <a:br/>
            <a:r>
              <a:rPr/>
              <a:t>Investigates the mind-body problem, consciousness, mental representation, and theories of personal identity. Included are discussions of both classical and current debates in philosophy of mind.</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PHIL 247: Epistemology</a:t>
            </a:r>
          </a:p>
          <a:p>
            <a:pPr lvl="0"/>
            <a:r>
              <a:rPr b="1"/>
              <a:t>Credits</a:t>
            </a:r>
            <a:r>
              <a:rPr/>
              <a:t>: 3</a:t>
            </a:r>
            <a:br/>
          </a:p>
          <a:p>
            <a:pPr lvl="0"/>
            <a:r>
              <a:rPr b="1"/>
              <a:t>Prerequisites</a:t>
            </a:r>
            <a:r>
              <a:rPr/>
              <a:t>: PHIL 101</a:t>
            </a:r>
            <a:br/>
          </a:p>
          <a:p>
            <a:pPr lvl="0"/>
            <a:r>
              <a:rPr b="1"/>
              <a:t>Description</a:t>
            </a:r>
            <a:r>
              <a:rPr/>
              <a:t>:</a:t>
            </a:r>
            <a:br/>
            <a:r>
              <a:rPr/>
              <a:t>An examination of the theory of knowledge, focusing on justification, skepticism, the sources of belief, and the definition of knowledge. Classical and contemporary readings are assigned.</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PHIL 260: Philosophy of Science</a:t>
            </a:r>
          </a:p>
          <a:p>
            <a:pPr lvl="0"/>
            <a:r>
              <a:rPr b="1"/>
              <a:t>Credits</a:t>
            </a:r>
            <a:r>
              <a:rPr/>
              <a:t>: 3</a:t>
            </a:r>
            <a:br/>
          </a:p>
          <a:p>
            <a:pPr lvl="0"/>
            <a:r>
              <a:rPr b="1"/>
              <a:t>Prerequisites</a:t>
            </a:r>
            <a:r>
              <a:rPr/>
              <a:t>: PHIL 101 or completion of one science course</a:t>
            </a:r>
            <a:br/>
          </a:p>
          <a:p>
            <a:pPr lvl="0"/>
            <a:r>
              <a:rPr b="1"/>
              <a:t>Description</a:t>
            </a:r>
            <a:r>
              <a:rPr/>
              <a:t>:</a:t>
            </a:r>
            <a:br/>
            <a:r>
              <a:rPr/>
              <a:t>Addresses foundational issues in the philosophy of science, including scientific explanation, theory change, and the demarcation problem. Case studies are drawn from historical and modern science.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PHIL 302: Modern Philosophy</a:t>
            </a:r>
          </a:p>
          <a:p>
            <a:pPr lvl="0"/>
            <a:r>
              <a:rPr b="1"/>
              <a:t>Credits</a:t>
            </a:r>
            <a:r>
              <a:rPr/>
              <a:t>: 4</a:t>
            </a:r>
            <a:br/>
          </a:p>
          <a:p>
            <a:pPr lvl="0"/>
            <a:r>
              <a:rPr b="1"/>
              <a:t>Prerequisites</a:t>
            </a:r>
            <a:r>
              <a:rPr/>
              <a:t>: PHIL 201</a:t>
            </a:r>
            <a:br/>
          </a:p>
          <a:p>
            <a:pPr lvl="0"/>
            <a:r>
              <a:rPr b="1"/>
              <a:t>Description</a:t>
            </a:r>
            <a:r>
              <a:rPr/>
              <a:t>:</a:t>
            </a:r>
            <a:br/>
            <a:r>
              <a:rPr/>
              <a:t>Examines the period from Descartes to Kant, including Hobbes, Locke, Hume, and Rousseau. Focuses on rationalism and empiricism, and the Enlightenment’s impact on contemporary thought.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PHIL 325: Ethics of Technology</a:t>
            </a:r>
          </a:p>
          <a:p>
            <a:pPr lvl="0"/>
            <a:r>
              <a:rPr b="1"/>
              <a:t>Credits</a:t>
            </a:r>
            <a:r>
              <a:rPr/>
              <a:t>: 3</a:t>
            </a:r>
            <a:br/>
          </a:p>
          <a:p>
            <a:pPr lvl="0"/>
            <a:r>
              <a:rPr b="1"/>
              <a:t>Prerequisites</a:t>
            </a:r>
            <a:r>
              <a:rPr/>
              <a:t>: PHIL 210 or junior standing</a:t>
            </a:r>
            <a:br/>
          </a:p>
          <a:p>
            <a:pPr lvl="0"/>
            <a:r>
              <a:rPr b="1"/>
              <a:t>Description</a:t>
            </a:r>
            <a:r>
              <a:rPr/>
              <a:t>:</a:t>
            </a:r>
            <a:br/>
            <a:r>
              <a:rPr/>
              <a:t>Explores ethical issues surrounding current and emerging technologies, such as artificial intelligence, privacy, and biotechnology. Students engage in critical discussion and policy analysis.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PHIL 341: Existentialism</a:t>
            </a:r>
          </a:p>
          <a:p>
            <a:pPr lvl="0"/>
            <a:r>
              <a:rPr b="1"/>
              <a:t>Credits</a:t>
            </a:r>
            <a:r>
              <a:rPr/>
              <a:t>: 3</a:t>
            </a:r>
            <a:br/>
          </a:p>
          <a:p>
            <a:pPr lvl="0"/>
            <a:r>
              <a:rPr b="1"/>
              <a:t>Prerequisites</a:t>
            </a:r>
            <a:r>
              <a:rPr/>
              <a:t>: PHIL 101</a:t>
            </a:r>
            <a:br/>
          </a:p>
          <a:p>
            <a:pPr lvl="0"/>
            <a:r>
              <a:rPr b="1"/>
              <a:t>Description</a:t>
            </a:r>
            <a:r>
              <a:rPr/>
              <a:t>:</a:t>
            </a:r>
            <a:br/>
            <a:r>
              <a:rPr/>
              <a:t>Focuses on existentialist thinkers like Kierkegaard, Nietzsche, Sartre, and de Beauvoir. Topics include authenticity, freedom, absurdity, and the meaning of life.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PHIL 370: Asian Philosophies</a:t>
            </a:r>
          </a:p>
          <a:p>
            <a:pPr lvl="0"/>
            <a:r>
              <a:rPr b="1"/>
              <a:t>Credits</a:t>
            </a:r>
            <a:r>
              <a:rPr/>
              <a:t>: 3</a:t>
            </a:r>
            <a:br/>
          </a:p>
          <a:p>
            <a:pPr lvl="0"/>
            <a:r>
              <a:rPr b="1"/>
              <a:t>Prerequisites</a:t>
            </a:r>
            <a:r>
              <a:rPr/>
              <a:t>: PHIL 101 or consent of instructor</a:t>
            </a:r>
            <a:br/>
          </a:p>
          <a:p>
            <a:pPr lvl="0"/>
            <a:r>
              <a:rPr b="1"/>
              <a:t>Description</a:t>
            </a:r>
            <a:r>
              <a:rPr/>
              <a:t>:</a:t>
            </a:r>
            <a:br/>
            <a:r>
              <a:rPr/>
              <a:t>A survey of major philosophical traditions in India, China, and Japan. Examines texts from the Upanishads, Confucius, Laozi, Nagarjuna, Dogen, and others, emphasizing cross-cultural philosophical exchange.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PHIL 385: Political Philosophy</a:t>
            </a:r>
          </a:p>
          <a:p>
            <a:pPr lvl="0"/>
            <a:r>
              <a:rPr b="1"/>
              <a:t>Credits</a:t>
            </a:r>
            <a:r>
              <a:rPr/>
              <a:t>: 3</a:t>
            </a:r>
            <a:br/>
          </a:p>
          <a:p>
            <a:pPr lvl="0"/>
            <a:r>
              <a:rPr b="1"/>
              <a:t>Prerequisites</a:t>
            </a:r>
            <a:r>
              <a:rPr/>
              <a:t>: PHIL 101 and PHIL 201</a:t>
            </a:r>
            <a:br/>
          </a:p>
          <a:p>
            <a:pPr lvl="0"/>
            <a:r>
              <a:rPr b="1"/>
              <a:t>Description</a:t>
            </a:r>
            <a:r>
              <a:rPr/>
              <a:t>:</a:t>
            </a:r>
            <a:br/>
            <a:r>
              <a:rPr/>
              <a:t>Investigates theories of justice, rights, and social contract from Plato to Rawls. Considers foundational debates about authority, freedom, and civic responsibility.</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PHIL 400: Senior Seminar</a:t>
            </a:r>
          </a:p>
          <a:p>
            <a:pPr lvl="0"/>
            <a:r>
              <a:rPr b="1"/>
              <a:t>Credits</a:t>
            </a:r>
            <a:r>
              <a:rPr/>
              <a:t>: 3</a:t>
            </a:r>
            <a:br/>
          </a:p>
          <a:p>
            <a:pPr lvl="0"/>
            <a:r>
              <a:rPr b="1"/>
              <a:t>Prerequisites</a:t>
            </a:r>
            <a:r>
              <a:rPr/>
              <a:t>: Senior standing in Philosophy major</a:t>
            </a:r>
            <a:br/>
          </a:p>
          <a:p>
            <a:pPr lvl="0"/>
            <a:r>
              <a:rPr b="1"/>
              <a:t>Description</a:t>
            </a:r>
            <a:r>
              <a:rPr/>
              <a:t>:</a:t>
            </a:r>
            <a:br/>
            <a:r>
              <a:rPr/>
              <a:t>A capstone course requiring students to conduct independent research, participate in focused seminars, and defend original philosophical arguments in writing and oral presentation.</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PHIL 410: Advanced Topics in Contemporary Ethics</a:t>
            </a:r>
          </a:p>
          <a:p>
            <a:pPr lvl="0"/>
            <a:r>
              <a:rPr b="1"/>
              <a:t>Credits</a:t>
            </a:r>
            <a:r>
              <a:rPr/>
              <a:t>: 3</a:t>
            </a:r>
            <a:br/>
          </a:p>
          <a:p>
            <a:pPr lvl="0"/>
            <a:r>
              <a:rPr b="1"/>
              <a:t>Prerequisites</a:t>
            </a:r>
            <a:r>
              <a:rPr/>
              <a:t>: PHIL 210 and junior standing</a:t>
            </a:r>
            <a:br/>
          </a:p>
          <a:p>
            <a:pPr lvl="0"/>
            <a:r>
              <a:rPr b="1"/>
              <a:t>Description</a:t>
            </a:r>
            <a:r>
              <a:rPr/>
              <a:t>:</a:t>
            </a:r>
            <a:br/>
            <a:r>
              <a:rPr/>
              <a:t>In-depth examination of select issues in contemporary moral philosophy, such as ethical relativism, virtue theory, moral responsibility, and applied problems (e.g., animal rights, environmental ethics).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PHIL 445: Graduate Proseminar in Philosophy</a:t>
            </a:r>
          </a:p>
          <a:p>
            <a:pPr lvl="0"/>
            <a:r>
              <a:rPr b="1"/>
              <a:t>Credits</a:t>
            </a:r>
            <a:r>
              <a:rPr/>
              <a:t>: 3</a:t>
            </a:r>
            <a:br/>
          </a:p>
          <a:p>
            <a:pPr lvl="0"/>
            <a:r>
              <a:rPr b="1"/>
              <a:t>Prerequisites</a:t>
            </a:r>
            <a:r>
              <a:rPr/>
              <a:t>: Admission to M.A. in Philosophy or permission</a:t>
            </a:r>
            <a:br/>
          </a:p>
          <a:p>
            <a:pPr lvl="0"/>
            <a:r>
              <a:rPr b="1"/>
              <a:t>Description</a:t>
            </a:r>
            <a:r>
              <a:rPr/>
              <a:t>:</a:t>
            </a:r>
            <a:br/>
            <a:r>
              <a:rPr/>
              <a:t>Required seminar for new M.A. students introducing research methodologies, advanced philosophical writing, and professional development. Includes supervised discussion of classic texts across philosophical subfields.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PHIL 503: Seminar in Analytic Philosophy</a:t>
            </a:r>
          </a:p>
          <a:p>
            <a:pPr lvl="0"/>
            <a:r>
              <a:rPr b="1"/>
              <a:t>Credits</a:t>
            </a:r>
            <a:r>
              <a:rPr/>
              <a:t>: 3</a:t>
            </a:r>
            <a:br/>
          </a:p>
          <a:p>
            <a:pPr lvl="0"/>
            <a:r>
              <a:rPr b="1"/>
              <a:t>Prerequisites</a:t>
            </a:r>
            <a:r>
              <a:rPr/>
              <a:t>: Graduate standing or consent of instructor</a:t>
            </a:r>
            <a:br/>
          </a:p>
          <a:p>
            <a:pPr lvl="0"/>
            <a:r>
              <a:rPr b="1"/>
              <a:t>Description</a:t>
            </a:r>
            <a:r>
              <a:rPr/>
              <a:t>:</a:t>
            </a:r>
            <a:br/>
            <a:r>
              <a:rPr/>
              <a:t>Graduate seminar on key texts, thinkers, and debates in the analytic tradition, focusing on language, logic, and the philosophy of mathematics.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PHIL 514: Seminar in Phenomenology and Hermeneutics</a:t>
            </a:r>
          </a:p>
          <a:p>
            <a:pPr lvl="0"/>
            <a:r>
              <a:rPr b="1"/>
              <a:t>Credits</a:t>
            </a:r>
            <a:r>
              <a:rPr/>
              <a:t>: 3</a:t>
            </a:r>
            <a:br/>
          </a:p>
          <a:p>
            <a:pPr lvl="0"/>
            <a:r>
              <a:rPr b="1"/>
              <a:t>Prerequisites</a:t>
            </a:r>
            <a:r>
              <a:rPr/>
              <a:t>: Graduate standing</a:t>
            </a:r>
            <a:br/>
          </a:p>
          <a:p>
            <a:pPr lvl="0"/>
            <a:r>
              <a:rPr b="1"/>
              <a:t>Description</a:t>
            </a:r>
            <a:r>
              <a:rPr/>
              <a:t>:</a:t>
            </a:r>
            <a:br/>
            <a:r>
              <a:rPr/>
              <a:t>Advanced seminar covering Husserl, Heidegger, Gadamer, and others. Emphasizes phenomenological method and its applications to interpretation and meaning.</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PHIL 560: Research in Philosophy</a:t>
            </a:r>
          </a:p>
          <a:p>
            <a:pPr lvl="0"/>
            <a:r>
              <a:rPr b="1"/>
              <a:t>Credits</a:t>
            </a:r>
            <a:r>
              <a:rPr/>
              <a:t>: 3–6</a:t>
            </a:r>
            <a:br/>
          </a:p>
          <a:p>
            <a:pPr lvl="0"/>
            <a:r>
              <a:rPr b="1"/>
              <a:t>Prerequisites</a:t>
            </a:r>
            <a:r>
              <a:rPr/>
              <a:t>: Graduate standing and department approval</a:t>
            </a:r>
            <a:br/>
          </a:p>
          <a:p>
            <a:pPr lvl="0"/>
            <a:r>
              <a:rPr b="1"/>
              <a:t>Description</a:t>
            </a:r>
            <a:r>
              <a:rPr/>
              <a:t>:</a:t>
            </a:r>
            <a:br/>
            <a:r>
              <a:rPr/>
              <a:t>Independent or faculty-supervised research leading to a substantial paper or project. Research topics must be approved by departmental faculty.</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Summary Table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Course</a:t>
                      </a:r>
                    </a:p>
                  </a:txBody>
                  <a:tcPr/>
                </a:tc>
                <a:tc>
                  <a:txBody>
                    <a:bodyPr/>
                    <a:lstStyle/>
                    <a:p>
                      <a:pPr lvl="0" indent="0" marL="0">
                        <a:buNone/>
                      </a:pPr>
                      <a:r>
                        <a:rPr/>
                        <a:t>Title</a:t>
                      </a:r>
                    </a:p>
                  </a:txBody>
                  <a:tcPr/>
                </a:tc>
                <a:tc>
                  <a:txBody>
                    <a:bodyPr/>
                    <a:lstStyle/>
                    <a:p>
                      <a:pPr lvl="0" indent="0" marL="0">
                        <a:buNone/>
                      </a:pPr>
                      <a:r>
                        <a:rPr/>
                        <a:t>Credits</a:t>
                      </a:r>
                    </a:p>
                  </a:txBody>
                  <a:tcPr/>
                </a:tc>
                <a:tc>
                  <a:txBody>
                    <a:bodyPr/>
                    <a:lstStyle/>
                    <a:p>
                      <a:pPr lvl="0" indent="0" marL="0">
                        <a:buNone/>
                      </a:pPr>
                      <a:r>
                        <a:rPr/>
                        <a:t>Prerequisites</a:t>
                      </a:r>
                    </a:p>
                  </a:txBody>
                  <a:tcPr/>
                </a:tc>
              </a:tr>
              <a:tr h="0">
                <a:tc>
                  <a:txBody>
                    <a:bodyPr/>
                    <a:lstStyle/>
                    <a:p>
                      <a:pPr lvl="0" indent="0" marL="0">
                        <a:buNone/>
                      </a:pPr>
                      <a:r>
                        <a:rPr/>
                        <a:t>PHIL 101</a:t>
                      </a:r>
                    </a:p>
                  </a:txBody>
                </a:tc>
                <a:tc>
                  <a:txBody>
                    <a:bodyPr/>
                    <a:lstStyle/>
                    <a:p>
                      <a:pPr lvl="0" indent="0" marL="0">
                        <a:buNone/>
                      </a:pPr>
                      <a:r>
                        <a:rPr/>
                        <a:t>Introduction to Philosophy</a:t>
                      </a:r>
                    </a:p>
                  </a:txBody>
                </a:tc>
                <a:tc>
                  <a:txBody>
                    <a:bodyPr/>
                    <a:lstStyle/>
                    <a:p>
                      <a:pPr lvl="0" indent="0" marL="0">
                        <a:buNone/>
                      </a:pPr>
                      <a:r>
                        <a:rPr/>
                        <a:t>3</a:t>
                      </a:r>
                    </a:p>
                  </a:txBody>
                </a:tc>
                <a:tc>
                  <a:txBody>
                    <a:bodyPr/>
                    <a:lstStyle/>
                    <a:p>
                      <a:pPr lvl="0" indent="0" marL="0">
                        <a:buNone/>
                      </a:pPr>
                      <a:r>
                        <a:rPr/>
                        <a:t>None</a:t>
                      </a:r>
                    </a:p>
                  </a:txBody>
                </a:tc>
              </a:tr>
              <a:tr h="0">
                <a:tc>
                  <a:txBody>
                    <a:bodyPr/>
                    <a:lstStyle/>
                    <a:p>
                      <a:pPr lvl="0" indent="0" marL="0">
                        <a:buNone/>
                      </a:pPr>
                      <a:r>
                        <a:rPr/>
                        <a:t>PHIL 120</a:t>
                      </a:r>
                    </a:p>
                  </a:txBody>
                </a:tc>
                <a:tc>
                  <a:txBody>
                    <a:bodyPr/>
                    <a:lstStyle/>
                    <a:p>
                      <a:pPr lvl="0" indent="0" marL="0">
                        <a:buNone/>
                      </a:pPr>
                      <a:r>
                        <a:rPr/>
                        <a:t>Introduction to Logic</a:t>
                      </a:r>
                    </a:p>
                  </a:txBody>
                </a:tc>
                <a:tc>
                  <a:txBody>
                    <a:bodyPr/>
                    <a:lstStyle/>
                    <a:p>
                      <a:pPr lvl="0" indent="0" marL="0">
                        <a:buNone/>
                      </a:pPr>
                      <a:r>
                        <a:rPr/>
                        <a:t>3</a:t>
                      </a:r>
                    </a:p>
                  </a:txBody>
                </a:tc>
                <a:tc>
                  <a:txBody>
                    <a:bodyPr/>
                    <a:lstStyle/>
                    <a:p>
                      <a:pPr lvl="0" indent="0" marL="0">
                        <a:buNone/>
                      </a:pPr>
                      <a:r>
                        <a:rPr/>
                        <a:t>None</a:t>
                      </a:r>
                    </a:p>
                  </a:txBody>
                </a:tc>
              </a:tr>
              <a:tr h="0">
                <a:tc>
                  <a:txBody>
                    <a:bodyPr/>
                    <a:lstStyle/>
                    <a:p>
                      <a:pPr lvl="0" indent="0" marL="0">
                        <a:buNone/>
                      </a:pPr>
                      <a:r>
                        <a:rPr/>
                        <a:t>PHIL 201</a:t>
                      </a:r>
                    </a:p>
                  </a:txBody>
                </a:tc>
                <a:tc>
                  <a:txBody>
                    <a:bodyPr/>
                    <a:lstStyle/>
                    <a:p>
                      <a:pPr lvl="0" indent="0" marL="0">
                        <a:buNone/>
                      </a:pPr>
                      <a:r>
                        <a:rPr/>
                        <a:t>Ancient Greek Philosophy</a:t>
                      </a:r>
                    </a:p>
                  </a:txBody>
                </a:tc>
                <a:tc>
                  <a:txBody>
                    <a:bodyPr/>
                    <a:lstStyle/>
                    <a:p>
                      <a:pPr lvl="0" indent="0" marL="0">
                        <a:buNone/>
                      </a:pPr>
                      <a:r>
                        <a:rPr/>
                        <a:t>4</a:t>
                      </a:r>
                    </a:p>
                  </a:txBody>
                </a:tc>
                <a:tc>
                  <a:txBody>
                    <a:bodyPr/>
                    <a:lstStyle/>
                    <a:p>
                      <a:pPr lvl="0" indent="0" marL="0">
                        <a:buNone/>
                      </a:pPr>
                      <a:r>
                        <a:rPr/>
                        <a:t>PHIL 101 or consent of instructor</a:t>
                      </a:r>
                    </a:p>
                  </a:txBody>
                </a:tc>
              </a:tr>
              <a:tr h="0">
                <a:tc>
                  <a:txBody>
                    <a:bodyPr/>
                    <a:lstStyle/>
                    <a:p>
                      <a:pPr lvl="0" indent="0" marL="0">
                        <a:buNone/>
                      </a:pPr>
                      <a:r>
                        <a:rPr/>
                        <a:t>PHIL 210</a:t>
                      </a:r>
                    </a:p>
                  </a:txBody>
                </a:tc>
                <a:tc>
                  <a:txBody>
                    <a:bodyPr/>
                    <a:lstStyle/>
                    <a:p>
                      <a:pPr lvl="0" indent="0" marL="0">
                        <a:buNone/>
                      </a:pPr>
                      <a:r>
                        <a:rPr/>
                        <a:t>Introduction to Ethics</a:t>
                      </a:r>
                    </a:p>
                  </a:txBody>
                </a:tc>
                <a:tc>
                  <a:txBody>
                    <a:bodyPr/>
                    <a:lstStyle/>
                    <a:p>
                      <a:pPr lvl="0" indent="0" marL="0">
                        <a:buNone/>
                      </a:pPr>
                      <a:r>
                        <a:rPr/>
                        <a:t>3</a:t>
                      </a:r>
                    </a:p>
                  </a:txBody>
                </a:tc>
                <a:tc>
                  <a:txBody>
                    <a:bodyPr/>
                    <a:lstStyle/>
                    <a:p>
                      <a:pPr lvl="0" indent="0" marL="0">
                        <a:buNone/>
                      </a:pPr>
                      <a:r>
                        <a:rPr/>
                        <a:t>None</a:t>
                      </a:r>
                    </a:p>
                  </a:txBody>
                </a:tc>
              </a:tr>
              <a:tr h="0">
                <a:tc>
                  <a:txBody>
                    <a:bodyPr/>
                    <a:lstStyle/>
                    <a:p>
                      <a:pPr lvl="0" indent="0" marL="0">
                        <a:buNone/>
                      </a:pPr>
                      <a:r>
                        <a:rPr/>
                        <a:t>PHIL 218</a:t>
                      </a:r>
                    </a:p>
                  </a:txBody>
                </a:tc>
                <a:tc>
                  <a:txBody>
                    <a:bodyPr/>
                    <a:lstStyle/>
                    <a:p>
                      <a:pPr lvl="0" indent="0" marL="0">
                        <a:buNone/>
                      </a:pPr>
                      <a:r>
                        <a:rPr/>
                        <a:t>Philosophy of Mind</a:t>
                      </a:r>
                    </a:p>
                  </a:txBody>
                </a:tc>
                <a:tc>
                  <a:txBody>
                    <a:bodyPr/>
                    <a:lstStyle/>
                    <a:p>
                      <a:pPr lvl="0" indent="0" marL="0">
                        <a:buNone/>
                      </a:pPr>
                      <a:r>
                        <a:rPr/>
                        <a:t>3</a:t>
                      </a:r>
                    </a:p>
                  </a:txBody>
                </a:tc>
                <a:tc>
                  <a:txBody>
                    <a:bodyPr/>
                    <a:lstStyle/>
                    <a:p>
                      <a:pPr lvl="0" indent="0" marL="0">
                        <a:buNone/>
                      </a:pPr>
                      <a:r>
                        <a:rPr/>
                        <a:t>PHIL 101 or sophomore standing</a:t>
                      </a:r>
                    </a:p>
                  </a:txBody>
                </a:tc>
              </a:tr>
              <a:tr h="0">
                <a:tc>
                  <a:txBody>
                    <a:bodyPr/>
                    <a:lstStyle/>
                    <a:p>
                      <a:pPr lvl="0" indent="0" marL="0">
                        <a:buNone/>
                      </a:pPr>
                      <a:r>
                        <a:rPr/>
                        <a:t>PHIL 247</a:t>
                      </a:r>
                    </a:p>
                  </a:txBody>
                </a:tc>
                <a:tc>
                  <a:txBody>
                    <a:bodyPr/>
                    <a:lstStyle/>
                    <a:p>
                      <a:pPr lvl="0" indent="0" marL="0">
                        <a:buNone/>
                      </a:pPr>
                      <a:r>
                        <a:rPr/>
                        <a:t>Epistemology</a:t>
                      </a:r>
                    </a:p>
                  </a:txBody>
                </a:tc>
                <a:tc>
                  <a:txBody>
                    <a:bodyPr/>
                    <a:lstStyle/>
                    <a:p>
                      <a:pPr lvl="0" indent="0" marL="0">
                        <a:buNone/>
                      </a:pPr>
                      <a:r>
                        <a:rPr/>
                        <a:t>3</a:t>
                      </a:r>
                    </a:p>
                  </a:txBody>
                </a:tc>
                <a:tc>
                  <a:txBody>
                    <a:bodyPr/>
                    <a:lstStyle/>
                    <a:p>
                      <a:pPr lvl="0" indent="0" marL="0">
                        <a:buNone/>
                      </a:pPr>
                      <a:r>
                        <a:rPr/>
                        <a:t>PHIL 101</a:t>
                      </a:r>
                    </a:p>
                  </a:txBody>
                </a:tc>
              </a:tr>
              <a:tr h="0">
                <a:tc>
                  <a:txBody>
                    <a:bodyPr/>
                    <a:lstStyle/>
                    <a:p>
                      <a:pPr lvl="0" indent="0" marL="0">
                        <a:buNone/>
                      </a:pPr>
                      <a:r>
                        <a:rPr/>
                        <a:t>PHIL 260</a:t>
                      </a:r>
                    </a:p>
                  </a:txBody>
                </a:tc>
                <a:tc>
                  <a:txBody>
                    <a:bodyPr/>
                    <a:lstStyle/>
                    <a:p>
                      <a:pPr lvl="0" indent="0" marL="0">
                        <a:buNone/>
                      </a:pPr>
                      <a:r>
                        <a:rPr/>
                        <a:t>Philosophy of Science</a:t>
                      </a:r>
                    </a:p>
                  </a:txBody>
                </a:tc>
                <a:tc>
                  <a:txBody>
                    <a:bodyPr/>
                    <a:lstStyle/>
                    <a:p>
                      <a:pPr lvl="0" indent="0" marL="0">
                        <a:buNone/>
                      </a:pPr>
                      <a:r>
                        <a:rPr/>
                        <a:t>3</a:t>
                      </a:r>
                    </a:p>
                  </a:txBody>
                </a:tc>
                <a:tc>
                  <a:txBody>
                    <a:bodyPr/>
                    <a:lstStyle/>
                    <a:p>
                      <a:pPr lvl="0" indent="0" marL="0">
                        <a:buNone/>
                      </a:pPr>
                      <a:r>
                        <a:rPr/>
                        <a:t>PHIL 101 or one science course</a:t>
                      </a:r>
                    </a:p>
                  </a:txBody>
                </a:tc>
              </a:tr>
              <a:tr h="0">
                <a:tc>
                  <a:txBody>
                    <a:bodyPr/>
                    <a:lstStyle/>
                    <a:p>
                      <a:pPr lvl="0" indent="0" marL="0">
                        <a:buNone/>
                      </a:pPr>
                      <a:r>
                        <a:rPr/>
                        <a:t>PHIL 302</a:t>
                      </a:r>
                    </a:p>
                  </a:txBody>
                </a:tc>
                <a:tc>
                  <a:txBody>
                    <a:bodyPr/>
                    <a:lstStyle/>
                    <a:p>
                      <a:pPr lvl="0" indent="0" marL="0">
                        <a:buNone/>
                      </a:pPr>
                      <a:r>
                        <a:rPr/>
                        <a:t>Modern Philosophy</a:t>
                      </a:r>
                    </a:p>
                  </a:txBody>
                </a:tc>
                <a:tc>
                  <a:txBody>
                    <a:bodyPr/>
                    <a:lstStyle/>
                    <a:p>
                      <a:pPr lvl="0" indent="0" marL="0">
                        <a:buNone/>
                      </a:pPr>
                      <a:r>
                        <a:rPr/>
                        <a:t>4</a:t>
                      </a:r>
                    </a:p>
                  </a:txBody>
                </a:tc>
                <a:tc>
                  <a:txBody>
                    <a:bodyPr/>
                    <a:lstStyle/>
                    <a:p>
                      <a:pPr lvl="0" indent="0" marL="0">
                        <a:buNone/>
                      </a:pPr>
                      <a:r>
                        <a:rPr/>
                        <a:t>PHIL 201</a:t>
                      </a:r>
                    </a:p>
                  </a:txBody>
                </a:tc>
              </a:tr>
              <a:tr h="0">
                <a:tc>
                  <a:txBody>
                    <a:bodyPr/>
                    <a:lstStyle/>
                    <a:p>
                      <a:pPr lvl="0" indent="0" marL="0">
                        <a:buNone/>
                      </a:pPr>
                      <a:r>
                        <a:rPr/>
                        <a:t>PHIL 325</a:t>
                      </a:r>
                    </a:p>
                  </a:txBody>
                </a:tc>
                <a:tc>
                  <a:txBody>
                    <a:bodyPr/>
                    <a:lstStyle/>
                    <a:p>
                      <a:pPr lvl="0" indent="0" marL="0">
                        <a:buNone/>
                      </a:pPr>
                      <a:r>
                        <a:rPr/>
                        <a:t>Ethics of Technology</a:t>
                      </a:r>
                    </a:p>
                  </a:txBody>
                </a:tc>
                <a:tc>
                  <a:txBody>
                    <a:bodyPr/>
                    <a:lstStyle/>
                    <a:p>
                      <a:pPr lvl="0" indent="0" marL="0">
                        <a:buNone/>
                      </a:pPr>
                      <a:r>
                        <a:rPr/>
                        <a:t>3</a:t>
                      </a:r>
                    </a:p>
                  </a:txBody>
                </a:tc>
                <a:tc>
                  <a:txBody>
                    <a:bodyPr/>
                    <a:lstStyle/>
                    <a:p>
                      <a:pPr lvl="0" indent="0" marL="0">
                        <a:buNone/>
                      </a:pPr>
                      <a:r>
                        <a:rPr/>
                        <a:t>PHIL 210 or junior standing</a:t>
                      </a:r>
                    </a:p>
                  </a:txBody>
                </a:tc>
              </a:tr>
              <a:tr h="0">
                <a:tc>
                  <a:txBody>
                    <a:bodyPr/>
                    <a:lstStyle/>
                    <a:p>
                      <a:pPr lvl="0" indent="0" marL="0">
                        <a:buNone/>
                      </a:pPr>
                      <a:r>
                        <a:rPr/>
                        <a:t>PHIL 341</a:t>
                      </a:r>
                    </a:p>
                  </a:txBody>
                </a:tc>
                <a:tc>
                  <a:txBody>
                    <a:bodyPr/>
                    <a:lstStyle/>
                    <a:p>
                      <a:pPr lvl="0" indent="0" marL="0">
                        <a:buNone/>
                      </a:pPr>
                      <a:r>
                        <a:rPr/>
                        <a:t>Existentialism</a:t>
                      </a:r>
                    </a:p>
                  </a:txBody>
                </a:tc>
                <a:tc>
                  <a:txBody>
                    <a:bodyPr/>
                    <a:lstStyle/>
                    <a:p>
                      <a:pPr lvl="0" indent="0" marL="0">
                        <a:buNone/>
                      </a:pPr>
                      <a:r>
                        <a:rPr/>
                        <a:t>3</a:t>
                      </a:r>
                    </a:p>
                  </a:txBody>
                </a:tc>
                <a:tc>
                  <a:txBody>
                    <a:bodyPr/>
                    <a:lstStyle/>
                    <a:p>
                      <a:pPr lvl="0" indent="0" marL="0">
                        <a:buNone/>
                      </a:pPr>
                      <a:r>
                        <a:rPr/>
                        <a:t>PHIL 101</a:t>
                      </a:r>
                    </a:p>
                  </a:txBody>
                </a:tc>
              </a:tr>
              <a:tr h="0">
                <a:tc>
                  <a:txBody>
                    <a:bodyPr/>
                    <a:lstStyle/>
                    <a:p>
                      <a:pPr lvl="0" indent="0" marL="0">
                        <a:buNone/>
                      </a:pPr>
                      <a:r>
                        <a:rPr/>
                        <a:t>PHIL 370</a:t>
                      </a:r>
                    </a:p>
                  </a:txBody>
                </a:tc>
                <a:tc>
                  <a:txBody>
                    <a:bodyPr/>
                    <a:lstStyle/>
                    <a:p>
                      <a:pPr lvl="0" indent="0" marL="0">
                        <a:buNone/>
                      </a:pPr>
                      <a:r>
                        <a:rPr/>
                        <a:t>Asian Philosophies</a:t>
                      </a:r>
                    </a:p>
                  </a:txBody>
                </a:tc>
                <a:tc>
                  <a:txBody>
                    <a:bodyPr/>
                    <a:lstStyle/>
                    <a:p>
                      <a:pPr lvl="0" indent="0" marL="0">
                        <a:buNone/>
                      </a:pPr>
                      <a:r>
                        <a:rPr/>
                        <a:t>3</a:t>
                      </a:r>
                    </a:p>
                  </a:txBody>
                </a:tc>
                <a:tc>
                  <a:txBody>
                    <a:bodyPr/>
                    <a:lstStyle/>
                    <a:p>
                      <a:pPr lvl="0" indent="0" marL="0">
                        <a:buNone/>
                      </a:pPr>
                      <a:r>
                        <a:rPr/>
                        <a:t>PHIL 101 or consent of instructor</a:t>
                      </a:r>
                    </a:p>
                  </a:txBody>
                </a:tc>
              </a:tr>
              <a:tr h="0">
                <a:tc>
                  <a:txBody>
                    <a:bodyPr/>
                    <a:lstStyle/>
                    <a:p>
                      <a:pPr lvl="0" indent="0" marL="0">
                        <a:buNone/>
                      </a:pPr>
                      <a:r>
                        <a:rPr/>
                        <a:t>PHIL 385</a:t>
                      </a:r>
                    </a:p>
                  </a:txBody>
                </a:tc>
                <a:tc>
                  <a:txBody>
                    <a:bodyPr/>
                    <a:lstStyle/>
                    <a:p>
                      <a:pPr lvl="0" indent="0" marL="0">
                        <a:buNone/>
                      </a:pPr>
                      <a:r>
                        <a:rPr/>
                        <a:t>Political Philosophy</a:t>
                      </a:r>
                    </a:p>
                  </a:txBody>
                </a:tc>
                <a:tc>
                  <a:txBody>
                    <a:bodyPr/>
                    <a:lstStyle/>
                    <a:p>
                      <a:pPr lvl="0" indent="0" marL="0">
                        <a:buNone/>
                      </a:pPr>
                      <a:r>
                        <a:rPr/>
                        <a:t>3</a:t>
                      </a:r>
                    </a:p>
                  </a:txBody>
                </a:tc>
                <a:tc>
                  <a:txBody>
                    <a:bodyPr/>
                    <a:lstStyle/>
                    <a:p>
                      <a:pPr lvl="0" indent="0" marL="0">
                        <a:buNone/>
                      </a:pPr>
                      <a:r>
                        <a:rPr/>
                        <a:t>PHIL 101 and PHIL 201</a:t>
                      </a:r>
                    </a:p>
                  </a:txBody>
                </a:tc>
              </a:tr>
              <a:tr h="0">
                <a:tc>
                  <a:txBody>
                    <a:bodyPr/>
                    <a:lstStyle/>
                    <a:p>
                      <a:pPr lvl="0" indent="0" marL="0">
                        <a:buNone/>
                      </a:pPr>
                      <a:r>
                        <a:rPr/>
                        <a:t>PHIL 400</a:t>
                      </a:r>
                    </a:p>
                  </a:txBody>
                </a:tc>
                <a:tc>
                  <a:txBody>
                    <a:bodyPr/>
                    <a:lstStyle/>
                    <a:p>
                      <a:pPr lvl="0" indent="0" marL="0">
                        <a:buNone/>
                      </a:pPr>
                      <a:r>
                        <a:rPr/>
                        <a:t>Senior Seminar</a:t>
                      </a:r>
                    </a:p>
                  </a:txBody>
                </a:tc>
                <a:tc>
                  <a:txBody>
                    <a:bodyPr/>
                    <a:lstStyle/>
                    <a:p>
                      <a:pPr lvl="0" indent="0" marL="0">
                        <a:buNone/>
                      </a:pPr>
                      <a:r>
                        <a:rPr/>
                        <a:t>3</a:t>
                      </a:r>
                    </a:p>
                  </a:txBody>
                </a:tc>
                <a:tc>
                  <a:txBody>
                    <a:bodyPr/>
                    <a:lstStyle/>
                    <a:p>
                      <a:pPr lvl="0" indent="0" marL="0">
                        <a:buNone/>
                      </a:pPr>
                      <a:r>
                        <a:rPr/>
                        <a:t>Senior standing in Philosophy major</a:t>
                      </a:r>
                    </a:p>
                  </a:txBody>
                </a:tc>
              </a:tr>
              <a:tr h="0">
                <a:tc>
                  <a:txBody>
                    <a:bodyPr/>
                    <a:lstStyle/>
                    <a:p>
                      <a:pPr lvl="0" indent="0" marL="0">
                        <a:buNone/>
                      </a:pPr>
                      <a:r>
                        <a:rPr/>
                        <a:t>PHIL 410</a:t>
                      </a:r>
                    </a:p>
                  </a:txBody>
                </a:tc>
                <a:tc>
                  <a:txBody>
                    <a:bodyPr/>
                    <a:lstStyle/>
                    <a:p>
                      <a:pPr lvl="0" indent="0" marL="0">
                        <a:buNone/>
                      </a:pPr>
                      <a:r>
                        <a:rPr/>
                        <a:t>Advanced Topics in Contemporary Ethics</a:t>
                      </a:r>
                    </a:p>
                  </a:txBody>
                </a:tc>
                <a:tc>
                  <a:txBody>
                    <a:bodyPr/>
                    <a:lstStyle/>
                    <a:p>
                      <a:pPr lvl="0" indent="0" marL="0">
                        <a:buNone/>
                      </a:pPr>
                      <a:r>
                        <a:rPr/>
                        <a:t>3</a:t>
                      </a:r>
                    </a:p>
                  </a:txBody>
                </a:tc>
                <a:tc>
                  <a:txBody>
                    <a:bodyPr/>
                    <a:lstStyle/>
                    <a:p>
                      <a:pPr lvl="0" indent="0" marL="0">
                        <a:buNone/>
                      </a:pPr>
                      <a:r>
                        <a:rPr/>
                        <a:t>PHIL 210 and junior standing</a:t>
                      </a:r>
                    </a:p>
                  </a:txBody>
                </a:tc>
              </a:tr>
              <a:tr h="0">
                <a:tc>
                  <a:txBody>
                    <a:bodyPr/>
                    <a:lstStyle/>
                    <a:p>
                      <a:pPr lvl="0" indent="0" marL="0">
                        <a:buNone/>
                      </a:pPr>
                      <a:r>
                        <a:rPr/>
                        <a:t>PHIL 445</a:t>
                      </a:r>
                    </a:p>
                  </a:txBody>
                </a:tc>
                <a:tc>
                  <a:txBody>
                    <a:bodyPr/>
                    <a:lstStyle/>
                    <a:p>
                      <a:pPr lvl="0" indent="0" marL="0">
                        <a:buNone/>
                      </a:pPr>
                      <a:r>
                        <a:rPr/>
                        <a:t>Graduate Proseminar in Philosophy</a:t>
                      </a:r>
                    </a:p>
                  </a:txBody>
                </a:tc>
                <a:tc>
                  <a:txBody>
                    <a:bodyPr/>
                    <a:lstStyle/>
                    <a:p>
                      <a:pPr lvl="0" indent="0" marL="0">
                        <a:buNone/>
                      </a:pPr>
                      <a:r>
                        <a:rPr/>
                        <a:t>3</a:t>
                      </a:r>
                    </a:p>
                  </a:txBody>
                </a:tc>
                <a:tc>
                  <a:txBody>
                    <a:bodyPr/>
                    <a:lstStyle/>
                    <a:p>
                      <a:pPr lvl="0" indent="0" marL="0">
                        <a:buNone/>
                      </a:pPr>
                      <a:r>
                        <a:rPr/>
                        <a:t>Admission to M.A. or permission</a:t>
                      </a:r>
                    </a:p>
                  </a:txBody>
                </a:tc>
              </a:tr>
              <a:tr h="0">
                <a:tc>
                  <a:txBody>
                    <a:bodyPr/>
                    <a:lstStyle/>
                    <a:p>
                      <a:pPr lvl="0" indent="0" marL="0">
                        <a:buNone/>
                      </a:pPr>
                      <a:r>
                        <a:rPr/>
                        <a:t>PHIL 503</a:t>
                      </a:r>
                    </a:p>
                  </a:txBody>
                </a:tc>
                <a:tc>
                  <a:txBody>
                    <a:bodyPr/>
                    <a:lstStyle/>
                    <a:p>
                      <a:pPr lvl="0" indent="0" marL="0">
                        <a:buNone/>
                      </a:pPr>
                      <a:r>
                        <a:rPr/>
                        <a:t>Seminar in Analytic Philosophy</a:t>
                      </a:r>
                    </a:p>
                  </a:txBody>
                </a:tc>
                <a:tc>
                  <a:txBody>
                    <a:bodyPr/>
                    <a:lstStyle/>
                    <a:p>
                      <a:pPr lvl="0" indent="0" marL="0">
                        <a:buNone/>
                      </a:pPr>
                      <a:r>
                        <a:rPr/>
                        <a:t>3</a:t>
                      </a:r>
                    </a:p>
                  </a:txBody>
                </a:tc>
                <a:tc>
                  <a:txBody>
                    <a:bodyPr/>
                    <a:lstStyle/>
                    <a:p>
                      <a:pPr lvl="0" indent="0" marL="0">
                        <a:buNone/>
                      </a:pPr>
                      <a:r>
                        <a:rPr/>
                        <a:t>Graduate standing or consent of instructor</a:t>
                      </a:r>
                    </a:p>
                  </a:txBody>
                </a:tc>
              </a:tr>
              <a:tr h="0">
                <a:tc>
                  <a:txBody>
                    <a:bodyPr/>
                    <a:lstStyle/>
                    <a:p>
                      <a:pPr lvl="0" indent="0" marL="0">
                        <a:buNone/>
                      </a:pPr>
                      <a:r>
                        <a:rPr/>
                        <a:t>PHIL 514</a:t>
                      </a:r>
                    </a:p>
                  </a:txBody>
                </a:tc>
                <a:tc>
                  <a:txBody>
                    <a:bodyPr/>
                    <a:lstStyle/>
                    <a:p>
                      <a:pPr lvl="0" indent="0" marL="0">
                        <a:buNone/>
                      </a:pPr>
                      <a:r>
                        <a:rPr/>
                        <a:t>Seminar in Phenomenology and Hermeneutics</a:t>
                      </a:r>
                    </a:p>
                  </a:txBody>
                </a:tc>
                <a:tc>
                  <a:txBody>
                    <a:bodyPr/>
                    <a:lstStyle/>
                    <a:p>
                      <a:pPr lvl="0" indent="0" marL="0">
                        <a:buNone/>
                      </a:pPr>
                      <a:r>
                        <a:rPr/>
                        <a:t>3</a:t>
                      </a:r>
                    </a:p>
                  </a:txBody>
                </a:tc>
                <a:tc>
                  <a:txBody>
                    <a:bodyPr/>
                    <a:lstStyle/>
                    <a:p>
                      <a:pPr lvl="0" indent="0" marL="0">
                        <a:buNone/>
                      </a:pPr>
                      <a:r>
                        <a:rPr/>
                        <a:t>Graduate standing</a:t>
                      </a:r>
                    </a:p>
                  </a:txBody>
                </a:tc>
              </a:tr>
              <a:tr h="0">
                <a:tc>
                  <a:txBody>
                    <a:bodyPr/>
                    <a:lstStyle/>
                    <a:p>
                      <a:pPr lvl="0" indent="0" marL="0">
                        <a:buNone/>
                      </a:pPr>
                      <a:r>
                        <a:rPr/>
                        <a:t>PHIL 560</a:t>
                      </a:r>
                    </a:p>
                  </a:txBody>
                </a:tc>
                <a:tc>
                  <a:txBody>
                    <a:bodyPr/>
                    <a:lstStyle/>
                    <a:p>
                      <a:pPr lvl="0" indent="0" marL="0">
                        <a:buNone/>
                      </a:pPr>
                      <a:r>
                        <a:rPr/>
                        <a:t>Research in Philosophy</a:t>
                      </a:r>
                    </a:p>
                  </a:txBody>
                </a:tc>
                <a:tc>
                  <a:txBody>
                    <a:bodyPr/>
                    <a:lstStyle/>
                    <a:p>
                      <a:pPr lvl="0" indent="0" marL="0">
                        <a:buNone/>
                      </a:pPr>
                      <a:r>
                        <a:rPr/>
                        <a:t>3–6</a:t>
                      </a:r>
                    </a:p>
                  </a:txBody>
                </a:tc>
                <a:tc>
                  <a:txBody>
                    <a:bodyPr/>
                    <a:lstStyle/>
                    <a:p>
                      <a:pPr lvl="0" indent="0" marL="0">
                        <a:buNone/>
                      </a:pPr>
                      <a:r>
                        <a:rPr/>
                        <a:t>Graduate standing and department approval</a:t>
                      </a: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For more information, consult the Department of Philosophy academic adviser or visit our website at [philosophy.cendara.edu].</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2025-07-29T15:04:05Z</dcterms:created>
  <dcterms:modified xsi:type="dcterms:W3CDTF">2025-07-29T15:04:05Z</dcterms:modified>
</cp:coreProperties>
</file>

<file path=docProps/custom.xml><?xml version="1.0" encoding="utf-8"?>
<Properties xmlns="http://schemas.openxmlformats.org/officeDocument/2006/custom-properties" xmlns:vt="http://schemas.openxmlformats.org/officeDocument/2006/docPropsVTypes"/>
</file>