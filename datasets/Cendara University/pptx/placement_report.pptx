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9" Type="http://schemas.openxmlformats.org/officeDocument/2006/relationships/viewProps" Target="viewProps.xml" /><Relationship Id="rId18" Type="http://schemas.openxmlformats.org/officeDocument/2006/relationships/presProps" Target="presProps.xml" /><Relationship Id="rId1" Type="http://schemas.openxmlformats.org/officeDocument/2006/relationships/slideMaster" Target="slideMasters/slideMaster1.xml" /><Relationship Id="rId21" Type="http://schemas.openxmlformats.org/officeDocument/2006/relationships/tableStyles" Target="tableStyles.xml" /><Relationship Id="rId2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Cendara University Placement Report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0" marL="0">
              <a:buNone/>
            </a:pPr>
            <a:r>
              <a:rPr/>
              <a:t>Cendara University is committed to bridging academic excellence with meaningful career opportunities for its graduates. Our robust campus placement program leverages strong industry connections, comprehensive career services, and dedicated faculty mentorship to ensure that students from all academic backgrounds transition successfully into the workforce, further study, or entrepreneurial ventures.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Career Services at Cendara</a:t>
            </a:r>
          </a:p>
        </p:txBody>
      </p:sp>
      <p:sp>
        <p:nvSpPr>
          <p:cNvPr id="3" name="Content Placeholder 2"/>
          <p:cNvSpPr>
            <a:spLocks noGrp="1"/>
          </p:cNvSpPr>
          <p:nvPr>
            <p:ph idx="1"/>
          </p:nvPr>
        </p:nvSpPr>
        <p:spPr/>
        <p:txBody>
          <a:bodyPr/>
          <a:lstStyle/>
          <a:p>
            <a:pPr lvl="0" indent="0" marL="0">
              <a:buNone/>
            </a:pPr>
            <a:r>
              <a:rPr/>
              <a:t>Cendara University’s Center for Career Development (CCD) provides the following services:</a:t>
            </a:r>
          </a:p>
          <a:p>
            <a:pPr lvl="0"/>
            <a:r>
              <a:rPr b="1"/>
              <a:t>On-Campus Recruitment Drives</a:t>
            </a:r>
          </a:p>
          <a:p>
            <a:pPr lvl="0"/>
            <a:r>
              <a:rPr b="1"/>
              <a:t>Industry Internship Programs</a:t>
            </a:r>
          </a:p>
          <a:p>
            <a:pPr lvl="0"/>
            <a:r>
              <a:rPr b="1"/>
              <a:t>Career Counseling &amp; Resume Workshops</a:t>
            </a:r>
          </a:p>
          <a:p>
            <a:pPr lvl="0"/>
            <a:r>
              <a:rPr b="1"/>
              <a:t>Mock Interviews &amp; Assessment Centers</a:t>
            </a:r>
          </a:p>
          <a:p>
            <a:pPr lvl="0"/>
            <a:r>
              <a:rPr b="1"/>
              <a:t>Employer Networking Events</a:t>
            </a:r>
          </a:p>
          <a:p>
            <a:pPr lvl="0"/>
            <a:r>
              <a:rPr b="1"/>
              <a:t>Alumni Mentorship Program</a:t>
            </a:r>
          </a:p>
          <a:p>
            <a:pPr lvl="0"/>
            <a:r>
              <a:rPr b="1"/>
              <a:t>Graduate and Professional School Advising</a:t>
            </a:r>
          </a:p>
          <a:p>
            <a:pPr lvl="0" indent="0" marL="0">
              <a:buNone/>
            </a:pPr>
            <a:r>
              <a:rPr/>
              <a:t>Contact:</a:t>
            </a:r>
            <a:br/>
            <a:r>
              <a:rPr/>
              <a:t>Cendara Center for Career Development</a:t>
            </a:r>
            <a:br/>
            <a:r>
              <a:rPr/>
              <a:t>Email: career.services@cendara.edu | Tel: +1 (512) 553-7011</a:t>
            </a:r>
            <a:br/>
            <a:r>
              <a:rPr/>
              <a:t>Director: Ms. Freya Tan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Placement Statistics (2022-2023)</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School</a:t>
                      </a:r>
                    </a:p>
                  </a:txBody>
                  <a:tcPr/>
                </a:tc>
                <a:tc>
                  <a:txBody>
                    <a:bodyPr/>
                    <a:lstStyle/>
                    <a:p>
                      <a:pPr lvl="0" indent="0" marL="0" algn="ctr">
                        <a:buNone/>
                      </a:pPr>
                      <a:r>
                        <a:rPr/>
                        <a:t>Placement Rate</a:t>
                      </a:r>
                    </a:p>
                  </a:txBody>
                  <a:tcPr/>
                </a:tc>
                <a:tc>
                  <a:txBody>
                    <a:bodyPr/>
                    <a:lstStyle/>
                    <a:p>
                      <a:pPr lvl="0" indent="0" marL="0" algn="ctr">
                        <a:buNone/>
                      </a:pPr>
                      <a:r>
                        <a:rPr/>
                        <a:t>Median Salary (USD)</a:t>
                      </a:r>
                    </a:p>
                  </a:txBody>
                  <a:tcPr/>
                </a:tc>
                <a:tc>
                  <a:txBody>
                    <a:bodyPr/>
                    <a:lstStyle/>
                    <a:p>
                      <a:pPr lvl="0" indent="0" marL="0">
                        <a:buNone/>
                      </a:pPr>
                      <a:r>
                        <a:rPr/>
                        <a:t>Top Recruiters</a:t>
                      </a:r>
                    </a:p>
                  </a:txBody>
                  <a:tcPr/>
                </a:tc>
              </a:tr>
              <a:tr h="0">
                <a:tc>
                  <a:txBody>
                    <a:bodyPr/>
                    <a:lstStyle/>
                    <a:p>
                      <a:pPr lvl="0" indent="0" marL="0">
                        <a:buNone/>
                      </a:pPr>
                      <a:r>
                        <a:rPr/>
                        <a:t>School of Business</a:t>
                      </a:r>
                    </a:p>
                  </a:txBody>
                </a:tc>
                <a:tc>
                  <a:txBody>
                    <a:bodyPr/>
                    <a:lstStyle/>
                    <a:p>
                      <a:pPr lvl="0" indent="0" marL="0" algn="ctr">
                        <a:buNone/>
                      </a:pPr>
                      <a:r>
                        <a:rPr/>
                        <a:t>98%</a:t>
                      </a:r>
                    </a:p>
                  </a:txBody>
                </a:tc>
                <a:tc>
                  <a:txBody>
                    <a:bodyPr/>
                    <a:lstStyle/>
                    <a:p>
                      <a:pPr lvl="0" indent="0" marL="0" algn="ctr">
                        <a:buNone/>
                      </a:pPr>
                      <a:r>
                        <a:rPr/>
                        <a:t>$61,000</a:t>
                      </a:r>
                    </a:p>
                  </a:txBody>
                </a:tc>
                <a:tc>
                  <a:txBody>
                    <a:bodyPr/>
                    <a:lstStyle/>
                    <a:p>
                      <a:pPr lvl="0" indent="0" marL="0">
                        <a:buNone/>
                      </a:pPr>
                      <a:r>
                        <a:rPr/>
                        <a:t>Deloitte, Epsilon Partners, Vanguard</a:t>
                      </a:r>
                    </a:p>
                  </a:txBody>
                </a:tc>
              </a:tr>
              <a:tr h="0">
                <a:tc>
                  <a:txBody>
                    <a:bodyPr/>
                    <a:lstStyle/>
                    <a:p>
                      <a:pPr lvl="0" indent="0" marL="0">
                        <a:buNone/>
                      </a:pPr>
                      <a:r>
                        <a:rPr/>
                        <a:t>School of Engineering &amp; Tech</a:t>
                      </a:r>
                    </a:p>
                  </a:txBody>
                </a:tc>
                <a:tc>
                  <a:txBody>
                    <a:bodyPr/>
                    <a:lstStyle/>
                    <a:p>
                      <a:pPr lvl="0" indent="0" marL="0" algn="ctr">
                        <a:buNone/>
                      </a:pPr>
                      <a:r>
                        <a:rPr/>
                        <a:t>96%</a:t>
                      </a:r>
                    </a:p>
                  </a:txBody>
                </a:tc>
                <a:tc>
                  <a:txBody>
                    <a:bodyPr/>
                    <a:lstStyle/>
                    <a:p>
                      <a:pPr lvl="0" indent="0" marL="0" algn="ctr">
                        <a:buNone/>
                      </a:pPr>
                      <a:r>
                        <a:rPr/>
                        <a:t>$65,500</a:t>
                      </a:r>
                    </a:p>
                  </a:txBody>
                </a:tc>
                <a:tc>
                  <a:txBody>
                    <a:bodyPr/>
                    <a:lstStyle/>
                    <a:p>
                      <a:pPr lvl="0" indent="0" marL="0">
                        <a:buNone/>
                      </a:pPr>
                      <a:r>
                        <a:rPr/>
                        <a:t>Accelero Systems, Quantia Tech, Bluemont Energy</a:t>
                      </a:r>
                    </a:p>
                  </a:txBody>
                </a:tc>
              </a:tr>
              <a:tr h="0">
                <a:tc>
                  <a:txBody>
                    <a:bodyPr/>
                    <a:lstStyle/>
                    <a:p>
                      <a:pPr lvl="0" indent="0" marL="0">
                        <a:buNone/>
                      </a:pPr>
                      <a:r>
                        <a:rPr/>
                        <a:t>School of Health Sciences</a:t>
                      </a:r>
                    </a:p>
                  </a:txBody>
                </a:tc>
                <a:tc>
                  <a:txBody>
                    <a:bodyPr/>
                    <a:lstStyle/>
                    <a:p>
                      <a:pPr lvl="0" indent="0" marL="0" algn="ctr">
                        <a:buNone/>
                      </a:pPr>
                      <a:r>
                        <a:rPr/>
                        <a:t>94%</a:t>
                      </a:r>
                    </a:p>
                  </a:txBody>
                </a:tc>
                <a:tc>
                  <a:txBody>
                    <a:bodyPr/>
                    <a:lstStyle/>
                    <a:p>
                      <a:pPr lvl="0" indent="0" marL="0" algn="ctr">
                        <a:buNone/>
                      </a:pPr>
                      <a:r>
                        <a:rPr/>
                        <a:t>$57,000</a:t>
                      </a:r>
                    </a:p>
                  </a:txBody>
                </a:tc>
                <a:tc>
                  <a:txBody>
                    <a:bodyPr/>
                    <a:lstStyle/>
                    <a:p>
                      <a:pPr lvl="0" indent="0" marL="0">
                        <a:buNone/>
                      </a:pPr>
                      <a:r>
                        <a:rPr/>
                        <a:t>Silver Creek Hospital, Kinetix Health</a:t>
                      </a:r>
                    </a:p>
                  </a:txBody>
                </a:tc>
              </a:tr>
              <a:tr h="0">
                <a:tc>
                  <a:txBody>
                    <a:bodyPr/>
                    <a:lstStyle/>
                    <a:p>
                      <a:pPr lvl="0" indent="0" marL="0">
                        <a:buNone/>
                      </a:pPr>
                      <a:r>
                        <a:rPr/>
                        <a:t>School of Sciences</a:t>
                      </a:r>
                    </a:p>
                  </a:txBody>
                </a:tc>
                <a:tc>
                  <a:txBody>
                    <a:bodyPr/>
                    <a:lstStyle/>
                    <a:p>
                      <a:pPr lvl="0" indent="0" marL="0" algn="ctr">
                        <a:buNone/>
                      </a:pPr>
                      <a:r>
                        <a:rPr/>
                        <a:t>91%</a:t>
                      </a:r>
                    </a:p>
                  </a:txBody>
                </a:tc>
                <a:tc>
                  <a:txBody>
                    <a:bodyPr/>
                    <a:lstStyle/>
                    <a:p>
                      <a:pPr lvl="0" indent="0" marL="0" algn="ctr">
                        <a:buNone/>
                      </a:pPr>
                      <a:r>
                        <a:rPr/>
                        <a:t>$56,000</a:t>
                      </a:r>
                    </a:p>
                  </a:txBody>
                </a:tc>
                <a:tc>
                  <a:txBody>
                    <a:bodyPr/>
                    <a:lstStyle/>
                    <a:p>
                      <a:pPr lvl="0" indent="0" marL="0">
                        <a:buNone/>
                      </a:pPr>
                      <a:r>
                        <a:rPr/>
                        <a:t>GeneVista Labs, EnviroLogic, DataWave Analytics</a:t>
                      </a:r>
                    </a:p>
                  </a:txBody>
                </a:tc>
              </a:tr>
              <a:tr h="0">
                <a:tc>
                  <a:txBody>
                    <a:bodyPr/>
                    <a:lstStyle/>
                    <a:p>
                      <a:pPr lvl="0" indent="0" marL="0">
                        <a:buNone/>
                      </a:pPr>
                      <a:r>
                        <a:rPr/>
                        <a:t>School of Social Sciences</a:t>
                      </a:r>
                    </a:p>
                  </a:txBody>
                </a:tc>
                <a:tc>
                  <a:txBody>
                    <a:bodyPr/>
                    <a:lstStyle/>
                    <a:p>
                      <a:pPr lvl="0" indent="0" marL="0" algn="ctr">
                        <a:buNone/>
                      </a:pPr>
                      <a:r>
                        <a:rPr/>
                        <a:t>89%</a:t>
                      </a:r>
                    </a:p>
                  </a:txBody>
                </a:tc>
                <a:tc>
                  <a:txBody>
                    <a:bodyPr/>
                    <a:lstStyle/>
                    <a:p>
                      <a:pPr lvl="0" indent="0" marL="0" algn="ctr">
                        <a:buNone/>
                      </a:pPr>
                      <a:r>
                        <a:rPr/>
                        <a:t>$51,000</a:t>
                      </a:r>
                    </a:p>
                  </a:txBody>
                </a:tc>
                <a:tc>
                  <a:txBody>
                    <a:bodyPr/>
                    <a:lstStyle/>
                    <a:p>
                      <a:pPr lvl="0" indent="0" marL="0">
                        <a:buNone/>
                      </a:pPr>
                      <a:r>
                        <a:rPr/>
                        <a:t>Atlas Research, StateEd Solutions</a:t>
                      </a:r>
                    </a:p>
                  </a:txBody>
                </a:tc>
              </a:tr>
              <a:tr h="0">
                <a:tc>
                  <a:txBody>
                    <a:bodyPr/>
                    <a:lstStyle/>
                    <a:p>
                      <a:pPr lvl="0" indent="0" marL="0">
                        <a:buNone/>
                      </a:pPr>
                      <a:r>
                        <a:rPr/>
                        <a:t>School of Arts &amp; Humanities</a:t>
                      </a:r>
                    </a:p>
                  </a:txBody>
                </a:tc>
                <a:tc>
                  <a:txBody>
                    <a:bodyPr/>
                    <a:lstStyle/>
                    <a:p>
                      <a:pPr lvl="0" indent="0" marL="0" algn="ctr">
                        <a:buNone/>
                      </a:pPr>
                      <a:r>
                        <a:rPr/>
                        <a:t>83%</a:t>
                      </a:r>
                    </a:p>
                  </a:txBody>
                </a:tc>
                <a:tc>
                  <a:txBody>
                    <a:bodyPr/>
                    <a:lstStyle/>
                    <a:p>
                      <a:pPr lvl="0" indent="0" marL="0" algn="ctr">
                        <a:buNone/>
                      </a:pPr>
                      <a:r>
                        <a:rPr/>
                        <a:t>$47,000</a:t>
                      </a:r>
                    </a:p>
                  </a:txBody>
                </a:tc>
                <a:tc>
                  <a:txBody>
                    <a:bodyPr/>
                    <a:lstStyle/>
                    <a:p>
                      <a:pPr lvl="0" indent="0" marL="0">
                        <a:buNone/>
                      </a:pPr>
                      <a:r>
                        <a:rPr/>
                        <a:t>Starling Publishing, Museo &amp; Co.</a:t>
                      </a:r>
                    </a:p>
                  </a:txBody>
                </a:tc>
              </a:tr>
              <a:tr h="0">
                <a:tc>
                  <a:txBody>
                    <a:bodyPr/>
                    <a:lstStyle/>
                    <a:p>
                      <a:pPr lvl="0" indent="0" marL="0">
                        <a:buNone/>
                      </a:pPr>
                      <a:r>
                        <a:rPr/>
                        <a:t>School of Education</a:t>
                      </a:r>
                    </a:p>
                  </a:txBody>
                </a:tc>
                <a:tc>
                  <a:txBody>
                    <a:bodyPr/>
                    <a:lstStyle/>
                    <a:p>
                      <a:pPr lvl="0" indent="0" marL="0" algn="ctr">
                        <a:buNone/>
                      </a:pPr>
                      <a:r>
                        <a:rPr/>
                        <a:t>93%</a:t>
                      </a:r>
                    </a:p>
                  </a:txBody>
                </a:tc>
                <a:tc>
                  <a:txBody>
                    <a:bodyPr/>
                    <a:lstStyle/>
                    <a:p>
                      <a:pPr lvl="0" indent="0" marL="0" algn="ctr">
                        <a:buNone/>
                      </a:pPr>
                      <a:r>
                        <a:rPr/>
                        <a:t>$46,500</a:t>
                      </a:r>
                    </a:p>
                  </a:txBody>
                </a:tc>
                <a:tc>
                  <a:txBody>
                    <a:bodyPr/>
                    <a:lstStyle/>
                    <a:p>
                      <a:pPr lvl="0" indent="0" marL="0">
                        <a:buNone/>
                      </a:pPr>
                      <a:r>
                        <a:rPr/>
                        <a:t>Metro Unified School District, TeachForward</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Overall University Placement Rate:</a:t>
            </a:r>
            <a:r>
              <a:rPr/>
              <a:t> 92%</a:t>
            </a:r>
          </a:p>
          <a:p>
            <a:pPr lvl="0"/>
            <a:r>
              <a:rPr b="1"/>
              <a:t>Percentage of Students in Graduate/Professional School:</a:t>
            </a:r>
            <a:r>
              <a:rPr/>
              <a:t> 15%</a:t>
            </a:r>
          </a:p>
          <a:p>
            <a:pPr lvl="0"/>
            <a:r>
              <a:rPr b="1"/>
              <a:t>Entrepreneurship Launches Among Graduates:</a:t>
            </a:r>
            <a:r>
              <a:rPr/>
              <a:t> 6%</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Sector-wise Placement Distribution (Class of 2023)</a:t>
            </a:r>
          </a:p>
        </p:txBody>
      </p:sp>
      <p:sp>
        <p:nvSpPr>
          <p:cNvPr id="3" name="Content Placeholder 2"/>
          <p:cNvSpPr>
            <a:spLocks noGrp="1"/>
          </p:cNvSpPr>
          <p:nvPr>
            <p:ph idx="1"/>
          </p:nvPr>
        </p:nvSpPr>
        <p:spPr/>
        <p:txBody>
          <a:bodyPr/>
          <a:lstStyle/>
          <a:p>
            <a:pPr lvl="0"/>
            <a:r>
              <a:rPr b="1"/>
              <a:t>Corporate/Private Sector:</a:t>
            </a:r>
            <a:r>
              <a:rPr/>
              <a:t> 65%</a:t>
            </a:r>
          </a:p>
          <a:p>
            <a:pPr lvl="0"/>
            <a:r>
              <a:rPr b="1"/>
              <a:t>Public Sector/Government:</a:t>
            </a:r>
            <a:r>
              <a:rPr/>
              <a:t> 11%</a:t>
            </a:r>
          </a:p>
          <a:p>
            <a:pPr lvl="0"/>
            <a:r>
              <a:rPr b="1"/>
              <a:t>Non-Profit/Education:</a:t>
            </a:r>
            <a:r>
              <a:rPr/>
              <a:t> 10%</a:t>
            </a:r>
          </a:p>
          <a:p>
            <a:pPr lvl="0"/>
            <a:r>
              <a:rPr b="1"/>
              <a:t>Healthcare:</a:t>
            </a:r>
            <a:r>
              <a:rPr/>
              <a:t> 8%</a:t>
            </a:r>
          </a:p>
          <a:p>
            <a:pPr lvl="0"/>
            <a:r>
              <a:rPr b="1"/>
              <a:t>Graduate/Professional School:</a:t>
            </a:r>
            <a:r>
              <a:rPr/>
              <a:t> 6%</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Notable Placement Partners</a:t>
            </a:r>
          </a:p>
        </p:txBody>
      </p:sp>
      <p:sp>
        <p:nvSpPr>
          <p:cNvPr id="3" name="Content Placeholder 2"/>
          <p:cNvSpPr>
            <a:spLocks noGrp="1"/>
          </p:cNvSpPr>
          <p:nvPr>
            <p:ph idx="1"/>
          </p:nvPr>
        </p:nvSpPr>
        <p:spPr/>
        <p:txBody>
          <a:bodyPr/>
          <a:lstStyle/>
          <a:p>
            <a:pPr lvl="0" indent="0" marL="0">
              <a:buNone/>
            </a:pPr>
            <a:r>
              <a:rPr/>
              <a:t>Some of the key organizations who recruited our graduates in 2022-2023:</a:t>
            </a:r>
          </a:p>
          <a:p>
            <a:pPr lvl="0"/>
            <a:r>
              <a:rPr b="1"/>
              <a:t>Technology &amp; Engineering:</a:t>
            </a:r>
            <a:r>
              <a:rPr/>
              <a:t> Accelero Systems, Quantia Tech, Stratovault Solutions, Tyrian Robotics, Bluemont Energy</a:t>
            </a:r>
          </a:p>
          <a:p>
            <a:pPr lvl="0"/>
            <a:r>
              <a:rPr b="1"/>
              <a:t>Business &amp; Consulting:</a:t>
            </a:r>
            <a:r>
              <a:rPr/>
              <a:t> Deloitte, Epsilon Partners, Vanguard, Synergia Consulting</a:t>
            </a:r>
          </a:p>
          <a:p>
            <a:pPr lvl="0"/>
            <a:r>
              <a:rPr b="1"/>
              <a:t>Healthcare:</a:t>
            </a:r>
            <a:r>
              <a:rPr/>
              <a:t> Silver Creek Hospital, Kinetix Health, Elmway Medical Group</a:t>
            </a:r>
          </a:p>
          <a:p>
            <a:pPr lvl="0"/>
            <a:r>
              <a:rPr b="1"/>
              <a:t>Education:</a:t>
            </a:r>
            <a:r>
              <a:rPr/>
              <a:t> Metro Unified School District, TeachForward, Starlight Charter Academy</a:t>
            </a:r>
          </a:p>
          <a:p>
            <a:pPr lvl="0"/>
            <a:r>
              <a:rPr b="1"/>
              <a:t>Sciences &amp; Research:</a:t>
            </a:r>
            <a:r>
              <a:rPr/>
              <a:t> GeneVista Labs, EnviroLogic, DataWave Analytics</a:t>
            </a:r>
          </a:p>
          <a:p>
            <a:pPr lvl="0"/>
            <a:r>
              <a:rPr b="1"/>
              <a:t>Creative &amp; Media:</a:t>
            </a:r>
            <a:r>
              <a:rPr/>
              <a:t> Starling Publishing, Muse Media House, Museo &amp; Co.</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Internship Highlights</a:t>
            </a:r>
          </a:p>
        </p:txBody>
      </p:sp>
      <p:sp>
        <p:nvSpPr>
          <p:cNvPr id="3" name="Content Placeholder 2"/>
          <p:cNvSpPr>
            <a:spLocks noGrp="1"/>
          </p:cNvSpPr>
          <p:nvPr>
            <p:ph idx="1"/>
          </p:nvPr>
        </p:nvSpPr>
        <p:spPr/>
        <p:txBody>
          <a:bodyPr/>
          <a:lstStyle/>
          <a:p>
            <a:pPr lvl="0" indent="0" marL="0">
              <a:buNone/>
            </a:pPr>
            <a:r>
              <a:rPr/>
              <a:t>Over 480 students completed industry internships during the 2022-2023 academic year.</a:t>
            </a:r>
            <a:br/>
            <a:r>
              <a:rPr/>
              <a:t>Examples include:</a:t>
            </a:r>
          </a:p>
          <a:p>
            <a:pPr lvl="0"/>
            <a:r>
              <a:rPr b="1"/>
              <a:t>Isabella Tran (B.Sc. Computer Science):</a:t>
            </a:r>
            <a:r>
              <a:rPr/>
              <a:t> Software Engineering Intern at Quantia Tech</a:t>
            </a:r>
          </a:p>
          <a:p>
            <a:pPr lvl="0"/>
            <a:r>
              <a:rPr b="1"/>
              <a:t>James Olafson (B.B.A. Finance):</a:t>
            </a:r>
            <a:r>
              <a:rPr/>
              <a:t> Financial Analyst Intern at Vanguard</a:t>
            </a:r>
          </a:p>
          <a:p>
            <a:pPr lvl="0"/>
            <a:r>
              <a:rPr b="1"/>
              <a:t>Priya Das (B.Sc. Biology):</a:t>
            </a:r>
            <a:r>
              <a:rPr/>
              <a:t> Research Intern at GeneVista Labs</a:t>
            </a:r>
          </a:p>
          <a:p>
            <a:pPr lvl="0"/>
            <a:r>
              <a:rPr b="1"/>
              <a:t>Miguel Alvarez (B.Eng. Mechanical):</a:t>
            </a:r>
            <a:r>
              <a:rPr/>
              <a:t> Product Design Intern at Stratovault Solutions</a:t>
            </a:r>
          </a:p>
          <a:p>
            <a:pPr lvl="0"/>
            <a:r>
              <a:rPr b="1"/>
              <a:t>Sophie Dlamini (B.N.S. Nursing):</a:t>
            </a:r>
            <a:r>
              <a:rPr/>
              <a:t> Clinical Intern at Kinetix Health</a:t>
            </a:r>
          </a:p>
          <a:p>
            <a:pPr lvl="0"/>
            <a:r>
              <a:rPr b="1"/>
              <a:t>Anna Zhao (B.A. English):</a:t>
            </a:r>
            <a:r>
              <a:rPr/>
              <a:t> Editorial Intern at Starling Publishing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Placement Process</a:t>
            </a:r>
          </a:p>
        </p:txBody>
      </p:sp>
      <p:sp>
        <p:nvSpPr>
          <p:cNvPr id="3" name="Content Placeholder 2"/>
          <p:cNvSpPr>
            <a:spLocks noGrp="1"/>
          </p:cNvSpPr>
          <p:nvPr>
            <p:ph idx="1"/>
          </p:nvPr>
        </p:nvSpPr>
        <p:spPr/>
        <p:txBody>
          <a:bodyPr/>
          <a:lstStyle/>
          <a:p>
            <a:pPr lvl="0" indent="-342900" marL="342900">
              <a:buAutoNum type="arabicPeriod"/>
            </a:pPr>
            <a:r>
              <a:rPr b="1"/>
              <a:t>Registration:</a:t>
            </a:r>
            <a:r>
              <a:rPr/>
              <a:t> Eligible final-year students register with the Center for Career Development and submit CVs.</a:t>
            </a:r>
          </a:p>
          <a:p>
            <a:pPr lvl="0" indent="-342900" marL="342900">
              <a:buAutoNum type="arabicPeriod"/>
            </a:pPr>
            <a:r>
              <a:rPr b="1"/>
              <a:t>Pre-Placement Training:</a:t>
            </a:r>
            <a:r>
              <a:rPr/>
              <a:t> Includes resume workshops, interview preparation, group discussions, and aptitude tests.</a:t>
            </a:r>
          </a:p>
          <a:p>
            <a:pPr lvl="0" indent="-342900" marL="342900">
              <a:buAutoNum type="arabicPeriod"/>
            </a:pPr>
            <a:r>
              <a:rPr b="1"/>
              <a:t>Company Presentations:</a:t>
            </a:r>
            <a:r>
              <a:rPr/>
              <a:t> Employers visit campus (virtually or in-person) to describe roles and organizational culture.</a:t>
            </a:r>
          </a:p>
          <a:p>
            <a:pPr lvl="0" indent="-342900" marL="342900">
              <a:buAutoNum type="arabicPeriod"/>
            </a:pPr>
            <a:r>
              <a:rPr b="1"/>
              <a:t>Application &amp; Shortlisting:</a:t>
            </a:r>
            <a:r>
              <a:rPr/>
              <a:t> Students apply to open positions; employers shortlist candidates based on their criteria.</a:t>
            </a:r>
          </a:p>
          <a:p>
            <a:pPr lvl="0" indent="-342900" marL="342900">
              <a:buAutoNum type="arabicPeriod"/>
            </a:pPr>
            <a:r>
              <a:rPr b="1"/>
              <a:t>Interviews &amp; Assessments:</a:t>
            </a:r>
            <a:r>
              <a:rPr/>
              <a:t> Conducted on campus or offsite, followed by HR and technical interviews.</a:t>
            </a:r>
          </a:p>
          <a:p>
            <a:pPr lvl="0" indent="-342900" marL="342900">
              <a:buAutoNum type="arabicPeriod"/>
            </a:pPr>
            <a:r>
              <a:rPr b="1"/>
              <a:t>Offer Rollout:</a:t>
            </a:r>
            <a:r>
              <a:rPr/>
              <a:t> Successful candidates receive offer letters; assistance provided in decision-making and negotiations.</a:t>
            </a:r>
          </a:p>
          <a:p>
            <a:pPr lvl="0" indent="0" marL="0">
              <a:buNone/>
            </a:pPr>
            <a:r>
              <a:rPr i="1"/>
              <a:t>Note: Specialized support is provided for international students, differently abled students, and those seeking opportunities in non-traditional sectors.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Department-wise Placement Illustrations</a:t>
            </a:r>
          </a:p>
        </p:txBody>
      </p:sp>
      <p:sp>
        <p:nvSpPr>
          <p:cNvPr id="3" name="Content Placeholder 2"/>
          <p:cNvSpPr>
            <a:spLocks noGrp="1"/>
          </p:cNvSpPr>
          <p:nvPr>
            <p:ph idx="1"/>
          </p:nvPr>
        </p:nvSpPr>
        <p:spPr/>
        <p:txBody>
          <a:bodyPr/>
          <a:lstStyle/>
          <a:p>
            <a:pPr lvl="0" indent="0" marL="0">
              <a:spcBef>
                <a:spcPts val="3000"/>
              </a:spcBef>
              <a:buNone/>
            </a:pPr>
            <a:r>
              <a:rPr b="1"/>
              <a:t>Department of Computer Science</a:t>
            </a:r>
          </a:p>
          <a:p>
            <a:pPr lvl="0"/>
            <a:r>
              <a:rPr b="1"/>
              <a:t>Placement Rate:</a:t>
            </a:r>
            <a:r>
              <a:rPr/>
              <a:t> 98%</a:t>
            </a:r>
          </a:p>
          <a:p>
            <a:pPr lvl="0"/>
            <a:r>
              <a:rPr b="1"/>
              <a:t>Top Recruiters:</a:t>
            </a:r>
            <a:r>
              <a:rPr/>
              <a:t> Accelero Systems, Quantia Tech, Stratovault Solutions</a:t>
            </a:r>
          </a:p>
          <a:p>
            <a:pPr lvl="0"/>
            <a:r>
              <a:rPr b="1"/>
              <a:t>Popular Roles:</a:t>
            </a:r>
            <a:r>
              <a:rPr/>
              <a:t> Software Developer, Data Analyst, Security Engineer</a:t>
            </a:r>
          </a:p>
          <a:p>
            <a:pPr lvl="0" indent="0" marL="0">
              <a:spcBef>
                <a:spcPts val="3000"/>
              </a:spcBef>
              <a:buNone/>
            </a:pPr>
            <a:r>
              <a:rPr b="1"/>
              <a:t>Department of Management</a:t>
            </a:r>
          </a:p>
          <a:p>
            <a:pPr lvl="0"/>
            <a:r>
              <a:rPr b="1"/>
              <a:t>Placement Rate:</a:t>
            </a:r>
            <a:r>
              <a:rPr/>
              <a:t> 97%</a:t>
            </a:r>
          </a:p>
          <a:p>
            <a:pPr lvl="0"/>
            <a:r>
              <a:rPr b="1"/>
              <a:t>Top Recruiters:</a:t>
            </a:r>
            <a:r>
              <a:rPr/>
              <a:t> Deloitte, Epsilon Partners, Synergia Consulting</a:t>
            </a:r>
          </a:p>
          <a:p>
            <a:pPr lvl="0"/>
            <a:r>
              <a:rPr b="1"/>
              <a:t>Popular Roles:</a:t>
            </a:r>
            <a:r>
              <a:rPr/>
              <a:t> Management Trainee, Operations Analyst, HR Associate</a:t>
            </a:r>
          </a:p>
          <a:p>
            <a:pPr lvl="0" indent="0" marL="0">
              <a:spcBef>
                <a:spcPts val="3000"/>
              </a:spcBef>
              <a:buNone/>
            </a:pPr>
            <a:r>
              <a:rPr b="1"/>
              <a:t>Department of Nursing</a:t>
            </a:r>
          </a:p>
          <a:p>
            <a:pPr lvl="0"/>
            <a:r>
              <a:rPr b="1"/>
              <a:t>Placement Rate:</a:t>
            </a:r>
            <a:r>
              <a:rPr/>
              <a:t> 95%</a:t>
            </a:r>
          </a:p>
          <a:p>
            <a:pPr lvl="0"/>
            <a:r>
              <a:rPr b="1"/>
              <a:t>Top Recruiters:</a:t>
            </a:r>
            <a:r>
              <a:rPr/>
              <a:t> Silver Creek Hospital, Elmway Medical Group</a:t>
            </a:r>
          </a:p>
          <a:p>
            <a:pPr lvl="0"/>
            <a:r>
              <a:rPr b="1"/>
              <a:t>Popular Roles:</a:t>
            </a:r>
            <a:r>
              <a:rPr/>
              <a:t> Registered Nurse, Patient Care Coordinator</a:t>
            </a:r>
          </a:p>
          <a:p>
            <a:pPr lvl="0" indent="0" marL="0">
              <a:spcBef>
                <a:spcPts val="3000"/>
              </a:spcBef>
              <a:buNone/>
            </a:pPr>
            <a:r>
              <a:rPr b="1"/>
              <a:t>Department of Mechanical Engineering</a:t>
            </a:r>
          </a:p>
          <a:p>
            <a:pPr lvl="0"/>
            <a:r>
              <a:rPr b="1"/>
              <a:t>Placement Rate:</a:t>
            </a:r>
            <a:r>
              <a:rPr/>
              <a:t> 94%</a:t>
            </a:r>
          </a:p>
          <a:p>
            <a:pPr lvl="0"/>
            <a:r>
              <a:rPr b="1"/>
              <a:t>Top Recruiters:</a:t>
            </a:r>
            <a:r>
              <a:rPr/>
              <a:t> Tyrian Robotics, Bluemont Energy, Stratovault Solutions</a:t>
            </a:r>
          </a:p>
          <a:p>
            <a:pPr lvl="0"/>
            <a:r>
              <a:rPr b="1"/>
              <a:t>Popular Roles:</a:t>
            </a:r>
            <a:r>
              <a:rPr/>
              <a:t> Design Engineer, Project Engineer, Manufacturing Specialist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Alumni Success Stories</a:t>
            </a:r>
          </a:p>
        </p:txBody>
      </p:sp>
      <p:sp>
        <p:nvSpPr>
          <p:cNvPr id="3" name="Content Placeholder 2"/>
          <p:cNvSpPr>
            <a:spLocks noGrp="1"/>
          </p:cNvSpPr>
          <p:nvPr>
            <p:ph idx="1"/>
          </p:nvPr>
        </p:nvSpPr>
        <p:spPr/>
        <p:txBody>
          <a:bodyPr/>
          <a:lstStyle/>
          <a:p>
            <a:pPr lvl="0"/>
            <a:r>
              <a:rPr b="1"/>
              <a:t>Rachel Matthews (B.B.A. Marketing, 2022):</a:t>
            </a:r>
            <a:r>
              <a:rPr/>
              <a:t> Now Brand Strategist at Synergia Consulting.</a:t>
            </a:r>
          </a:p>
          <a:p>
            <a:pPr lvl="0"/>
            <a:r>
              <a:rPr b="1"/>
              <a:t>Dr. Amir Qureshi (Ph.D. Biology, 2022):</a:t>
            </a:r>
            <a:r>
              <a:rPr/>
              <a:t> Lead Research Scientist at GeneVista Labs.</a:t>
            </a:r>
          </a:p>
          <a:p>
            <a:pPr lvl="0"/>
            <a:r>
              <a:rPr b="1"/>
              <a:t>Tariq Alvi (B.Sc. Mathematics, 2023):</a:t>
            </a:r>
            <a:r>
              <a:rPr/>
              <a:t> Data Scientist at DataWave Analytics.</a:t>
            </a:r>
          </a:p>
          <a:p>
            <a:pPr lvl="0"/>
            <a:r>
              <a:rPr b="1"/>
              <a:t>Maria Vasquez (M.Sc. Public Health, 2023):</a:t>
            </a:r>
            <a:r>
              <a:rPr/>
              <a:t> Policy Analyst at Kinetix Health.</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Employer Feedback</a:t>
            </a:r>
          </a:p>
        </p:txBody>
      </p:sp>
      <p:sp>
        <p:nvSpPr>
          <p:cNvPr id="3" name="Content Placeholder 2"/>
          <p:cNvSpPr>
            <a:spLocks noGrp="1"/>
          </p:cNvSpPr>
          <p:nvPr>
            <p:ph idx="1"/>
          </p:nvPr>
        </p:nvSpPr>
        <p:spPr/>
        <p:txBody>
          <a:bodyPr/>
          <a:lstStyle/>
          <a:p>
            <a:pPr lvl="0" indent="0" marL="1270000">
              <a:buNone/>
            </a:pPr>
            <a:r>
              <a:rPr sz="2000"/>
              <a:t>“Cendara graduates bring exceptional analytical and teamwork abilities. They adapt quickly to real-world business challenges.”</a:t>
            </a:r>
            <a:br/>
            <a:r>
              <a:rPr sz="2000"/>
              <a:t>— Elaine Porter, Senior Talent Acquisition Lead, Epsilon Partners</a:t>
            </a:r>
          </a:p>
          <a:p>
            <a:pPr lvl="0" indent="0" marL="1270000">
              <a:buNone/>
            </a:pPr>
            <a:r>
              <a:rPr sz="2000"/>
              <a:t>“We’ve hired from Cendara’s engineering programs for three years running. Their hands-on, solutions-oriented approach stands out.”</a:t>
            </a:r>
            <a:br/>
            <a:r>
              <a:rPr sz="2000"/>
              <a:t>— Daniel Zhu, HR Manager, Stratovault Solutions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Specialized and International Placements</a:t>
            </a:r>
          </a:p>
        </p:txBody>
      </p:sp>
      <p:sp>
        <p:nvSpPr>
          <p:cNvPr id="3" name="Content Placeholder 2"/>
          <p:cNvSpPr>
            <a:spLocks noGrp="1"/>
          </p:cNvSpPr>
          <p:nvPr>
            <p:ph idx="1"/>
          </p:nvPr>
        </p:nvSpPr>
        <p:spPr/>
        <p:txBody>
          <a:bodyPr/>
          <a:lstStyle/>
          <a:p>
            <a:pPr lvl="0"/>
            <a:r>
              <a:rPr b="1"/>
              <a:t>International Placements:</a:t>
            </a:r>
            <a:r>
              <a:rPr/>
              <a:t> Graduates have joined firms in Canada, Germany, Singapore, and the UK, including Intelus AG (Berlin), NovaDesign (Singapore), and Cedarwell Analytics (Toronto).</a:t>
            </a:r>
          </a:p>
          <a:p>
            <a:pPr lvl="0"/>
            <a:r>
              <a:rPr b="1"/>
              <a:t>Startups &amp; Entrepreneurship:</a:t>
            </a:r>
            <a:r>
              <a:rPr/>
              <a:t> Cendara LaunchPad supported 14 new ventures among the graduating batch, spanning EdTech, HealthTech, and Green Energy.</a:t>
            </a:r>
          </a:p>
          <a:p>
            <a:pPr lvl="0"/>
            <a:r>
              <a:rPr b="1"/>
              <a:t>Fellowships:</a:t>
            </a:r>
            <a:r>
              <a:rPr/>
              <a:t> Recent recipients of the Fulbright and Rhodes scholarships among graduating humanities majors.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Recent Placement Events</a:t>
            </a:r>
          </a:p>
        </p:txBody>
      </p:sp>
      <p:sp>
        <p:nvSpPr>
          <p:cNvPr id="3" name="Content Placeholder 2"/>
          <p:cNvSpPr>
            <a:spLocks noGrp="1"/>
          </p:cNvSpPr>
          <p:nvPr>
            <p:ph idx="1"/>
          </p:nvPr>
        </p:nvSpPr>
        <p:spPr/>
        <p:txBody>
          <a:bodyPr/>
          <a:lstStyle/>
          <a:p>
            <a:pPr lvl="0"/>
            <a:r>
              <a:rPr b="1"/>
              <a:t>Cendara Career Fair 2023:</a:t>
            </a:r>
            <a:br/>
            <a:r>
              <a:rPr/>
              <a:t>97 employers, 864 students participated; 312 immediate pending offers.</a:t>
            </a:r>
          </a:p>
          <a:p>
            <a:pPr lvl="0"/>
            <a:r>
              <a:rPr b="1"/>
              <a:t>Women in STEM Networking Night:</a:t>
            </a:r>
            <a:br/>
            <a:r>
              <a:rPr/>
              <a:t>Sponsored by Stratovault Solutions, 90+ female students connected with industry mentors.</a:t>
            </a:r>
          </a:p>
          <a:p>
            <a:pPr lvl="0"/>
            <a:r>
              <a:rPr b="1"/>
              <a:t>Education Opportunities Day:</a:t>
            </a:r>
            <a:br/>
            <a:r>
              <a:rPr/>
              <a:t>Area schools and educational organizations recruited 60 teaching candidates.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Support for Further Study</a:t>
            </a:r>
          </a:p>
        </p:txBody>
      </p:sp>
      <p:sp>
        <p:nvSpPr>
          <p:cNvPr id="3" name="Content Placeholder 2"/>
          <p:cNvSpPr>
            <a:spLocks noGrp="1"/>
          </p:cNvSpPr>
          <p:nvPr>
            <p:ph idx="1"/>
          </p:nvPr>
        </p:nvSpPr>
        <p:spPr/>
        <p:txBody>
          <a:bodyPr/>
          <a:lstStyle/>
          <a:p>
            <a:pPr lvl="0" indent="0" marL="0">
              <a:buNone/>
            </a:pPr>
            <a:r>
              <a:rPr/>
              <a:t>Specialized advising is available for those pursuing graduate study at domestic and international universities, with placements at institutions such as:</a:t>
            </a:r>
          </a:p>
          <a:p>
            <a:pPr lvl="0"/>
            <a:r>
              <a:rPr/>
              <a:t>Columbia University</a:t>
            </a:r>
          </a:p>
          <a:p>
            <a:pPr lvl="0"/>
            <a:r>
              <a:rPr/>
              <a:t>University of Edinburgh</a:t>
            </a:r>
          </a:p>
          <a:p>
            <a:pPr lvl="0"/>
            <a:r>
              <a:rPr/>
              <a:t>National University of Singapore</a:t>
            </a:r>
          </a:p>
          <a:p>
            <a:pPr lvl="0"/>
            <a:r>
              <a:rPr/>
              <a:t>Stanford University</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Contact &amp; Placement Policy</a:t>
            </a:r>
          </a:p>
        </p:txBody>
      </p:sp>
      <p:sp>
        <p:nvSpPr>
          <p:cNvPr id="3" name="Content Placeholder 2"/>
          <p:cNvSpPr>
            <a:spLocks noGrp="1"/>
          </p:cNvSpPr>
          <p:nvPr>
            <p:ph idx="1"/>
          </p:nvPr>
        </p:nvSpPr>
        <p:spPr/>
        <p:txBody>
          <a:bodyPr/>
          <a:lstStyle/>
          <a:p>
            <a:pPr lvl="0" indent="0" marL="0">
              <a:buNone/>
            </a:pPr>
            <a:r>
              <a:rPr/>
              <a:t>All placement activities are managed in accordance with Cendara University’s Placement Policy:</a:t>
            </a:r>
          </a:p>
          <a:p>
            <a:pPr lvl="0"/>
            <a:r>
              <a:rPr/>
              <a:t>Equal opportunity for all eligible students.</a:t>
            </a:r>
          </a:p>
          <a:p>
            <a:pPr lvl="0"/>
            <a:r>
              <a:rPr/>
              <a:t>Confidentiality and ethical conduct upheld during all recruitment processes.</a:t>
            </a:r>
          </a:p>
          <a:p>
            <a:pPr lvl="0"/>
            <a:r>
              <a:rPr/>
              <a:t>No fees charged to students for placement services.</a:t>
            </a:r>
          </a:p>
          <a:p>
            <a:pPr lvl="0"/>
            <a:r>
              <a:rPr/>
              <a:t>Continuous employer feedback integrated into curriculum design.</a:t>
            </a:r>
          </a:p>
          <a:p>
            <a:pPr lvl="0" indent="0" marL="0">
              <a:buNone/>
            </a:pPr>
            <a:r>
              <a:rPr/>
              <a:t>For more information, contact career.services@cendara.edu or visit the Center for Career Development, Student Services Building, Room 102.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2025-07-29T15:04:32Z</dcterms:created>
  <dcterms:modified xsi:type="dcterms:W3CDTF">2025-07-29T15:04:32Z</dcterms:modified>
</cp:coreProperties>
</file>

<file path=docProps/custom.xml><?xml version="1.0" encoding="utf-8"?>
<Properties xmlns="http://schemas.openxmlformats.org/officeDocument/2006/custom-properties" xmlns:vt="http://schemas.openxmlformats.org/officeDocument/2006/docPropsVTypes"/>
</file>