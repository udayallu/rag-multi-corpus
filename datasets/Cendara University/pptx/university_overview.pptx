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 Institutional Overview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is guided by a set of foundational values that inform every decision, policy, and initiative across our academic and administrative landscape. Our core values are:</a:t>
            </a:r>
          </a:p>
          <a:p>
            <a:pPr lvl="0"/>
            <a:r>
              <a:rPr b="1"/>
              <a:t>Integrity</a:t>
            </a:r>
            <a:br/>
            <a:r>
              <a:rPr/>
              <a:t>We uphold the highest standards of ethical conduct, transparency, and accountability in all university affairs.</a:t>
            </a:r>
          </a:p>
          <a:p>
            <a:pPr lvl="0"/>
            <a:r>
              <a:rPr b="1"/>
              <a:t>Intellectual Curiosity</a:t>
            </a:r>
            <a:br/>
            <a:r>
              <a:rPr/>
              <a:t>We foster a culture of rigorous inquiry, critical thinking, and continuous learning.</a:t>
            </a:r>
          </a:p>
          <a:p>
            <a:pPr lvl="0"/>
            <a:r>
              <a:rPr b="1"/>
              <a:t>Diversity and Inclusion</a:t>
            </a:r>
            <a:br/>
            <a:r>
              <a:rPr/>
              <a:t>We embrace and celebrate differences, striving to create an environment where all voices are valued and everyone has the opportunity to succeed.</a:t>
            </a:r>
          </a:p>
          <a:p>
            <a:pPr lvl="0"/>
            <a:r>
              <a:rPr b="1"/>
              <a:t>Community Engagement</a:t>
            </a:r>
            <a:br/>
            <a:r>
              <a:rPr/>
              <a:t>We are committed to partnering with local, national, and global communities in the pursuit of societal betterment.</a:t>
            </a:r>
          </a:p>
          <a:p>
            <a:pPr lvl="0"/>
            <a:r>
              <a:rPr b="1"/>
              <a:t>Innovation</a:t>
            </a:r>
            <a:br/>
            <a:r>
              <a:rPr/>
              <a:t>We encourage creative problem-solving and support the bold pursuit of new knowledge, technologies, and approaches to education.</a:t>
            </a:r>
          </a:p>
          <a:p>
            <a:pPr lvl="0"/>
            <a:r>
              <a:rPr b="1"/>
              <a:t>Student-Centeredness</a:t>
            </a:r>
            <a:br/>
            <a:r>
              <a:rPr/>
              <a:t>We place the student experience at the heart of our mission, prioritizing holistic development, well-being, and academic achievement.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Educational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University’s educational philosophy is founded upon a liberal arts tradition balanced with a progressive focus on research, professional readiness, and global citizenship. Our approach emphasizes:</a:t>
            </a:r>
          </a:p>
          <a:p>
            <a:pPr lvl="0"/>
            <a:r>
              <a:rPr b="1"/>
              <a:t>Interdisciplinary Collaboration</a:t>
            </a:r>
            <a:br/>
            <a:r>
              <a:rPr/>
              <a:t>Crossing traditional academic boundaries to solve contemporary challenges through integrated learning.</a:t>
            </a:r>
          </a:p>
          <a:p>
            <a:pPr lvl="0"/>
            <a:r>
              <a:rPr b="1"/>
              <a:t>Active Learning</a:t>
            </a:r>
            <a:br/>
            <a:r>
              <a:rPr/>
              <a:t>Engaging students with experiential educational methods, including collaborative projects, service learning, and research opportunities from the first year onward.</a:t>
            </a:r>
          </a:p>
          <a:p>
            <a:pPr lvl="0"/>
            <a:r>
              <a:rPr b="1"/>
              <a:t>Personalized Guidance</a:t>
            </a:r>
            <a:br/>
            <a:r>
              <a:rPr/>
              <a:t>Emphasizing small class sizes, individualized advising, and faculty mentorship to maximize student potential.</a:t>
            </a:r>
          </a:p>
          <a:p>
            <a:pPr lvl="0"/>
            <a:r>
              <a:rPr b="1"/>
              <a:t>Lifelong Learning and Adaptability</a:t>
            </a:r>
            <a:br/>
            <a:r>
              <a:rPr/>
              <a:t>Equipping graduates to navigate rapid societal changes with confidence, resilience, and a passion for continuous self-improvement.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Institutional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Cendara University, our stated purpose is:</a:t>
            </a:r>
          </a:p>
          <a:p>
            <a:pPr lvl="0" indent="0" marL="1270000">
              <a:buNone/>
            </a:pPr>
            <a:r>
              <a:rPr sz="2000"/>
              <a:t>“To empower individuals and communities through transformative education, pioneering research, and service to humanity.”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Our primary objectives include:</a:t>
            </a:r>
          </a:p>
          <a:p>
            <a:pPr lvl="0"/>
            <a:r>
              <a:rPr/>
              <a:t>Advancing academic excellence across a diverse range of disciplines.</a:t>
            </a:r>
          </a:p>
          <a:p>
            <a:pPr lvl="0"/>
            <a:r>
              <a:rPr/>
              <a:t>Conducting impactful research that addresses the most pressing challenges of the 21st century.</a:t>
            </a:r>
          </a:p>
          <a:p>
            <a:pPr lvl="0"/>
            <a:r>
              <a:rPr/>
              <a:t>Developing graduates prepared for ethical leadership and civic responsibility.</a:t>
            </a:r>
          </a:p>
          <a:p>
            <a:pPr lvl="0"/>
            <a:r>
              <a:rPr/>
              <a:t>Serving as a catalyst for positive economic, cultural, and social change at both the local and global level.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Founding History &amp; Milestones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was established in the spring of 1956 by Dr. Franklin M. Avery, an educator and philanthropist with a vision to create a center of learning that combined academic rigor with social responsibility. Initially founded as Cendara College with just 87 students and 12 faculty members, the institution was housed in a restored municipal building on East Willow Avenue.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1956: Founding &amp; Inaugural Class</a:t>
            </a:r>
          </a:p>
          <a:p>
            <a:pPr lvl="0"/>
            <a:r>
              <a:rPr/>
              <a:t>Cendara College opens its doors to students in August.</a:t>
            </a:r>
          </a:p>
          <a:p>
            <a:pPr lvl="0"/>
            <a:r>
              <a:rPr/>
              <a:t>First academic programs offered in Humanities, Natural Sciences, and Teacher Education.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1964: University Charter Granted</a:t>
            </a:r>
          </a:p>
          <a:p>
            <a:pPr lvl="0"/>
            <a:r>
              <a:rPr/>
              <a:t>Achieved status as Cendara University by state legislature recognition.</a:t>
            </a:r>
          </a:p>
          <a:p>
            <a:pPr lvl="0"/>
            <a:r>
              <a:rPr/>
              <a:t>Expanded campus with the construction of Yale Hall, the first purpose-built academic building.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1971: First Graduate Programs Launched</a:t>
            </a:r>
          </a:p>
          <a:p>
            <a:pPr lvl="0"/>
            <a:r>
              <a:rPr/>
              <a:t>Introduction of Master’s degrees in Biology and Education.</a:t>
            </a:r>
          </a:p>
          <a:p>
            <a:pPr lvl="0"/>
            <a:r>
              <a:rPr/>
              <a:t>Opening of the Graduate Research Center.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1985: The Inclusivity Pact</a:t>
            </a:r>
          </a:p>
          <a:p>
            <a:pPr lvl="0"/>
            <a:r>
              <a:rPr/>
              <a:t>Board of Regents adopts the Inclusivity Pact, mandating active recruitment of underrepresented students and faculty.</a:t>
            </a:r>
          </a:p>
          <a:p>
            <a:pPr lvl="0"/>
            <a:r>
              <a:rPr/>
              <a:t>Establishment of the Office of Diversity Initiatives.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1998: The Center for Global Studies Opens</a:t>
            </a:r>
          </a:p>
          <a:p>
            <a:pPr lvl="0"/>
            <a:r>
              <a:rPr/>
              <a:t>Launch of international partnership programs with universities in Asia, Europe, and Africa.</a:t>
            </a:r>
          </a:p>
          <a:p>
            <a:pPr lvl="0"/>
            <a:r>
              <a:rPr/>
              <a:t>First cohort of students participates in semester-long study abroad programs.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2007: Sustainability Commitment</a:t>
            </a:r>
          </a:p>
          <a:p>
            <a:pPr lvl="0"/>
            <a:r>
              <a:rPr/>
              <a:t>President Marisol Ortega signs the University Sustainability Pledge.</a:t>
            </a:r>
          </a:p>
          <a:p>
            <a:pPr lvl="0"/>
            <a:r>
              <a:rPr/>
              <a:t>Campus-wide solar initiative begins, leading to 40% reduction in energy consumption by 2012.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2016: Diamond Jubilee Celebration</a:t>
            </a:r>
          </a:p>
          <a:p>
            <a:pPr lvl="0"/>
            <a:r>
              <a:rPr/>
              <a:t>60th anniversary marked by major capital campaign, resulting in the construction of the Santoro Library and Digital Learning Commons.</a:t>
            </a:r>
          </a:p>
          <a:p>
            <a:pPr lvl="0"/>
            <a:r>
              <a:rPr/>
              <a:t>Alumni giving exceeds $25 million for the first time.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2021: COVID-19 Response and Remote Innovation</a:t>
            </a:r>
          </a:p>
          <a:p>
            <a:pPr lvl="0"/>
            <a:r>
              <a:rPr/>
              <a:t>Rapid transition to hybrid learning models.</a:t>
            </a:r>
          </a:p>
          <a:p>
            <a:pPr lvl="0"/>
            <a:r>
              <a:rPr/>
              <a:t>Launch of the Cendara Health and Wellness Collaborative supporting student and community mental health.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2023: Center for Interdisciplinary Innovation Established</a:t>
            </a:r>
          </a:p>
          <a:p>
            <a:pPr lvl="0"/>
            <a:r>
              <a:rPr/>
              <a:t>Statewide recognition for fostering entrepreneurship and interdisciplinary solutions to global issues.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Looking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continually adapts to serve current and future generations. With an alumni network over 46,000 strong and a vibrant, diverse student body, the university remains true to its founding spirit: inspiring minds and transforming lives through education.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2025-07-29T15:04:58Z</dcterms:created>
  <dcterms:modified xsi:type="dcterms:W3CDTF">2025-07-29T15:04:58Z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