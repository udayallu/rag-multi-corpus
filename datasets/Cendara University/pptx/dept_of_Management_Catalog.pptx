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Management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B.B.A. / M.B.A. in Management</a:t>
            </a:r>
          </a:p>
          <a:p>
            <a:pPr lvl="0" indent="0" marL="0">
              <a:buNone/>
            </a:pPr>
            <a:r>
              <a:rPr i="1"/>
              <a:t>Entrepreneurship, Human Resources, Operations, and Strategic Management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Catalog 2024–2025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Department of Management offers a comprehensive suite of undergraduate (B.B.A.) and graduate (M.B.A.) courses. Below is the complete listing of all Management courses, along with course descriptions, prerequisites, and credit hours.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Undergraduate Courses (B.B.A.)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MGMT 101: Principles of Management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An introduction to the fundamentals of management, including planning, organizing, leading, and controlling within organizations. Emphasis is placed on the evolution of management thought, ethical frameworks, and decision-making processes.</a:t>
            </a:r>
          </a:p>
          <a:p>
            <a:pPr lvl="0"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112: Organizational Behavior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Explores the psychological and sociological principles underlying individual and group behavior in organizations. Topics include motivation, leadership styles, team dynamics, and conflict resolution.</a:t>
            </a:r>
          </a:p>
          <a:p>
            <a:pPr lvl="0"/>
            <a:r>
              <a:rPr b="1"/>
              <a:t>Prerequisites:</a:t>
            </a:r>
            <a:r>
              <a:rPr/>
              <a:t> MGMT 101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124: Business Communications</a:t>
            </a:r>
          </a:p>
          <a:p>
            <a:pPr lvl="0"/>
            <a:r>
              <a:rPr b="1"/>
              <a:t>Credits:</a:t>
            </a:r>
            <a:r>
              <a:rPr/>
              <a:t> 2</a:t>
            </a:r>
          </a:p>
          <a:p>
            <a:pPr lvl="0"/>
            <a:r>
              <a:rPr b="1"/>
              <a:t>Description:</a:t>
            </a:r>
            <a:br/>
            <a:r>
              <a:rPr/>
              <a:t>Focuses on effective business writing, verbal communication, and presentation skills necessary for managerial success. Includes practical exercises and group projects.</a:t>
            </a:r>
          </a:p>
          <a:p>
            <a:pPr lvl="0"/>
            <a:r>
              <a:rPr b="1"/>
              <a:t>Prerequisites:</a:t>
            </a:r>
            <a:r>
              <a:rPr/>
              <a:t> None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203: Human Resource Management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Examines the key functions of HR including recruitment, selection, training, performance appraisal, and legal considerations. Addresses current challenges in managing a diverse workforce.</a:t>
            </a:r>
          </a:p>
          <a:p>
            <a:pPr lvl="0"/>
            <a:r>
              <a:rPr b="1"/>
              <a:t>Prerequisites:</a:t>
            </a:r>
            <a:r>
              <a:rPr/>
              <a:t> MGMT 101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217: Operations Management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Covers critical concepts in production and service operations, process analysis, quality management, inventory systems, and operations strategy.</a:t>
            </a:r>
          </a:p>
          <a:p>
            <a:pPr lvl="0"/>
            <a:r>
              <a:rPr b="1"/>
              <a:t>Prerequisites:</a:t>
            </a:r>
            <a:r>
              <a:rPr/>
              <a:t> MGMT 101, STAT 105 (Introduction to Statistics)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230: Business Ethics and Corporate Social Responsibility</a:t>
            </a:r>
          </a:p>
          <a:p>
            <a:pPr lvl="0"/>
            <a:r>
              <a:rPr b="1"/>
              <a:t>Credits:</a:t>
            </a:r>
            <a:r>
              <a:rPr/>
              <a:t> 2</a:t>
            </a:r>
          </a:p>
          <a:p>
            <a:pPr lvl="0"/>
            <a:r>
              <a:rPr b="1"/>
              <a:t>Description:</a:t>
            </a:r>
            <a:br/>
            <a:r>
              <a:rPr/>
              <a:t>Investigates ethical dilemmas and social responsibilities faced by organizations. Case studies focus on sustainable business practices and ethical decision-making.</a:t>
            </a:r>
          </a:p>
          <a:p>
            <a:pPr lvl="0"/>
            <a:r>
              <a:rPr b="1"/>
              <a:t>Prerequisites:</a:t>
            </a:r>
            <a:r>
              <a:rPr/>
              <a:t> MGMT 101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251: Entrepreneurship and Innovation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Provides an overview of entrepreneurship, idea generation, feasibility analysis, and launching new ventures. Includes a capstone project developing a business plan.</a:t>
            </a:r>
          </a:p>
          <a:p>
            <a:pPr lvl="0"/>
            <a:r>
              <a:rPr b="1"/>
              <a:t>Prerequisites:</a:t>
            </a:r>
            <a:r>
              <a:rPr/>
              <a:t> MGMT 101, ACCT 102 (Principles of Accounting)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272: Strategic Management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Integrative study of strategy formulation and implementation in business organizations. Covers environmental analysis, competitive advantage, and strategic decision-making.</a:t>
            </a:r>
          </a:p>
          <a:p>
            <a:pPr lvl="0"/>
            <a:r>
              <a:rPr b="1"/>
              <a:t>Prerequisites:</a:t>
            </a:r>
            <a:r>
              <a:rPr/>
              <a:t> MGMT 101, MGMT 217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280: International Business Management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Overview of challenges and strategies in managing internationally. Topics include global trade, cross-cultural management, international finance, and multinational structures.</a:t>
            </a:r>
          </a:p>
          <a:p>
            <a:pPr lvl="0"/>
            <a:r>
              <a:rPr b="1"/>
              <a:t>Prerequisites:</a:t>
            </a:r>
            <a:r>
              <a:rPr/>
              <a:t> MGMT 101, ECON 110 (Principles of Economics)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299: Management Internship</a:t>
            </a:r>
          </a:p>
          <a:p>
            <a:pPr lvl="0"/>
            <a:r>
              <a:rPr b="1"/>
              <a:t>Credits:</a:t>
            </a:r>
            <a:r>
              <a:rPr/>
              <a:t> 2–4 (variable)</a:t>
            </a:r>
          </a:p>
          <a:p>
            <a:pPr lvl="0"/>
            <a:r>
              <a:rPr b="1"/>
              <a:t>Description:</a:t>
            </a:r>
            <a:br/>
            <a:r>
              <a:rPr/>
              <a:t>Supervised work experience in a business, non-profit, or government organization. Requires completion of internship objectives and a final reflection report.</a:t>
            </a:r>
          </a:p>
          <a:p>
            <a:pPr lvl="0"/>
            <a:r>
              <a:rPr b="1"/>
              <a:t>Prerequisites:</a:t>
            </a:r>
            <a:r>
              <a:rPr/>
              <a:t> Junior standing, departmental approval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Graduate Courses (M.B.A.)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MGMT 501: Advanced Management Theory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An in-depth analysis of classical and contemporary management theories, with a critical approach to their application in modern organizational settings.</a:t>
            </a:r>
          </a:p>
          <a:p>
            <a:pPr lvl="0"/>
            <a:r>
              <a:rPr b="1"/>
              <a:t>Prerequisites:</a:t>
            </a:r>
            <a:r>
              <a:rPr/>
              <a:t> Graduate standing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512: Executive Leadership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Examines leadership frameworks and practices at the executive level. Emphasizes strategic visioning, change management, and ethical leadership in global contexts.</a:t>
            </a:r>
          </a:p>
          <a:p>
            <a:pPr lvl="0"/>
            <a:r>
              <a:rPr b="1"/>
              <a:t>Prerequisites:</a:t>
            </a:r>
            <a:r>
              <a:rPr/>
              <a:t> MGMT 501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524: Strategic Human Resources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Focuses on aligning human resource strategies with organizational goals. Special emphasis on talent management, organizational development, and labor relations.</a:t>
            </a:r>
          </a:p>
          <a:p>
            <a:pPr lvl="0"/>
            <a:r>
              <a:rPr b="1"/>
              <a:t>Prerequisites:</a:t>
            </a:r>
            <a:r>
              <a:rPr/>
              <a:t> MGMT 501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535: Project and Operations Management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Applies advanced methods to project management, process improvement, lean operations, and supply chain integration.</a:t>
            </a:r>
          </a:p>
          <a:p>
            <a:pPr lvl="0"/>
            <a:r>
              <a:rPr b="1"/>
              <a:t>Prerequisites:</a:t>
            </a:r>
            <a:r>
              <a:rPr/>
              <a:t> MGMT 501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541: Entrepreneurial Finance</a:t>
            </a:r>
          </a:p>
          <a:p>
            <a:pPr lvl="0"/>
            <a:r>
              <a:rPr b="1"/>
              <a:t>Credits:</a:t>
            </a:r>
            <a:r>
              <a:rPr/>
              <a:t> 2</a:t>
            </a:r>
          </a:p>
          <a:p>
            <a:pPr lvl="0"/>
            <a:r>
              <a:rPr b="1"/>
              <a:t>Description:</a:t>
            </a:r>
            <a:br/>
            <a:r>
              <a:rPr/>
              <a:t>Explores sources of funding for new ventures, financial planning, and risk management for entrepreneurs. Case studies highlight real-world scenarios.</a:t>
            </a:r>
          </a:p>
          <a:p>
            <a:pPr lvl="0"/>
            <a:r>
              <a:rPr b="1"/>
              <a:t>Prerequisites:</a:t>
            </a:r>
            <a:r>
              <a:rPr/>
              <a:t> MGMT 501, FINC 502 (Managerial Finance)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558: Management Consulting Practicum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</a:p>
          <a:p>
            <a:pPr lvl="0"/>
            <a:r>
              <a:rPr b="1"/>
              <a:t>Description:</a:t>
            </a:r>
            <a:br/>
            <a:r>
              <a:rPr/>
              <a:t>Real-world consulting project with partner organizations. Students work in teams to analyze client issues, develop recommendations, and present solutions.</a:t>
            </a:r>
          </a:p>
          <a:p>
            <a:pPr lvl="0"/>
            <a:r>
              <a:rPr b="1"/>
              <a:t>Prerequisites:</a:t>
            </a:r>
            <a:r>
              <a:rPr/>
              <a:t> MGMT 535, departmental approval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570: Global Strategy</a:t>
            </a:r>
          </a:p>
          <a:p>
            <a:pPr lvl="0"/>
            <a:r>
              <a:rPr b="1"/>
              <a:t>Credits:</a:t>
            </a:r>
            <a:r>
              <a:rPr/>
              <a:t> 3</a:t>
            </a:r>
          </a:p>
          <a:p>
            <a:pPr lvl="0"/>
            <a:r>
              <a:rPr b="1"/>
              <a:t>Description:</a:t>
            </a:r>
            <a:br/>
            <a:r>
              <a:rPr/>
              <a:t>Involves analysis and formulation of strategies for competing internationally. Covers global market entry, competitive dynamics, and cross-border mergers and acquisitions.</a:t>
            </a:r>
          </a:p>
          <a:p>
            <a:pPr lvl="0"/>
            <a:r>
              <a:rPr b="1"/>
              <a:t>Prerequisites:</a:t>
            </a:r>
            <a:r>
              <a:rPr/>
              <a:t> MGMT 501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598: Special Topics in Management</a:t>
            </a:r>
          </a:p>
          <a:p>
            <a:pPr lvl="0"/>
            <a:r>
              <a:rPr b="1"/>
              <a:t>Credits:</a:t>
            </a:r>
            <a:r>
              <a:rPr/>
              <a:t> 1–3 (variable)</a:t>
            </a:r>
          </a:p>
          <a:p>
            <a:pPr lvl="0"/>
            <a:r>
              <a:rPr b="1"/>
              <a:t>Description:</a:t>
            </a:r>
            <a:br/>
            <a:r>
              <a:rPr/>
              <a:t>Selected advanced topics in management offered on a rotating basis. Recent topics include sustainable business models, digital transformation, and agile organizations.</a:t>
            </a:r>
          </a:p>
          <a:p>
            <a:pPr lvl="0"/>
            <a:r>
              <a:rPr b="1"/>
              <a:t>Prerequisites:</a:t>
            </a:r>
            <a:r>
              <a:rPr/>
              <a:t> As announced per offering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MGMT 599: Capstone Management Project</a:t>
            </a:r>
          </a:p>
          <a:p>
            <a:pPr lvl="0"/>
            <a:r>
              <a:rPr b="1"/>
              <a:t>Credits:</a:t>
            </a:r>
            <a:r>
              <a:rPr/>
              <a:t> 4</a:t>
            </a:r>
          </a:p>
          <a:p>
            <a:pPr lvl="0"/>
            <a:r>
              <a:rPr b="1"/>
              <a:t>Description:</a:t>
            </a:r>
            <a:br/>
            <a:r>
              <a:rPr/>
              <a:t>Culminating project synthesizing knowledge from the MBA program. Students develop and present a comprehensive business case or strategic plan for a real or hypothetical organization.</a:t>
            </a:r>
          </a:p>
          <a:p>
            <a:pPr lvl="0"/>
            <a:r>
              <a:rPr b="1"/>
              <a:t>Prerequisites:</a:t>
            </a:r>
            <a:r>
              <a:rPr/>
              <a:t> Completion of core MBA courses, departmental approval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Course Rotation:</a:t>
            </a:r>
            <a:r>
              <a:rPr/>
              <a:t> Some courses are offered every semester, while others are available annually or biennially. Current schedule available on the Cendara University portal.</a:t>
            </a:r>
          </a:p>
          <a:p>
            <a:pPr lvl="0"/>
            <a:r>
              <a:rPr b="1"/>
              <a:t>Enrollment:</a:t>
            </a:r>
            <a:r>
              <a:rPr/>
              <a:t> For prerequisites marked “departmental approval,” contact the department office at management@cendara.edu.</a:t>
            </a:r>
          </a:p>
          <a:p>
            <a:pPr lvl="0"/>
            <a:r>
              <a:rPr b="1"/>
              <a:t>Internship and Practicum:</a:t>
            </a:r>
            <a:r>
              <a:rPr/>
              <a:t> Placement assistance is provided. Enrollment contingent on GPA and advisor recommendation.</a:t>
            </a:r>
          </a:p>
          <a:p>
            <a:pPr lvl="0" indent="0" marL="0">
              <a:buNone/>
            </a:pPr>
            <a:r>
              <a:rPr/>
              <a:t>For further details or course planning, please consult with your academic advisor in the Department of Management.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2025-07-29T15:05:18Z</dcterms:created>
  <dcterms:modified xsi:type="dcterms:W3CDTF">2025-07-29T15:05:18Z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