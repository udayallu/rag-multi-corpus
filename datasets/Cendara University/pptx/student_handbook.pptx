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6" Type="http://schemas.openxmlformats.org/officeDocument/2006/relationships/viewProps" Target="viewProps.xml" /><Relationship Id="rId15" Type="http://schemas.openxmlformats.org/officeDocument/2006/relationships/presProps" Target="presProps.xml" /><Relationship Id="rId1" Type="http://schemas.openxmlformats.org/officeDocument/2006/relationships/slideMaster" Target="slideMasters/slideMaster1.xml" /><Relationship Id="rId18" Type="http://schemas.openxmlformats.org/officeDocument/2006/relationships/tableStyles" Target="tableStyles.xml" /><Relationship Id="rId17"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slide" Target="slide3.xml" /><Relationship Id="rId3" Type="http://schemas.openxmlformats.org/officeDocument/2006/relationships/slide" Target="slide4.xml" /><Relationship Id="rId4" Type="http://schemas.openxmlformats.org/officeDocument/2006/relationships/slide" Target="slide5.xml" /><Relationship Id="rId5" Type="http://schemas.openxmlformats.org/officeDocument/2006/relationships/slide" Target="slide7.xml" /><Relationship Id="rId6" Type="http://schemas.openxmlformats.org/officeDocument/2006/relationships/slide" Target="slide8.xml" /><Relationship Id="rId7" Type="http://schemas.openxmlformats.org/officeDocument/2006/relationships/slide" Target="slide9.xml" /><Relationship Id="rId8" Type="http://schemas.openxmlformats.org/officeDocument/2006/relationships/slide" Target="slide1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careers.cendara.edu" TargetMode="Externa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Cendara University Student Handbook</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Table of Contents</a:t>
            </a:r>
          </a:p>
        </p:txBody>
      </p:sp>
      <p:sp>
        <p:nvSpPr>
          <p:cNvPr id="3" name="Content Placeholder 2"/>
          <p:cNvSpPr>
            <a:spLocks noGrp="1"/>
          </p:cNvSpPr>
          <p:nvPr>
            <p:ph idx="1"/>
          </p:nvPr>
        </p:nvSpPr>
        <p:spPr/>
        <p:txBody>
          <a:bodyPr/>
          <a:lstStyle/>
          <a:p>
            <a:pPr lvl="0" indent="-342900" marL="342900">
              <a:buAutoNum type="arabicPeriod"/>
            </a:pPr>
            <a:r>
              <a:rPr>
                <a:hlinkClick r:id="rId2" action="ppaction://hlinksldjump"/>
              </a:rPr>
              <a:t>Welcome Message</a:t>
            </a:r>
          </a:p>
          <a:p>
            <a:pPr lvl="0" indent="-342900" marL="342900">
              <a:buAutoNum type="arabicPeriod"/>
            </a:pPr>
            <a:r>
              <a:rPr>
                <a:hlinkClick r:id="rId3" action="ppaction://hlinksldjump"/>
              </a:rPr>
              <a:t>Campus Overview</a:t>
            </a:r>
          </a:p>
          <a:p>
            <a:pPr lvl="0" indent="-342900" marL="342900">
              <a:buAutoNum type="arabicPeriod"/>
            </a:pPr>
            <a:r>
              <a:rPr>
                <a:hlinkClick r:id="rId4" action="ppaction://hlinksldjump"/>
              </a:rPr>
              <a:t>Academic Policies</a:t>
            </a:r>
          </a:p>
          <a:p>
            <a:pPr lvl="1"/>
            <a:r>
              <a:rPr/>
              <a:t>Academic Standards</a:t>
            </a:r>
          </a:p>
          <a:p>
            <a:pPr lvl="1"/>
            <a:r>
              <a:rPr/>
              <a:t>Grading System</a:t>
            </a:r>
          </a:p>
          <a:p>
            <a:pPr lvl="1"/>
            <a:r>
              <a:rPr/>
              <a:t>Attendance Policy</a:t>
            </a:r>
          </a:p>
          <a:p>
            <a:pPr lvl="1"/>
            <a:r>
              <a:rPr/>
              <a:t>Academic Integrity Policy</a:t>
            </a:r>
          </a:p>
          <a:p>
            <a:pPr lvl="1"/>
            <a:r>
              <a:rPr/>
              <a:t>Course Registration and Withdrawal</a:t>
            </a:r>
          </a:p>
          <a:p>
            <a:pPr lvl="0" indent="-342900" marL="342900">
              <a:buAutoNum type="arabicPeriod"/>
            </a:pPr>
            <a:r>
              <a:rPr>
                <a:hlinkClick r:id="rId5" action="ppaction://hlinksldjump"/>
              </a:rPr>
              <a:t>Campus Life</a:t>
            </a:r>
          </a:p>
          <a:p>
            <a:pPr lvl="1"/>
            <a:r>
              <a:rPr/>
              <a:t>Student Organizations</a:t>
            </a:r>
          </a:p>
          <a:p>
            <a:pPr lvl="1"/>
            <a:r>
              <a:rPr/>
              <a:t>Residence Life</a:t>
            </a:r>
          </a:p>
          <a:p>
            <a:pPr lvl="1"/>
            <a:r>
              <a:rPr/>
              <a:t>Dining Services</a:t>
            </a:r>
          </a:p>
          <a:p>
            <a:pPr lvl="1"/>
            <a:r>
              <a:rPr/>
              <a:t>Campus Events</a:t>
            </a:r>
          </a:p>
          <a:p>
            <a:pPr lvl="1"/>
            <a:r>
              <a:rPr/>
              <a:t>Athletics &amp; Recreation</a:t>
            </a:r>
          </a:p>
          <a:p>
            <a:pPr lvl="0" indent="-342900" marL="342900">
              <a:buAutoNum type="arabicPeriod"/>
            </a:pPr>
            <a:r>
              <a:rPr>
                <a:hlinkClick r:id="rId6" action="ppaction://hlinksldjump"/>
              </a:rPr>
              <a:t>Student Resources</a:t>
            </a:r>
          </a:p>
          <a:p>
            <a:pPr lvl="1"/>
            <a:r>
              <a:rPr/>
              <a:t>Library Services</a:t>
            </a:r>
          </a:p>
          <a:p>
            <a:pPr lvl="1"/>
            <a:r>
              <a:rPr/>
              <a:t>Health &amp; Wellness Center</a:t>
            </a:r>
          </a:p>
          <a:p>
            <a:pPr lvl="1"/>
            <a:r>
              <a:rPr/>
              <a:t>Counseling Services</a:t>
            </a:r>
          </a:p>
          <a:p>
            <a:pPr lvl="1"/>
            <a:r>
              <a:rPr/>
              <a:t>Career Development</a:t>
            </a:r>
          </a:p>
          <a:p>
            <a:pPr lvl="1"/>
            <a:r>
              <a:rPr/>
              <a:t>Technology Support</a:t>
            </a:r>
          </a:p>
          <a:p>
            <a:pPr lvl="0" indent="-342900" marL="342900">
              <a:buAutoNum type="arabicPeriod"/>
            </a:pPr>
            <a:r>
              <a:rPr>
                <a:hlinkClick r:id="rId7" action="ppaction://hlinksldjump"/>
              </a:rPr>
              <a:t>Code of Conduct</a:t>
            </a:r>
          </a:p>
          <a:p>
            <a:pPr lvl="0" indent="-342900" marL="342900">
              <a:buAutoNum type="arabicPeriod"/>
            </a:pPr>
            <a:r>
              <a:rPr/>
              <a:t>Safety &amp; Security</a:t>
            </a:r>
          </a:p>
          <a:p>
            <a:pPr lvl="0" indent="-342900" marL="342900">
              <a:buAutoNum type="arabicPeriod"/>
            </a:pPr>
            <a:r>
              <a:rPr/>
              <a:t>Diversity &amp; Inclusion</a:t>
            </a:r>
          </a:p>
          <a:p>
            <a:pPr lvl="0" indent="-342900" marL="342900">
              <a:buAutoNum type="arabicPeriod"/>
            </a:pPr>
            <a:r>
              <a:rPr>
                <a:hlinkClick r:id="rId8" action="ppaction://hlinksldjump"/>
              </a:rPr>
              <a:t>Important Contacts</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Welcome Message</a:t>
            </a:r>
          </a:p>
        </p:txBody>
      </p:sp>
      <p:sp>
        <p:nvSpPr>
          <p:cNvPr id="3" name="Content Placeholder 2"/>
          <p:cNvSpPr>
            <a:spLocks noGrp="1"/>
          </p:cNvSpPr>
          <p:nvPr>
            <p:ph idx="1"/>
          </p:nvPr>
        </p:nvSpPr>
        <p:spPr/>
        <p:txBody>
          <a:bodyPr/>
          <a:lstStyle/>
          <a:p>
            <a:pPr lvl="0" indent="0" marL="0">
              <a:buNone/>
            </a:pPr>
            <a:r>
              <a:rPr/>
              <a:t>Dear Cendara University Students,</a:t>
            </a:r>
          </a:p>
          <a:p>
            <a:pPr lvl="0" indent="0" marL="0">
              <a:buNone/>
            </a:pPr>
            <a:r>
              <a:rPr/>
              <a:t>Welcome to Cendara University! We are excited to have you as part of our vibrant, diverse, and innovative community. This handbook is designed to be your guide to campus life, helping you navigate academic expectations, student support resources, community standards, and the myriad opportunities available. If you have any questions, please reach out to Student Affairs at student.affairs@cendara.edu.</a:t>
            </a:r>
          </a:p>
          <a:p>
            <a:pPr lvl="0" indent="0" marL="0">
              <a:buNone/>
            </a:pPr>
            <a:r>
              <a:rPr/>
              <a:t>Wishing you a successful year ahead,</a:t>
            </a:r>
          </a:p>
          <a:p>
            <a:pPr lvl="0" indent="0" marL="0">
              <a:buNone/>
            </a:pPr>
            <a:r>
              <a:rPr b="1"/>
              <a:t>Dr. Susan A. Forelli</a:t>
            </a:r>
            <a:br/>
            <a:r>
              <a:rPr/>
              <a:t>Vice President for Student Affairs</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Campus Overview</a:t>
            </a:r>
          </a:p>
        </p:txBody>
      </p:sp>
      <p:sp>
        <p:nvSpPr>
          <p:cNvPr id="3" name="Content Placeholder 2"/>
          <p:cNvSpPr>
            <a:spLocks noGrp="1"/>
          </p:cNvSpPr>
          <p:nvPr>
            <p:ph idx="1"/>
          </p:nvPr>
        </p:nvSpPr>
        <p:spPr/>
        <p:txBody>
          <a:bodyPr/>
          <a:lstStyle/>
          <a:p>
            <a:pPr lvl="0" indent="0" marL="0">
              <a:buNone/>
            </a:pPr>
            <a:r>
              <a:rPr/>
              <a:t>Cendara University is located in the thriving city of Larkspur, blending urban energy with the serenity of a landscaped, modern campus. Founded in 1927, Cendara is home to over 8,000 undergraduate and graduate students. Our campus includes:</a:t>
            </a:r>
          </a:p>
          <a:p>
            <a:pPr lvl="0"/>
            <a:r>
              <a:rPr b="1"/>
              <a:t>Arches Academic Complex</a:t>
            </a:r>
            <a:r>
              <a:rPr/>
              <a:t>: Home to the Faculty of Sciences and lecture halls.</a:t>
            </a:r>
          </a:p>
          <a:p>
            <a:pPr lvl="0"/>
            <a:r>
              <a:rPr b="1"/>
              <a:t>Silverleaf Library</a:t>
            </a:r>
            <a:r>
              <a:rPr/>
              <a:t>: Centrally located with extensive study spaces and digital resources.</a:t>
            </a:r>
          </a:p>
          <a:p>
            <a:pPr lvl="0"/>
            <a:r>
              <a:rPr b="1"/>
              <a:t>Aspen Residence Hall</a:t>
            </a:r>
            <a:r>
              <a:rPr/>
              <a:t>: A state-of-the-art dormitory for first-year students.</a:t>
            </a:r>
          </a:p>
          <a:p>
            <a:pPr lvl="0"/>
            <a:r>
              <a:rPr b="1"/>
              <a:t>Willows Student Center</a:t>
            </a:r>
            <a:r>
              <a:rPr/>
              <a:t>: Hub for student organizations and recreational activities.</a:t>
            </a:r>
          </a:p>
          <a:p>
            <a:pPr lvl="0"/>
            <a:r>
              <a:rPr b="1"/>
              <a:t>Cendara Athletics Pavilion</a:t>
            </a:r>
            <a:r>
              <a:rPr/>
              <a:t>: Fitness center, swimming pool, and courts.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Academic Policies</a:t>
            </a:r>
          </a:p>
        </p:txBody>
      </p:sp>
      <p:sp>
        <p:nvSpPr>
          <p:cNvPr id="4" name="Text Placeholder 3"/>
          <p:cNvSpPr>
            <a:spLocks noGrp="1"/>
          </p:cNvSpPr>
          <p:nvPr>
            <p:ph idx="2" sz="half" type="body"/>
          </p:nvPr>
        </p:nvSpPr>
        <p:spPr/>
        <p:txBody>
          <a:bodyPr/>
          <a:lstStyle/>
          <a:p>
            <a:pPr lvl="0" indent="0" marL="0">
              <a:spcBef>
                <a:spcPts val="3000"/>
              </a:spcBef>
              <a:buNone/>
            </a:pPr>
            <a:r>
              <a:rPr b="1"/>
              <a:t>Academic Standards</a:t>
            </a:r>
          </a:p>
          <a:p>
            <a:pPr lvl="0" indent="0" marL="0">
              <a:buNone/>
            </a:pPr>
            <a:r>
              <a:rPr/>
              <a:t>All students must maintain satisfactory academic progress, defined as a minimum cumulative GPA of 2.0 for undergraduates and 3.0 for graduate students, and complete at least 67% of attempted credits per semester.</a:t>
            </a:r>
          </a:p>
          <a:p>
            <a:pPr lvl="0" indent="0" marL="0">
              <a:spcBef>
                <a:spcPts val="3000"/>
              </a:spcBef>
              <a:buNone/>
            </a:pPr>
            <a:r>
              <a:rPr b="1"/>
              <a:t>Grading System</a:t>
            </a:r>
          </a:p>
          <a:p>
            <a:pPr lvl="0" indent="0" marL="0">
              <a:buNone/>
            </a:pPr>
            <a:r>
              <a:rPr/>
              <a:t>Cendara University uses the following grading scale:</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270000"/>
                <a:gridCol w="1270000"/>
                <a:gridCol w="1270000"/>
                <a:gridCol w="1270000"/>
              </a:tblGrid>
              <a:tr h="0">
                <a:tc>
                  <a:txBody>
                    <a:bodyPr/>
                    <a:lstStyle/>
                    <a:p>
                      <a:pPr lvl="0" indent="0" marL="0">
                        <a:buNone/>
                      </a:pPr>
                      <a:r>
                        <a:rPr/>
                        <a:t>Grade</a:t>
                      </a:r>
                    </a:p>
                  </a:txBody>
                  <a:tcPr/>
                </a:tc>
                <a:tc>
                  <a:txBody>
                    <a:bodyPr/>
                    <a:lstStyle/>
                    <a:p>
                      <a:pPr lvl="0" indent="0" marL="0">
                        <a:buNone/>
                      </a:pPr>
                      <a:r>
                        <a:rPr/>
                        <a:t>Percentage</a:t>
                      </a:r>
                    </a:p>
                  </a:txBody>
                  <a:tcPr/>
                </a:tc>
                <a:tc>
                  <a:txBody>
                    <a:bodyPr/>
                    <a:lstStyle/>
                    <a:p>
                      <a:pPr lvl="0" indent="0" marL="0">
                        <a:buNone/>
                      </a:pPr>
                      <a:r>
                        <a:rPr/>
                        <a:t>GPA Points</a:t>
                      </a:r>
                    </a:p>
                  </a:txBody>
                  <a:tcPr/>
                </a:tc>
                <a:tc>
                  <a:txBody>
                    <a:bodyPr/>
                    <a:lstStyle/>
                    <a:p>
                      <a:pPr lvl="0" indent="0" marL="0">
                        <a:buNone/>
                      </a:pPr>
                      <a:r>
                        <a:rPr/>
                        <a:t>Description</a:t>
                      </a:r>
                    </a:p>
                  </a:txBody>
                  <a:tcPr/>
                </a:tc>
              </a:tr>
              <a:tr h="0">
                <a:tc>
                  <a:txBody>
                    <a:bodyPr/>
                    <a:lstStyle/>
                    <a:p>
                      <a:pPr lvl="0" indent="0" marL="0">
                        <a:buNone/>
                      </a:pPr>
                      <a:r>
                        <a:rPr/>
                        <a:t>A</a:t>
                      </a:r>
                    </a:p>
                  </a:txBody>
                </a:tc>
                <a:tc>
                  <a:txBody>
                    <a:bodyPr/>
                    <a:lstStyle/>
                    <a:p>
                      <a:pPr lvl="0" indent="0" marL="0">
                        <a:buNone/>
                      </a:pPr>
                      <a:r>
                        <a:rPr/>
                        <a:t>93-100%</a:t>
                      </a:r>
                    </a:p>
                  </a:txBody>
                </a:tc>
                <a:tc>
                  <a:txBody>
                    <a:bodyPr/>
                    <a:lstStyle/>
                    <a:p>
                      <a:pPr lvl="0" indent="0" marL="0">
                        <a:buNone/>
                      </a:pPr>
                      <a:r>
                        <a:rPr/>
                        <a:t>4.00</a:t>
                      </a:r>
                    </a:p>
                  </a:txBody>
                </a:tc>
                <a:tc>
                  <a:txBody>
                    <a:bodyPr/>
                    <a:lstStyle/>
                    <a:p>
                      <a:pPr lvl="0" indent="0" marL="0">
                        <a:buNone/>
                      </a:pPr>
                      <a:r>
                        <a:rPr/>
                        <a:t>Excellent</a:t>
                      </a:r>
                    </a:p>
                  </a:txBody>
                </a:tc>
              </a:tr>
              <a:tr h="0">
                <a:tc>
                  <a:txBody>
                    <a:bodyPr/>
                    <a:lstStyle/>
                    <a:p>
                      <a:pPr lvl="0" indent="0" marL="0">
                        <a:buNone/>
                      </a:pPr>
                      <a:r>
                        <a:rPr/>
                        <a:t>A-</a:t>
                      </a:r>
                    </a:p>
                  </a:txBody>
                </a:tc>
                <a:tc>
                  <a:txBody>
                    <a:bodyPr/>
                    <a:lstStyle/>
                    <a:p>
                      <a:pPr lvl="0" indent="0" marL="0">
                        <a:buNone/>
                      </a:pPr>
                      <a:r>
                        <a:rPr/>
                        <a:t>90-92%</a:t>
                      </a:r>
                    </a:p>
                  </a:txBody>
                </a:tc>
                <a:tc>
                  <a:txBody>
                    <a:bodyPr/>
                    <a:lstStyle/>
                    <a:p>
                      <a:pPr lvl="0" indent="0" marL="0">
                        <a:buNone/>
                      </a:pPr>
                      <a:r>
                        <a:rPr/>
                        <a:t>3.70</a:t>
                      </a:r>
                    </a:p>
                  </a:txBody>
                </a:tc>
                <a:tc>
                  <a:txBody>
                    <a:bodyPr/>
                    <a:lstStyle/>
                    <a:p>
                      <a:endParaRPr/>
                    </a:p>
                  </a:txBody>
                </a:tc>
              </a:tr>
              <a:tr h="0">
                <a:tc>
                  <a:txBody>
                    <a:bodyPr/>
                    <a:lstStyle/>
                    <a:p>
                      <a:pPr lvl="0" indent="0" marL="0">
                        <a:buNone/>
                      </a:pPr>
                      <a:r>
                        <a:rPr/>
                        <a:t>B+</a:t>
                      </a:r>
                    </a:p>
                  </a:txBody>
                </a:tc>
                <a:tc>
                  <a:txBody>
                    <a:bodyPr/>
                    <a:lstStyle/>
                    <a:p>
                      <a:pPr lvl="0" indent="0" marL="0">
                        <a:buNone/>
                      </a:pPr>
                      <a:r>
                        <a:rPr/>
                        <a:t>87-89%</a:t>
                      </a:r>
                    </a:p>
                  </a:txBody>
                </a:tc>
                <a:tc>
                  <a:txBody>
                    <a:bodyPr/>
                    <a:lstStyle/>
                    <a:p>
                      <a:pPr lvl="0" indent="0" marL="0">
                        <a:buNone/>
                      </a:pPr>
                      <a:r>
                        <a:rPr/>
                        <a:t>3.30</a:t>
                      </a:r>
                    </a:p>
                  </a:txBody>
                </a:tc>
                <a:tc>
                  <a:txBody>
                    <a:bodyPr/>
                    <a:lstStyle/>
                    <a:p>
                      <a:pPr lvl="0" indent="0" marL="0">
                        <a:buNone/>
                      </a:pPr>
                      <a:r>
                        <a:rPr/>
                        <a:t>Very Good</a:t>
                      </a:r>
                    </a:p>
                  </a:txBody>
                </a:tc>
              </a:tr>
              <a:tr h="0">
                <a:tc>
                  <a:txBody>
                    <a:bodyPr/>
                    <a:lstStyle/>
                    <a:p>
                      <a:pPr lvl="0" indent="0" marL="0">
                        <a:buNone/>
                      </a:pPr>
                      <a:r>
                        <a:rPr/>
                        <a:t>B</a:t>
                      </a:r>
                    </a:p>
                  </a:txBody>
                </a:tc>
                <a:tc>
                  <a:txBody>
                    <a:bodyPr/>
                    <a:lstStyle/>
                    <a:p>
                      <a:pPr lvl="0" indent="0" marL="0">
                        <a:buNone/>
                      </a:pPr>
                      <a:r>
                        <a:rPr/>
                        <a:t>83-86%</a:t>
                      </a:r>
                    </a:p>
                  </a:txBody>
                </a:tc>
                <a:tc>
                  <a:txBody>
                    <a:bodyPr/>
                    <a:lstStyle/>
                    <a:p>
                      <a:pPr lvl="0" indent="0" marL="0">
                        <a:buNone/>
                      </a:pPr>
                      <a:r>
                        <a:rPr/>
                        <a:t>3.00</a:t>
                      </a:r>
                    </a:p>
                  </a:txBody>
                </a:tc>
                <a:tc>
                  <a:txBody>
                    <a:bodyPr/>
                    <a:lstStyle/>
                    <a:p>
                      <a:pPr lvl="0" indent="0" marL="0">
                        <a:buNone/>
                      </a:pPr>
                      <a:r>
                        <a:rPr/>
                        <a:t>Good</a:t>
                      </a:r>
                    </a:p>
                  </a:txBody>
                </a:tc>
              </a:tr>
              <a:tr h="0">
                <a:tc>
                  <a:txBody>
                    <a:bodyPr/>
                    <a:lstStyle/>
                    <a:p>
                      <a:pPr lvl="0" indent="0" marL="0">
                        <a:buNone/>
                      </a:pPr>
                      <a:r>
                        <a:rPr/>
                        <a:t>B-</a:t>
                      </a:r>
                    </a:p>
                  </a:txBody>
                </a:tc>
                <a:tc>
                  <a:txBody>
                    <a:bodyPr/>
                    <a:lstStyle/>
                    <a:p>
                      <a:pPr lvl="0" indent="0" marL="0">
                        <a:buNone/>
                      </a:pPr>
                      <a:r>
                        <a:rPr/>
                        <a:t>80-82%</a:t>
                      </a:r>
                    </a:p>
                  </a:txBody>
                </a:tc>
                <a:tc>
                  <a:txBody>
                    <a:bodyPr/>
                    <a:lstStyle/>
                    <a:p>
                      <a:pPr lvl="0" indent="0" marL="0">
                        <a:buNone/>
                      </a:pPr>
                      <a:r>
                        <a:rPr/>
                        <a:t>2.70</a:t>
                      </a:r>
                    </a:p>
                  </a:txBody>
                </a:tc>
                <a:tc>
                  <a:txBody>
                    <a:bodyPr/>
                    <a:lstStyle/>
                    <a:p>
                      <a:endParaRPr/>
                    </a:p>
                  </a:txBody>
                </a:tc>
              </a:tr>
              <a:tr h="0">
                <a:tc>
                  <a:txBody>
                    <a:bodyPr/>
                    <a:lstStyle/>
                    <a:p>
                      <a:pPr lvl="0" indent="0" marL="0">
                        <a:buNone/>
                      </a:pPr>
                      <a:r>
                        <a:rPr/>
                        <a:t>C+</a:t>
                      </a:r>
                    </a:p>
                  </a:txBody>
                </a:tc>
                <a:tc>
                  <a:txBody>
                    <a:bodyPr/>
                    <a:lstStyle/>
                    <a:p>
                      <a:pPr lvl="0" indent="0" marL="0">
                        <a:buNone/>
                      </a:pPr>
                      <a:r>
                        <a:rPr/>
                        <a:t>77-79%</a:t>
                      </a:r>
                    </a:p>
                  </a:txBody>
                </a:tc>
                <a:tc>
                  <a:txBody>
                    <a:bodyPr/>
                    <a:lstStyle/>
                    <a:p>
                      <a:pPr lvl="0" indent="0" marL="0">
                        <a:buNone/>
                      </a:pPr>
                      <a:r>
                        <a:rPr/>
                        <a:t>2.30</a:t>
                      </a:r>
                    </a:p>
                  </a:txBody>
                </a:tc>
                <a:tc>
                  <a:txBody>
                    <a:bodyPr/>
                    <a:lstStyle/>
                    <a:p>
                      <a:pPr lvl="0" indent="0" marL="0">
                        <a:buNone/>
                      </a:pPr>
                      <a:r>
                        <a:rPr/>
                        <a:t>Satisfactory</a:t>
                      </a:r>
                    </a:p>
                  </a:txBody>
                </a:tc>
              </a:tr>
              <a:tr h="0">
                <a:tc>
                  <a:txBody>
                    <a:bodyPr/>
                    <a:lstStyle/>
                    <a:p>
                      <a:pPr lvl="0" indent="0" marL="0">
                        <a:buNone/>
                      </a:pPr>
                      <a:r>
                        <a:rPr/>
                        <a:t>C</a:t>
                      </a:r>
                    </a:p>
                  </a:txBody>
                </a:tc>
                <a:tc>
                  <a:txBody>
                    <a:bodyPr/>
                    <a:lstStyle/>
                    <a:p>
                      <a:pPr lvl="0" indent="0" marL="0">
                        <a:buNone/>
                      </a:pPr>
                      <a:r>
                        <a:rPr/>
                        <a:t>73-76%</a:t>
                      </a:r>
                    </a:p>
                  </a:txBody>
                </a:tc>
                <a:tc>
                  <a:txBody>
                    <a:bodyPr/>
                    <a:lstStyle/>
                    <a:p>
                      <a:pPr lvl="0" indent="0" marL="0">
                        <a:buNone/>
                      </a:pPr>
                      <a:r>
                        <a:rPr/>
                        <a:t>2.00</a:t>
                      </a:r>
                    </a:p>
                  </a:txBody>
                </a:tc>
                <a:tc>
                  <a:txBody>
                    <a:bodyPr/>
                    <a:lstStyle/>
                    <a:p>
                      <a:endParaRPr/>
                    </a:p>
                  </a:txBody>
                </a:tc>
              </a:tr>
              <a:tr h="0">
                <a:tc>
                  <a:txBody>
                    <a:bodyPr/>
                    <a:lstStyle/>
                    <a:p>
                      <a:pPr lvl="0" indent="0" marL="0">
                        <a:buNone/>
                      </a:pPr>
                      <a:r>
                        <a:rPr/>
                        <a:t>C-</a:t>
                      </a:r>
                    </a:p>
                  </a:txBody>
                </a:tc>
                <a:tc>
                  <a:txBody>
                    <a:bodyPr/>
                    <a:lstStyle/>
                    <a:p>
                      <a:pPr lvl="0" indent="0" marL="0">
                        <a:buNone/>
                      </a:pPr>
                      <a:r>
                        <a:rPr/>
                        <a:t>70-72%</a:t>
                      </a:r>
                    </a:p>
                  </a:txBody>
                </a:tc>
                <a:tc>
                  <a:txBody>
                    <a:bodyPr/>
                    <a:lstStyle/>
                    <a:p>
                      <a:pPr lvl="0" indent="0" marL="0">
                        <a:buNone/>
                      </a:pPr>
                      <a:r>
                        <a:rPr/>
                        <a:t>1.70</a:t>
                      </a:r>
                    </a:p>
                  </a:txBody>
                </a:tc>
                <a:tc>
                  <a:txBody>
                    <a:bodyPr/>
                    <a:lstStyle/>
                    <a:p>
                      <a:endParaRPr/>
                    </a:p>
                  </a:txBody>
                </a:tc>
              </a:tr>
              <a:tr h="0">
                <a:tc>
                  <a:txBody>
                    <a:bodyPr/>
                    <a:lstStyle/>
                    <a:p>
                      <a:pPr lvl="0" indent="0" marL="0">
                        <a:buNone/>
                      </a:pPr>
                      <a:r>
                        <a:rPr/>
                        <a:t>D</a:t>
                      </a:r>
                    </a:p>
                  </a:txBody>
                </a:tc>
                <a:tc>
                  <a:txBody>
                    <a:bodyPr/>
                    <a:lstStyle/>
                    <a:p>
                      <a:pPr lvl="0" indent="0" marL="0">
                        <a:buNone/>
                      </a:pPr>
                      <a:r>
                        <a:rPr/>
                        <a:t>60-69%</a:t>
                      </a:r>
                    </a:p>
                  </a:txBody>
                </a:tc>
                <a:tc>
                  <a:txBody>
                    <a:bodyPr/>
                    <a:lstStyle/>
                    <a:p>
                      <a:pPr lvl="0" indent="0" marL="0">
                        <a:buNone/>
                      </a:pPr>
                      <a:r>
                        <a:rPr/>
                        <a:t>1.00</a:t>
                      </a:r>
                    </a:p>
                  </a:txBody>
                </a:tc>
                <a:tc>
                  <a:txBody>
                    <a:bodyPr/>
                    <a:lstStyle/>
                    <a:p>
                      <a:pPr lvl="0" indent="0" marL="0">
                        <a:buNone/>
                      </a:pPr>
                      <a:r>
                        <a:rPr/>
                        <a:t>Marginal Pass</a:t>
                      </a:r>
                    </a:p>
                  </a:txBody>
                </a:tc>
              </a:tr>
              <a:tr h="0">
                <a:tc>
                  <a:txBody>
                    <a:bodyPr/>
                    <a:lstStyle/>
                    <a:p>
                      <a:pPr lvl="0" indent="0" marL="0">
                        <a:buNone/>
                      </a:pPr>
                      <a:r>
                        <a:rPr/>
                        <a:t>F</a:t>
                      </a:r>
                    </a:p>
                  </a:txBody>
                </a:tc>
                <a:tc>
                  <a:txBody>
                    <a:bodyPr/>
                    <a:lstStyle/>
                    <a:p>
                      <a:pPr lvl="0" indent="0" marL="0">
                        <a:buNone/>
                      </a:pPr>
                      <a:r>
                        <a:rPr/>
                        <a:t>0-59%</a:t>
                      </a:r>
                    </a:p>
                  </a:txBody>
                </a:tc>
                <a:tc>
                  <a:txBody>
                    <a:bodyPr/>
                    <a:lstStyle/>
                    <a:p>
                      <a:pPr lvl="0" indent="0" marL="0">
                        <a:buNone/>
                      </a:pPr>
                      <a:r>
                        <a:rPr/>
                        <a:t>0.00</a:t>
                      </a:r>
                    </a:p>
                  </a:txBody>
                </a:tc>
                <a:tc>
                  <a:txBody>
                    <a:bodyPr/>
                    <a:lstStyle/>
                    <a:p>
                      <a:pPr lvl="0" indent="0" marL="0">
                        <a:buNone/>
                      </a:pPr>
                      <a:r>
                        <a:rPr/>
                        <a:t>Fail</a:t>
                      </a:r>
                    </a:p>
                  </a:txBody>
                </a:tc>
              </a:tr>
            </a:tbl>
          </a:graphicData>
        </a:graphic>
      </p:graphicFrame>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Attendance Policy</a:t>
            </a:r>
          </a:p>
          <a:p>
            <a:pPr lvl="0" indent="0" marL="0">
              <a:buNone/>
            </a:pPr>
            <a:r>
              <a:rPr/>
              <a:t>Students are expected to attend all scheduled classes. Absences exceeding 20% of class meetings may result in grade penalties or withdrawal from the course. Medical or emergency absences require official documentation.</a:t>
            </a:r>
          </a:p>
          <a:p>
            <a:pPr lvl="0" indent="0" marL="0">
              <a:spcBef>
                <a:spcPts val="3000"/>
              </a:spcBef>
              <a:buNone/>
            </a:pPr>
            <a:r>
              <a:rPr b="1"/>
              <a:t>Academic Integrity Policy</a:t>
            </a:r>
          </a:p>
          <a:p>
            <a:pPr lvl="0"/>
            <a:r>
              <a:rPr b="1"/>
              <a:t>Plagiarism</a:t>
            </a:r>
            <a:r>
              <a:rPr/>
              <a:t>: All work must be original. Copying or paraphrasing without citation is prohibited.</a:t>
            </a:r>
          </a:p>
          <a:p>
            <a:pPr lvl="0"/>
            <a:r>
              <a:rPr b="1"/>
              <a:t>Cheating</a:t>
            </a:r>
            <a:r>
              <a:rPr/>
              <a:t>: Using unauthorized materials during exams or assignments is strictly forbidden.</a:t>
            </a:r>
          </a:p>
          <a:p>
            <a:pPr lvl="0"/>
            <a:r>
              <a:rPr b="1"/>
              <a:t>Collaboration</a:t>
            </a:r>
            <a:r>
              <a:rPr/>
              <a:t>: Only permitted when expressly authorized by the instructor.</a:t>
            </a:r>
          </a:p>
          <a:p>
            <a:pPr lvl="0"/>
            <a:r>
              <a:rPr b="1"/>
              <a:t>Consequences</a:t>
            </a:r>
            <a:r>
              <a:rPr/>
              <a:t>: Violations may result in a failing grade, formal warning, suspension, or expulsion.</a:t>
            </a:r>
          </a:p>
          <a:p>
            <a:pPr lvl="0" indent="0" marL="0">
              <a:spcBef>
                <a:spcPts val="3000"/>
              </a:spcBef>
              <a:buNone/>
            </a:pPr>
            <a:r>
              <a:rPr b="1"/>
              <a:t>Course Registration and Withdrawal</a:t>
            </a:r>
          </a:p>
          <a:p>
            <a:pPr lvl="0"/>
            <a:r>
              <a:rPr/>
              <a:t>Registration opens twice a year: May 10 for Fall, November 15 for Spring.</a:t>
            </a:r>
          </a:p>
          <a:p>
            <a:pPr lvl="0"/>
            <a:r>
              <a:rPr/>
              <a:t>Add/Drop Period: First two weeks of the semester.</a:t>
            </a:r>
          </a:p>
          <a:p>
            <a:pPr lvl="0"/>
            <a:r>
              <a:rPr/>
              <a:t>Withdrawal deadline: End of Week 10. W on transcript, no impact on GPA.</a:t>
            </a:r>
          </a:p>
          <a:p>
            <a:pPr lvl="0"/>
            <a:r>
              <a:rPr/>
              <a:t>Late withdrawal requests require approval from the Dean of Students.</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Campus Life</a:t>
            </a:r>
          </a:p>
        </p:txBody>
      </p:sp>
      <p:sp>
        <p:nvSpPr>
          <p:cNvPr id="3" name="Content Placeholder 2"/>
          <p:cNvSpPr>
            <a:spLocks noGrp="1"/>
          </p:cNvSpPr>
          <p:nvPr>
            <p:ph idx="1"/>
          </p:nvPr>
        </p:nvSpPr>
        <p:spPr/>
        <p:txBody>
          <a:bodyPr/>
          <a:lstStyle/>
          <a:p>
            <a:pPr lvl="0" indent="0" marL="0">
              <a:spcBef>
                <a:spcPts val="3000"/>
              </a:spcBef>
              <a:buNone/>
            </a:pPr>
            <a:r>
              <a:rPr b="1"/>
              <a:t>Student Organizations</a:t>
            </a:r>
          </a:p>
          <a:p>
            <a:pPr lvl="0" indent="0" marL="0">
              <a:buNone/>
            </a:pPr>
            <a:r>
              <a:rPr/>
              <a:t>Cendara students pursue passions through 90+ clubs and societies, including:</a:t>
            </a:r>
          </a:p>
          <a:p>
            <a:pPr lvl="0"/>
            <a:r>
              <a:rPr b="1"/>
              <a:t>Cendara Debate Society</a:t>
            </a:r>
          </a:p>
          <a:p>
            <a:pPr lvl="0"/>
            <a:r>
              <a:rPr b="1"/>
              <a:t>Women in Robotics</a:t>
            </a:r>
          </a:p>
          <a:p>
            <a:pPr lvl="0"/>
            <a:r>
              <a:rPr b="1"/>
              <a:t>Black Student Union</a:t>
            </a:r>
          </a:p>
          <a:p>
            <a:pPr lvl="0"/>
            <a:r>
              <a:rPr b="1"/>
              <a:t>Green Thumb (Environmental Club)</a:t>
            </a:r>
          </a:p>
          <a:p>
            <a:pPr lvl="0"/>
            <a:r>
              <a:rPr b="1"/>
              <a:t>International Students Association</a:t>
            </a:r>
          </a:p>
          <a:p>
            <a:pPr lvl="0"/>
            <a:r>
              <a:rPr b="1"/>
              <a:t>Chess and Go Club</a:t>
            </a:r>
          </a:p>
          <a:p>
            <a:pPr lvl="0" indent="0" marL="0">
              <a:buNone/>
            </a:pPr>
            <a:r>
              <a:rPr/>
              <a:t>You can start a new organization by submitting a proposal to the Student Life Office.</a:t>
            </a:r>
          </a:p>
          <a:p>
            <a:pPr lvl="0" indent="0" marL="0">
              <a:spcBef>
                <a:spcPts val="3000"/>
              </a:spcBef>
              <a:buNone/>
            </a:pPr>
            <a:r>
              <a:rPr b="1"/>
              <a:t>Residence Life</a:t>
            </a:r>
          </a:p>
          <a:p>
            <a:pPr lvl="0"/>
            <a:r>
              <a:rPr b="1"/>
              <a:t>Residence Halls</a:t>
            </a:r>
            <a:r>
              <a:rPr/>
              <a:t>: Aspen, Birch, Linden, and Juniper Halls.</a:t>
            </a:r>
          </a:p>
          <a:p>
            <a:pPr lvl="0"/>
            <a:r>
              <a:rPr b="1"/>
              <a:t>Room Assignment</a:t>
            </a:r>
            <a:r>
              <a:rPr/>
              <a:t>: Incoming first-years guaranteed housing; upperclass students apply via housing lottery.</a:t>
            </a:r>
          </a:p>
          <a:p>
            <a:pPr lvl="0"/>
            <a:r>
              <a:rPr b="1"/>
              <a:t>Resident Advisors (RAs)</a:t>
            </a:r>
            <a:r>
              <a:rPr/>
              <a:t>: Each floor has an RA for support and community events.</a:t>
            </a:r>
          </a:p>
          <a:p>
            <a:pPr lvl="0"/>
            <a:r>
              <a:rPr b="1"/>
              <a:t>Quiet Hours</a:t>
            </a:r>
            <a:r>
              <a:rPr/>
              <a:t>: 10:00 PM – 8:00 AM weekdays; midnight – 9:00 AM weekends.</a:t>
            </a:r>
          </a:p>
          <a:p>
            <a:pPr lvl="0" indent="0" marL="0">
              <a:spcBef>
                <a:spcPts val="3000"/>
              </a:spcBef>
              <a:buNone/>
            </a:pPr>
            <a:r>
              <a:rPr b="1"/>
              <a:t>Dining Services</a:t>
            </a:r>
          </a:p>
          <a:p>
            <a:pPr lvl="0"/>
            <a:r>
              <a:rPr b="1"/>
              <a:t>Dining Halls</a:t>
            </a:r>
            <a:r>
              <a:rPr/>
              <a:t>: Oakleaf Commons and Willow Café. Vegetarian, vegan, and gluten-free meal options available.</a:t>
            </a:r>
          </a:p>
          <a:p>
            <a:pPr lvl="0"/>
            <a:r>
              <a:rPr b="1"/>
              <a:t>Meal Plans</a:t>
            </a:r>
            <a:r>
              <a:rPr/>
              <a:t>: All resident students must purchase a meal plan (Silver, Gold, Platinum).</a:t>
            </a:r>
          </a:p>
          <a:p>
            <a:pPr lvl="0"/>
            <a:r>
              <a:rPr b="1"/>
              <a:t>Hours</a:t>
            </a:r>
            <a:r>
              <a:rPr/>
              <a:t>: 7:00 AM – 10:00 PM weekdays; 8:00 AM – 9:00 PM weekends.</a:t>
            </a:r>
          </a:p>
          <a:p>
            <a:pPr lvl="0" indent="0" marL="0">
              <a:spcBef>
                <a:spcPts val="3000"/>
              </a:spcBef>
              <a:buNone/>
            </a:pPr>
            <a:r>
              <a:rPr b="1"/>
              <a:t>Campus Events</a:t>
            </a:r>
          </a:p>
          <a:p>
            <a:pPr lvl="0" indent="0" marL="0">
              <a:buNone/>
            </a:pPr>
            <a:r>
              <a:rPr/>
              <a:t>Signature campus events include:</a:t>
            </a:r>
          </a:p>
          <a:p>
            <a:pPr lvl="0"/>
            <a:r>
              <a:rPr b="1"/>
              <a:t>Welcome Week</a:t>
            </a:r>
            <a:r>
              <a:rPr/>
              <a:t>: Social, academic, and orientation activities for all new students, August 28 – September 2.</a:t>
            </a:r>
          </a:p>
          <a:p>
            <a:pPr lvl="0"/>
            <a:r>
              <a:rPr b="1"/>
              <a:t>Spring Carnival</a:t>
            </a:r>
            <a:r>
              <a:rPr/>
              <a:t>: April 21–23 — music, food trucks, inflatables, and art showcases.</a:t>
            </a:r>
          </a:p>
          <a:p>
            <a:pPr lvl="0"/>
            <a:r>
              <a:rPr b="1"/>
              <a:t>Research Expo</a:t>
            </a:r>
            <a:r>
              <a:rPr/>
              <a:t>: November 3 — student research presentations and guest speakers.</a:t>
            </a:r>
          </a:p>
          <a:p>
            <a:pPr lvl="0"/>
            <a:r>
              <a:rPr b="1"/>
              <a:t>Cultural Night</a:t>
            </a:r>
            <a:r>
              <a:rPr/>
              <a:t>: March 10 — celebrating campus diversity with performance and cuisine.</a:t>
            </a:r>
          </a:p>
          <a:p>
            <a:pPr lvl="0" indent="0" marL="0">
              <a:spcBef>
                <a:spcPts val="3000"/>
              </a:spcBef>
              <a:buNone/>
            </a:pPr>
            <a:r>
              <a:rPr b="1"/>
              <a:t>Athletics &amp; Recreation</a:t>
            </a:r>
          </a:p>
          <a:p>
            <a:pPr lvl="0"/>
            <a:r>
              <a:rPr b="1"/>
              <a:t>Varsity Teams</a:t>
            </a:r>
            <a:r>
              <a:rPr/>
              <a:t>: Falcons (Basketball, Soccer, Volleyball, Track &amp; Field)</a:t>
            </a:r>
          </a:p>
          <a:p>
            <a:pPr lvl="0"/>
            <a:r>
              <a:rPr b="1"/>
              <a:t>Intramural Sports</a:t>
            </a:r>
            <a:r>
              <a:rPr/>
              <a:t>: Flag Football, Ultimate Frisbee, Table Tennis, Badminton</a:t>
            </a:r>
          </a:p>
          <a:p>
            <a:pPr lvl="0"/>
            <a:r>
              <a:rPr b="1"/>
              <a:t>Fitness Classes</a:t>
            </a:r>
            <a:r>
              <a:rPr/>
              <a:t>: Yoga, Zumba, HIIT, Aqua Aerobics offered at Cendara Athletics Pavilion.</a:t>
            </a:r>
          </a:p>
          <a:p>
            <a:pPr lvl="0"/>
            <a:r>
              <a:rPr b="1"/>
              <a:t>Outdoor Trails</a:t>
            </a:r>
            <a:r>
              <a:rPr/>
              <a:t>: 3 miles of walking and jogging paths through Cendara Arboretum.</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Student Resources</a:t>
            </a:r>
          </a:p>
        </p:txBody>
      </p:sp>
      <p:sp>
        <p:nvSpPr>
          <p:cNvPr id="3" name="Content Placeholder 2"/>
          <p:cNvSpPr>
            <a:spLocks noGrp="1"/>
          </p:cNvSpPr>
          <p:nvPr>
            <p:ph idx="1"/>
          </p:nvPr>
        </p:nvSpPr>
        <p:spPr/>
        <p:txBody>
          <a:bodyPr/>
          <a:lstStyle/>
          <a:p>
            <a:pPr lvl="0" indent="0" marL="0">
              <a:spcBef>
                <a:spcPts val="3000"/>
              </a:spcBef>
              <a:buNone/>
            </a:pPr>
            <a:r>
              <a:rPr b="1"/>
              <a:t>Library Services</a:t>
            </a:r>
          </a:p>
          <a:p>
            <a:pPr lvl="0"/>
            <a:r>
              <a:rPr b="1"/>
              <a:t>Silverleaf Library</a:t>
            </a:r>
            <a:r>
              <a:rPr/>
              <a:t>: 120,000 print volumes, 400,000 digital items, 100 study carrels.</a:t>
            </a:r>
          </a:p>
          <a:p>
            <a:pPr lvl="0"/>
            <a:r>
              <a:rPr b="1"/>
              <a:t>Hours</a:t>
            </a:r>
            <a:r>
              <a:rPr/>
              <a:t>: 8:00 AM – midnight (Mon–Thurs), closes at 10:00 PM Fri–Sun.</a:t>
            </a:r>
          </a:p>
          <a:p>
            <a:pPr lvl="0"/>
            <a:r>
              <a:rPr b="1"/>
              <a:t>Services</a:t>
            </a:r>
            <a:r>
              <a:rPr/>
              <a:t>:</a:t>
            </a:r>
          </a:p>
          <a:p>
            <a:pPr lvl="1"/>
            <a:r>
              <a:rPr/>
              <a:t>Research consultations</a:t>
            </a:r>
          </a:p>
          <a:p>
            <a:pPr lvl="1"/>
            <a:r>
              <a:rPr/>
              <a:t>Laptop loans</a:t>
            </a:r>
          </a:p>
          <a:p>
            <a:pPr lvl="1"/>
            <a:r>
              <a:rPr/>
              <a:t>Group study rooms (reserve online)</a:t>
            </a:r>
          </a:p>
          <a:p>
            <a:pPr lvl="1"/>
            <a:r>
              <a:rPr/>
              <a:t>Printing and scanning</a:t>
            </a:r>
          </a:p>
          <a:p>
            <a:pPr lvl="0" indent="0" marL="0">
              <a:spcBef>
                <a:spcPts val="3000"/>
              </a:spcBef>
              <a:buNone/>
            </a:pPr>
            <a:r>
              <a:rPr b="1"/>
              <a:t>Health &amp; Wellness Center</a:t>
            </a:r>
          </a:p>
          <a:p>
            <a:pPr lvl="0"/>
            <a:r>
              <a:rPr b="1"/>
              <a:t>Location</a:t>
            </a:r>
            <a:r>
              <a:rPr/>
              <a:t>: West end of Arches Academic Complex</a:t>
            </a:r>
          </a:p>
          <a:p>
            <a:pPr lvl="0"/>
            <a:r>
              <a:rPr b="1"/>
              <a:t>Hours</a:t>
            </a:r>
            <a:r>
              <a:rPr/>
              <a:t>: 8:30 AM – 6:00 PM (Weekdays)</a:t>
            </a:r>
          </a:p>
          <a:p>
            <a:pPr lvl="0"/>
            <a:r>
              <a:rPr b="1"/>
              <a:t>Services</a:t>
            </a:r>
            <a:r>
              <a:rPr/>
              <a:t>:</a:t>
            </a:r>
          </a:p>
          <a:p>
            <a:pPr lvl="1"/>
            <a:r>
              <a:rPr/>
              <a:t>General health (routine check-ups, immunizations)</a:t>
            </a:r>
          </a:p>
          <a:p>
            <a:pPr lvl="1"/>
            <a:r>
              <a:rPr/>
              <a:t>Sexual health and counseling</a:t>
            </a:r>
          </a:p>
          <a:p>
            <a:pPr lvl="1"/>
            <a:r>
              <a:rPr/>
              <a:t>Telemedicine appointments</a:t>
            </a:r>
          </a:p>
          <a:p>
            <a:pPr lvl="0" indent="0" marL="0">
              <a:spcBef>
                <a:spcPts val="3000"/>
              </a:spcBef>
              <a:buNone/>
            </a:pPr>
            <a:r>
              <a:rPr b="1"/>
              <a:t>Counseling Services</a:t>
            </a:r>
          </a:p>
          <a:p>
            <a:pPr lvl="0"/>
            <a:r>
              <a:rPr b="1"/>
              <a:t>Confidential mental health support</a:t>
            </a:r>
          </a:p>
          <a:p>
            <a:pPr lvl="0"/>
            <a:r>
              <a:rPr b="1"/>
              <a:t>Free short-term individual counseling</a:t>
            </a:r>
          </a:p>
          <a:p>
            <a:pPr lvl="0"/>
            <a:r>
              <a:rPr b="1"/>
              <a:t>Support groups on topics such as stress, anxiety, and academic pressure</a:t>
            </a:r>
          </a:p>
          <a:p>
            <a:pPr lvl="0"/>
            <a:r>
              <a:rPr b="1"/>
              <a:t>Workshops and outreach programs</a:t>
            </a:r>
          </a:p>
          <a:p>
            <a:pPr lvl="0" indent="0" marL="0">
              <a:spcBef>
                <a:spcPts val="3000"/>
              </a:spcBef>
              <a:buNone/>
            </a:pPr>
            <a:r>
              <a:rPr b="1"/>
              <a:t>Career Development</a:t>
            </a:r>
          </a:p>
          <a:p>
            <a:pPr lvl="0"/>
            <a:r>
              <a:rPr b="1"/>
              <a:t>Resources</a:t>
            </a:r>
            <a:r>
              <a:rPr/>
              <a:t>:</a:t>
            </a:r>
          </a:p>
          <a:p>
            <a:pPr lvl="1"/>
            <a:r>
              <a:rPr/>
              <a:t>Resume and cover letter reviews</a:t>
            </a:r>
          </a:p>
          <a:p>
            <a:pPr lvl="1"/>
            <a:r>
              <a:rPr/>
              <a:t>Mock interviews</a:t>
            </a:r>
          </a:p>
          <a:p>
            <a:pPr lvl="1"/>
            <a:r>
              <a:rPr/>
              <a:t>Alumni networking events</a:t>
            </a:r>
          </a:p>
          <a:p>
            <a:pPr lvl="1"/>
            <a:r>
              <a:rPr/>
              <a:t>On-campus career fairs (Fall and Spring)</a:t>
            </a:r>
          </a:p>
          <a:p>
            <a:pPr lvl="0"/>
            <a:r>
              <a:rPr b="1"/>
              <a:t>Internship and job search portal available at</a:t>
            </a:r>
            <a:r>
              <a:rPr/>
              <a:t> </a:t>
            </a:r>
            <a:r>
              <a:rPr>
                <a:hlinkClick r:id="rId2"/>
              </a:rPr>
              <a:t>careers.cendara.edu</a:t>
            </a:r>
          </a:p>
          <a:p>
            <a:pPr lvl="0" indent="0" marL="0">
              <a:spcBef>
                <a:spcPts val="3000"/>
              </a:spcBef>
              <a:buNone/>
            </a:pPr>
            <a:r>
              <a:rPr b="1"/>
              <a:t>Technology Support</a:t>
            </a:r>
          </a:p>
          <a:p>
            <a:pPr lvl="0"/>
            <a:r>
              <a:rPr b="1"/>
              <a:t>IT Help Desk</a:t>
            </a:r>
            <a:r>
              <a:rPr/>
              <a:t>: helpdesk@cendara.edu, (473) 555-0197</a:t>
            </a:r>
          </a:p>
          <a:p>
            <a:pPr lvl="0"/>
            <a:r>
              <a:rPr b="1"/>
              <a:t>Services</a:t>
            </a:r>
            <a:r>
              <a:rPr/>
              <a:t>:</a:t>
            </a:r>
          </a:p>
          <a:p>
            <a:pPr lvl="1"/>
            <a:r>
              <a:rPr/>
              <a:t>Free campus Wi-Fi (use login: studentID@cendara.edu)</a:t>
            </a:r>
          </a:p>
          <a:p>
            <a:pPr lvl="1"/>
            <a:r>
              <a:rPr/>
              <a:t>Computer labs in Academic Complex and Library</a:t>
            </a:r>
          </a:p>
          <a:p>
            <a:pPr lvl="1"/>
            <a:r>
              <a:rPr/>
              <a:t>Software downloads (Microsoft 365, Matlab, Adobe Creative Suite)</a:t>
            </a:r>
          </a:p>
          <a:p>
            <a:pPr lvl="1"/>
            <a:r>
              <a:rPr/>
              <a:t>24/7 emergency tech support</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Code of Conduct</a:t>
            </a:r>
          </a:p>
        </p:txBody>
      </p:sp>
      <p:sp>
        <p:nvSpPr>
          <p:cNvPr id="3" name="Content Placeholder 2"/>
          <p:cNvSpPr>
            <a:spLocks noGrp="1"/>
          </p:cNvSpPr>
          <p:nvPr>
            <p:ph idx="1"/>
          </p:nvPr>
        </p:nvSpPr>
        <p:spPr/>
        <p:txBody>
          <a:bodyPr/>
          <a:lstStyle/>
          <a:p>
            <a:pPr lvl="0" indent="0" marL="0">
              <a:buNone/>
            </a:pPr>
            <a:r>
              <a:rPr/>
              <a:t>Cendara University expects all students to uphold principles of respect, responsibility, and integrity. The following are strictly prohibited:</a:t>
            </a:r>
          </a:p>
          <a:p>
            <a:pPr lvl="0"/>
            <a:r>
              <a:rPr b="1"/>
              <a:t>Harassment, discrimination, or hate speech</a:t>
            </a:r>
            <a:r>
              <a:rPr/>
              <a:t> of any kind</a:t>
            </a:r>
          </a:p>
          <a:p>
            <a:pPr lvl="0"/>
            <a:r>
              <a:rPr b="1"/>
              <a:t>Violence</a:t>
            </a:r>
            <a:r>
              <a:rPr/>
              <a:t>, threats, or intimidation</a:t>
            </a:r>
          </a:p>
          <a:p>
            <a:pPr lvl="0"/>
            <a:r>
              <a:rPr b="1"/>
              <a:t>Theft or destruction of property</a:t>
            </a:r>
          </a:p>
          <a:p>
            <a:pPr lvl="0"/>
            <a:r>
              <a:rPr b="1"/>
              <a:t>Alcohol or drug use</a:t>
            </a:r>
            <a:r>
              <a:rPr/>
              <a:t> on campus (unless permitted at registered, age-verified events)</a:t>
            </a:r>
          </a:p>
          <a:p>
            <a:pPr lvl="0"/>
            <a:r>
              <a:rPr b="1"/>
              <a:t>Academic dishonesty</a:t>
            </a:r>
            <a:r>
              <a:rPr/>
              <a:t> (see Academic Integrity Policy)</a:t>
            </a:r>
          </a:p>
          <a:p>
            <a:pPr lvl="0" indent="0" marL="0">
              <a:buNone/>
            </a:pPr>
            <a:r>
              <a:rPr/>
              <a:t>Violations are subject to investigation and disciplinary action, including warnings, probation, suspension, and expulsion. Appeals can be made through the Office of Student Conduct.</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Safety &amp; Security</a:t>
            </a:r>
          </a:p>
        </p:txBody>
      </p:sp>
      <p:sp>
        <p:nvSpPr>
          <p:cNvPr id="3" name="Content Placeholder 2"/>
          <p:cNvSpPr>
            <a:spLocks noGrp="1"/>
          </p:cNvSpPr>
          <p:nvPr>
            <p:ph idx="1"/>
          </p:nvPr>
        </p:nvSpPr>
        <p:spPr/>
        <p:txBody>
          <a:bodyPr/>
          <a:lstStyle/>
          <a:p>
            <a:pPr lvl="0"/>
            <a:r>
              <a:rPr b="1"/>
              <a:t>Campus Safety Office</a:t>
            </a:r>
            <a:r>
              <a:rPr/>
              <a:t>: Located in Willows Student Center (open 24/7)</a:t>
            </a:r>
          </a:p>
          <a:p>
            <a:pPr lvl="0"/>
            <a:r>
              <a:rPr b="1"/>
              <a:t>Emergency Contacts</a:t>
            </a:r>
            <a:r>
              <a:rPr/>
              <a:t>: (473) 555-0111 (emergency), (473) 555-0120 (non-emergency)</a:t>
            </a:r>
          </a:p>
          <a:p>
            <a:pPr lvl="0"/>
            <a:r>
              <a:rPr b="1"/>
              <a:t>Safe Ride Program</a:t>
            </a:r>
            <a:r>
              <a:rPr/>
              <a:t>: Free rides from 6:00 PM to 2:00 AM daily</a:t>
            </a:r>
          </a:p>
          <a:p>
            <a:pPr lvl="0"/>
            <a:r>
              <a:rPr b="1"/>
              <a:t>Blue Light Phones</a:t>
            </a:r>
            <a:r>
              <a:rPr/>
              <a:t>: 25 locations across campus for immediate assistance</a:t>
            </a:r>
          </a:p>
          <a:p>
            <a:pPr lvl="0"/>
            <a:r>
              <a:rPr b="1"/>
              <a:t>Fire Drills &amp; Emergency Procedures</a:t>
            </a:r>
            <a:r>
              <a:rPr/>
              <a:t>: Conducted each semester—see posted instructions.</a:t>
            </a:r>
          </a:p>
          <a:p>
            <a:pPr lvl="0"/>
            <a:r>
              <a:rPr b="1"/>
              <a:t>Personal Property Tips</a:t>
            </a:r>
            <a:r>
              <a:rPr/>
              <a:t>:</a:t>
            </a:r>
          </a:p>
          <a:p>
            <a:pPr lvl="1"/>
            <a:r>
              <a:rPr/>
              <a:t>Lock doors and bikes at all times.</a:t>
            </a:r>
          </a:p>
          <a:p>
            <a:pPr lvl="1"/>
            <a:r>
              <a:rPr/>
              <a:t>Report suspicious activity.</a:t>
            </a:r>
          </a:p>
          <a:p>
            <a:pPr lvl="1"/>
            <a:r>
              <a:rPr/>
              <a:t>Register laptops and valuables with Campus Safety.</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Diversity &amp; Inclusion</a:t>
            </a:r>
          </a:p>
        </p:txBody>
      </p:sp>
      <p:sp>
        <p:nvSpPr>
          <p:cNvPr id="3" name="Content Placeholder 2"/>
          <p:cNvSpPr>
            <a:spLocks noGrp="1"/>
          </p:cNvSpPr>
          <p:nvPr>
            <p:ph idx="1"/>
          </p:nvPr>
        </p:nvSpPr>
        <p:spPr/>
        <p:txBody>
          <a:bodyPr/>
          <a:lstStyle/>
          <a:p>
            <a:pPr lvl="0" indent="0" marL="0">
              <a:buNone/>
            </a:pPr>
            <a:r>
              <a:rPr/>
              <a:t>Cendara University is committed to building a welcoming and equitable community. The Office of Diversity, Equity, &amp; Inclusion (ODEI) leads campus-wide efforts in:</a:t>
            </a:r>
          </a:p>
          <a:p>
            <a:pPr lvl="0"/>
            <a:r>
              <a:rPr b="1"/>
              <a:t>Bias incident reporting and response</a:t>
            </a:r>
          </a:p>
          <a:p>
            <a:pPr lvl="0"/>
            <a:r>
              <a:rPr b="1"/>
              <a:t>Support for affinity groups (LGBTQ+, cultural groups, first-generation students)</a:t>
            </a:r>
          </a:p>
          <a:p>
            <a:pPr lvl="0"/>
            <a:r>
              <a:rPr b="1"/>
              <a:t>Workshops on cultural competence and allyship</a:t>
            </a:r>
          </a:p>
          <a:p>
            <a:pPr lvl="0"/>
            <a:r>
              <a:rPr b="1"/>
              <a:t>Scholarships and mentoring for underrepresented students</a:t>
            </a:r>
          </a:p>
          <a:p>
            <a:pPr lvl="0" indent="0" marL="0">
              <a:buNone/>
            </a:pPr>
            <a:r>
              <a:rPr/>
              <a:t>For more information, contact odei@cendara.edu or visit their office in the Willows Student Center.</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Important Contacts</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057400"/>
                <a:gridCol w="2057400"/>
                <a:gridCol w="2057400"/>
                <a:gridCol w="2057400"/>
              </a:tblGrid>
              <a:tr h="0">
                <a:tc>
                  <a:txBody>
                    <a:bodyPr/>
                    <a:lstStyle/>
                    <a:p>
                      <a:pPr lvl="0" indent="0" marL="0">
                        <a:buNone/>
                      </a:pPr>
                      <a:r>
                        <a:rPr/>
                        <a:t>Office</a:t>
                      </a:r>
                    </a:p>
                  </a:txBody>
                  <a:tcPr/>
                </a:tc>
                <a:tc>
                  <a:txBody>
                    <a:bodyPr/>
                    <a:lstStyle/>
                    <a:p>
                      <a:pPr lvl="0" indent="0" marL="0">
                        <a:buNone/>
                      </a:pPr>
                      <a:r>
                        <a:rPr/>
                        <a:t>Location</a:t>
                      </a:r>
                    </a:p>
                  </a:txBody>
                  <a:tcPr/>
                </a:tc>
                <a:tc>
                  <a:txBody>
                    <a:bodyPr/>
                    <a:lstStyle/>
                    <a:p>
                      <a:pPr lvl="0" indent="0" marL="0">
                        <a:buNone/>
                      </a:pPr>
                      <a:r>
                        <a:rPr/>
                        <a:t>Phone</a:t>
                      </a:r>
                    </a:p>
                  </a:txBody>
                  <a:tcPr/>
                </a:tc>
                <a:tc>
                  <a:txBody>
                    <a:bodyPr/>
                    <a:lstStyle/>
                    <a:p>
                      <a:pPr lvl="0" indent="0" marL="0">
                        <a:buNone/>
                      </a:pPr>
                      <a:r>
                        <a:rPr/>
                        <a:t>Email</a:t>
                      </a:r>
                    </a:p>
                  </a:txBody>
                  <a:tcPr/>
                </a:tc>
              </a:tr>
              <a:tr h="0">
                <a:tc>
                  <a:txBody>
                    <a:bodyPr/>
                    <a:lstStyle/>
                    <a:p>
                      <a:pPr lvl="0" indent="0" marL="0">
                        <a:buNone/>
                      </a:pPr>
                      <a:r>
                        <a:rPr/>
                        <a:t>Student Affairs</a:t>
                      </a:r>
                    </a:p>
                  </a:txBody>
                </a:tc>
                <a:tc>
                  <a:txBody>
                    <a:bodyPr/>
                    <a:lstStyle/>
                    <a:p>
                      <a:pPr lvl="0" indent="0" marL="0">
                        <a:buNone/>
                      </a:pPr>
                      <a:r>
                        <a:rPr/>
                        <a:t>Willows Student Center, 2nd Fl.</a:t>
                      </a:r>
                    </a:p>
                  </a:txBody>
                </a:tc>
                <a:tc>
                  <a:txBody>
                    <a:bodyPr/>
                    <a:lstStyle/>
                    <a:p>
                      <a:pPr lvl="0" indent="0" marL="0">
                        <a:buNone/>
                      </a:pPr>
                      <a:r>
                        <a:rPr/>
                        <a:t>(473) 555-0150</a:t>
                      </a:r>
                    </a:p>
                  </a:txBody>
                </a:tc>
                <a:tc>
                  <a:txBody>
                    <a:bodyPr/>
                    <a:lstStyle/>
                    <a:p>
                      <a:pPr lvl="0" indent="0" marL="0">
                        <a:buNone/>
                      </a:pPr>
                      <a:r>
                        <a:rPr/>
                        <a:t>student.affairs@cendara.edu</a:t>
                      </a:r>
                    </a:p>
                  </a:txBody>
                </a:tc>
              </a:tr>
              <a:tr h="0">
                <a:tc>
                  <a:txBody>
                    <a:bodyPr/>
                    <a:lstStyle/>
                    <a:p>
                      <a:pPr lvl="0" indent="0" marL="0">
                        <a:buNone/>
                      </a:pPr>
                      <a:r>
                        <a:rPr/>
                        <a:t>Academic Advising</a:t>
                      </a:r>
                    </a:p>
                  </a:txBody>
                </a:tc>
                <a:tc>
                  <a:txBody>
                    <a:bodyPr/>
                    <a:lstStyle/>
                    <a:p>
                      <a:pPr lvl="0" indent="0" marL="0">
                        <a:buNone/>
                      </a:pPr>
                      <a:r>
                        <a:rPr/>
                        <a:t>Arches Complex, Room 104</a:t>
                      </a:r>
                    </a:p>
                  </a:txBody>
                </a:tc>
                <a:tc>
                  <a:txBody>
                    <a:bodyPr/>
                    <a:lstStyle/>
                    <a:p>
                      <a:pPr lvl="0" indent="0" marL="0">
                        <a:buNone/>
                      </a:pPr>
                      <a:r>
                        <a:rPr/>
                        <a:t>(473) 555-0172</a:t>
                      </a:r>
                    </a:p>
                  </a:txBody>
                </a:tc>
                <a:tc>
                  <a:txBody>
                    <a:bodyPr/>
                    <a:lstStyle/>
                    <a:p>
                      <a:pPr lvl="0" indent="0" marL="0">
                        <a:buNone/>
                      </a:pPr>
                      <a:r>
                        <a:rPr/>
                        <a:t>advising@cendara.edu</a:t>
                      </a:r>
                    </a:p>
                  </a:txBody>
                </a:tc>
              </a:tr>
              <a:tr h="0">
                <a:tc>
                  <a:txBody>
                    <a:bodyPr/>
                    <a:lstStyle/>
                    <a:p>
                      <a:pPr lvl="0" indent="0" marL="0">
                        <a:buNone/>
                      </a:pPr>
                      <a:r>
                        <a:rPr/>
                        <a:t>Residence Life</a:t>
                      </a:r>
                    </a:p>
                  </a:txBody>
                </a:tc>
                <a:tc>
                  <a:txBody>
                    <a:bodyPr/>
                    <a:lstStyle/>
                    <a:p>
                      <a:pPr lvl="0" indent="0" marL="0">
                        <a:buNone/>
                      </a:pPr>
                      <a:r>
                        <a:rPr/>
                        <a:t>Birch Hall, Lobby</a:t>
                      </a:r>
                    </a:p>
                  </a:txBody>
                </a:tc>
                <a:tc>
                  <a:txBody>
                    <a:bodyPr/>
                    <a:lstStyle/>
                    <a:p>
                      <a:pPr lvl="0" indent="0" marL="0">
                        <a:buNone/>
                      </a:pPr>
                      <a:r>
                        <a:rPr/>
                        <a:t>(473) 555-0166</a:t>
                      </a:r>
                    </a:p>
                  </a:txBody>
                </a:tc>
                <a:tc>
                  <a:txBody>
                    <a:bodyPr/>
                    <a:lstStyle/>
                    <a:p>
                      <a:pPr lvl="0" indent="0" marL="0">
                        <a:buNone/>
                      </a:pPr>
                      <a:r>
                        <a:rPr/>
                        <a:t>reslife@cendara.edu</a:t>
                      </a:r>
                    </a:p>
                  </a:txBody>
                </a:tc>
              </a:tr>
              <a:tr h="0">
                <a:tc>
                  <a:txBody>
                    <a:bodyPr/>
                    <a:lstStyle/>
                    <a:p>
                      <a:pPr lvl="0" indent="0" marL="0">
                        <a:buNone/>
                      </a:pPr>
                      <a:r>
                        <a:rPr/>
                        <a:t>Health &amp; Wellness</a:t>
                      </a:r>
                    </a:p>
                  </a:txBody>
                </a:tc>
                <a:tc>
                  <a:txBody>
                    <a:bodyPr/>
                    <a:lstStyle/>
                    <a:p>
                      <a:pPr lvl="0" indent="0" marL="0">
                        <a:buNone/>
                      </a:pPr>
                      <a:r>
                        <a:rPr/>
                        <a:t>Arches Complex, West End</a:t>
                      </a:r>
                    </a:p>
                  </a:txBody>
                </a:tc>
                <a:tc>
                  <a:txBody>
                    <a:bodyPr/>
                    <a:lstStyle/>
                    <a:p>
                      <a:pPr lvl="0" indent="0" marL="0">
                        <a:buNone/>
                      </a:pPr>
                      <a:r>
                        <a:rPr/>
                        <a:t>(473) 555-0184</a:t>
                      </a:r>
                    </a:p>
                  </a:txBody>
                </a:tc>
                <a:tc>
                  <a:txBody>
                    <a:bodyPr/>
                    <a:lstStyle/>
                    <a:p>
                      <a:pPr lvl="0" indent="0" marL="0">
                        <a:buNone/>
                      </a:pPr>
                      <a:r>
                        <a:rPr/>
                        <a:t>healthcenter@cendara.edu</a:t>
                      </a:r>
                    </a:p>
                  </a:txBody>
                </a:tc>
              </a:tr>
              <a:tr h="0">
                <a:tc>
                  <a:txBody>
                    <a:bodyPr/>
                    <a:lstStyle/>
                    <a:p>
                      <a:pPr lvl="0" indent="0" marL="0">
                        <a:buNone/>
                      </a:pPr>
                      <a:r>
                        <a:rPr/>
                        <a:t>Counseling Services</a:t>
                      </a:r>
                    </a:p>
                  </a:txBody>
                </a:tc>
                <a:tc>
                  <a:txBody>
                    <a:bodyPr/>
                    <a:lstStyle/>
                    <a:p>
                      <a:pPr lvl="0" indent="0" marL="0">
                        <a:buNone/>
                      </a:pPr>
                      <a:r>
                        <a:rPr/>
                        <a:t>Willows Student Center, 3rd Fl.</a:t>
                      </a:r>
                    </a:p>
                  </a:txBody>
                </a:tc>
                <a:tc>
                  <a:txBody>
                    <a:bodyPr/>
                    <a:lstStyle/>
                    <a:p>
                      <a:pPr lvl="0" indent="0" marL="0">
                        <a:buNone/>
                      </a:pPr>
                      <a:r>
                        <a:rPr/>
                        <a:t>(473) 555-0135</a:t>
                      </a:r>
                    </a:p>
                  </a:txBody>
                </a:tc>
                <a:tc>
                  <a:txBody>
                    <a:bodyPr/>
                    <a:lstStyle/>
                    <a:p>
                      <a:pPr lvl="0" indent="0" marL="0">
                        <a:buNone/>
                      </a:pPr>
                      <a:r>
                        <a:rPr/>
                        <a:t>counseling@cendara.edu</a:t>
                      </a:r>
                    </a:p>
                  </a:txBody>
                </a:tc>
              </a:tr>
              <a:tr h="0">
                <a:tc>
                  <a:txBody>
                    <a:bodyPr/>
                    <a:lstStyle/>
                    <a:p>
                      <a:pPr lvl="0" indent="0" marL="0">
                        <a:buNone/>
                      </a:pPr>
                      <a:r>
                        <a:rPr/>
                        <a:t>Campus Safety</a:t>
                      </a:r>
                    </a:p>
                  </a:txBody>
                </a:tc>
                <a:tc>
                  <a:txBody>
                    <a:bodyPr/>
                    <a:lstStyle/>
                    <a:p>
                      <a:pPr lvl="0" indent="0" marL="0">
                        <a:buNone/>
                      </a:pPr>
                      <a:r>
                        <a:rPr/>
                        <a:t>Willows Student Center, 1st Fl.</a:t>
                      </a:r>
                    </a:p>
                  </a:txBody>
                </a:tc>
                <a:tc>
                  <a:txBody>
                    <a:bodyPr/>
                    <a:lstStyle/>
                    <a:p>
                      <a:pPr lvl="0" indent="0" marL="0">
                        <a:buNone/>
                      </a:pPr>
                      <a:r>
                        <a:rPr/>
                        <a:t>(473) 555-0111</a:t>
                      </a:r>
                    </a:p>
                  </a:txBody>
                </a:tc>
                <a:tc>
                  <a:txBody>
                    <a:bodyPr/>
                    <a:lstStyle/>
                    <a:p>
                      <a:pPr lvl="0" indent="0" marL="0">
                        <a:buNone/>
                      </a:pPr>
                      <a:r>
                        <a:rPr/>
                        <a:t>safety@cendara.edu</a:t>
                      </a:r>
                    </a:p>
                  </a:txBody>
                </a:tc>
              </a:tr>
              <a:tr h="0">
                <a:tc>
                  <a:txBody>
                    <a:bodyPr/>
                    <a:lstStyle/>
                    <a:p>
                      <a:pPr lvl="0" indent="0" marL="0">
                        <a:buNone/>
                      </a:pPr>
                      <a:r>
                        <a:rPr/>
                        <a:t>Diversity, Equity &amp; Inclusion</a:t>
                      </a:r>
                    </a:p>
                  </a:txBody>
                </a:tc>
                <a:tc>
                  <a:txBody>
                    <a:bodyPr/>
                    <a:lstStyle/>
                    <a:p>
                      <a:pPr lvl="0" indent="0" marL="0">
                        <a:buNone/>
                      </a:pPr>
                      <a:r>
                        <a:rPr/>
                        <a:t>Willows Student Center, 1st Fl.</a:t>
                      </a:r>
                    </a:p>
                  </a:txBody>
                </a:tc>
                <a:tc>
                  <a:txBody>
                    <a:bodyPr/>
                    <a:lstStyle/>
                    <a:p>
                      <a:pPr lvl="0" indent="0" marL="0">
                        <a:buNone/>
                      </a:pPr>
                      <a:r>
                        <a:rPr/>
                        <a:t>(473) 555-0243</a:t>
                      </a:r>
                    </a:p>
                  </a:txBody>
                </a:tc>
                <a:tc>
                  <a:txBody>
                    <a:bodyPr/>
                    <a:lstStyle/>
                    <a:p>
                      <a:pPr lvl="0" indent="0" marL="0">
                        <a:buNone/>
                      </a:pPr>
                      <a:r>
                        <a:rPr/>
                        <a:t>odei@cendara.edu</a:t>
                      </a:r>
                    </a:p>
                  </a:txBody>
                </a:tc>
              </a:tr>
              <a:tr h="0">
                <a:tc>
                  <a:txBody>
                    <a:bodyPr/>
                    <a:lstStyle/>
                    <a:p>
                      <a:pPr lvl="0" indent="0" marL="0">
                        <a:buNone/>
                      </a:pPr>
                      <a:r>
                        <a:rPr/>
                        <a:t>Library</a:t>
                      </a:r>
                    </a:p>
                  </a:txBody>
                </a:tc>
                <a:tc>
                  <a:txBody>
                    <a:bodyPr/>
                    <a:lstStyle/>
                    <a:p>
                      <a:pPr lvl="0" indent="0" marL="0">
                        <a:buNone/>
                      </a:pPr>
                      <a:r>
                        <a:rPr/>
                        <a:t>Silverleaf Library, Main Desk</a:t>
                      </a:r>
                    </a:p>
                  </a:txBody>
                </a:tc>
                <a:tc>
                  <a:txBody>
                    <a:bodyPr/>
                    <a:lstStyle/>
                    <a:p>
                      <a:pPr lvl="0" indent="0" marL="0">
                        <a:buNone/>
                      </a:pPr>
                      <a:r>
                        <a:rPr/>
                        <a:t>(473) 555-0142</a:t>
                      </a:r>
                    </a:p>
                  </a:txBody>
                </a:tc>
                <a:tc>
                  <a:txBody>
                    <a:bodyPr/>
                    <a:lstStyle/>
                    <a:p>
                      <a:pPr lvl="0" indent="0" marL="0">
                        <a:buNone/>
                      </a:pPr>
                      <a:r>
                        <a:rPr/>
                        <a:t>library@cendara.edu</a:t>
                      </a:r>
                    </a:p>
                  </a:txBody>
                </a:tc>
              </a:tr>
              <a:tr h="0">
                <a:tc>
                  <a:txBody>
                    <a:bodyPr/>
                    <a:lstStyle/>
                    <a:p>
                      <a:pPr lvl="0" indent="0" marL="0">
                        <a:buNone/>
                      </a:pPr>
                      <a:r>
                        <a:rPr/>
                        <a:t>IT Help Desk</a:t>
                      </a:r>
                    </a:p>
                  </a:txBody>
                </a:tc>
                <a:tc>
                  <a:txBody>
                    <a:bodyPr/>
                    <a:lstStyle/>
                    <a:p>
                      <a:pPr lvl="0" indent="0" marL="0">
                        <a:buNone/>
                      </a:pPr>
                      <a:r>
                        <a:rPr/>
                        <a:t>Academic Complex, Room 017</a:t>
                      </a:r>
                    </a:p>
                  </a:txBody>
                </a:tc>
                <a:tc>
                  <a:txBody>
                    <a:bodyPr/>
                    <a:lstStyle/>
                    <a:p>
                      <a:pPr lvl="0" indent="0" marL="0">
                        <a:buNone/>
                      </a:pPr>
                      <a:r>
                        <a:rPr/>
                        <a:t>(473) 555-0197</a:t>
                      </a:r>
                    </a:p>
                  </a:txBody>
                </a:tc>
                <a:tc>
                  <a:txBody>
                    <a:bodyPr/>
                    <a:lstStyle/>
                    <a:p>
                      <a:pPr lvl="0" indent="0" marL="0">
                        <a:buNone/>
                      </a:pPr>
                      <a:r>
                        <a:rPr/>
                        <a:t>helpdesk@cendara.edu</a:t>
                      </a:r>
                    </a:p>
                  </a:txBody>
                </a:tc>
              </a:tr>
            </a:tbl>
          </a:graphicData>
        </a:graphic>
      </p:graphicFrame>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For questions or updates to this handbook, please contact student.affairs@cendara.edu.</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2025-07-29T15:04:41Z</dcterms:created>
  <dcterms:modified xsi:type="dcterms:W3CDTF">2025-07-29T15:04:41Z</dcterms:modified>
</cp:coreProperties>
</file>

<file path=docProps/custom.xml><?xml version="1.0" encoding="utf-8"?>
<Properties xmlns="http://schemas.openxmlformats.org/officeDocument/2006/custom-properties" xmlns:vt="http://schemas.openxmlformats.org/officeDocument/2006/docPropsVTypes"/>
</file>