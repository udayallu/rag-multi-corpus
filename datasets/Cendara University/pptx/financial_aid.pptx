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cholarships.cendara.edu/departments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studentaid.gov" TargetMode="External" /><Relationship Id="rId3" Type="http://schemas.openxmlformats.org/officeDocument/2006/relationships/hyperlink" Target="https://cssprofile.collegeboard.org" TargetMode="External" /><Relationship Id="rId4" Type="http://schemas.openxmlformats.org/officeDocument/2006/relationships/hyperlink" Target="https://scholarships.cendara.edu/apply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financialaid.cendara.edu" TargetMode="External" /><Relationship Id="rId3" Type="http://schemas.openxmlformats.org/officeDocument/2006/relationships/hyperlink" Target="https://financialaid.cendara.edu/handbook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Financial Aid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Academic Year 2024–2025</a:t>
            </a:r>
          </a:p>
          <a:p>
            <a:pPr lvl="0" indent="0" marL="0">
              <a:buNone/>
            </a:pPr>
            <a:r>
              <a:rPr/>
              <a:t>The Office of Financial Assistance is dedicated to making a Cendara University education accessible and affordable. Cendara offers a range of scholarships, grants, loans, and work-study opportunities to help offset educational expenses outlined in the annual fee structure. This guide details available aid programs and provides step-by-step application instructions.</a:t>
            </a:r>
          </a:p>
          <a:p>
            <a:pPr lvl="0" indent="0" marL="0">
              <a:buNone/>
            </a:pPr>
            <a:r>
              <a:rPr/>
              <a:t>To contact us:</a:t>
            </a:r>
            <a:br/>
            <a:r>
              <a:rPr b="1"/>
              <a:t>Office of Financial Assistance</a:t>
            </a:r>
            <a:br/>
            <a:r>
              <a:rPr/>
              <a:t>2nd Floor, Founders Hall</a:t>
            </a:r>
            <a:br/>
            <a:r>
              <a:rPr/>
              <a:t>Email: financial.aid@cendara.edu | Phone: (317) 555-2473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Types of Financial Aid</a:t>
            </a:r>
          </a:p>
          <a:p>
            <a:pPr lvl="0" indent="0" marL="0">
              <a:buNone/>
            </a:pPr>
            <a:r>
              <a:rPr/>
              <a:t>Cendara University offers the following forms of assistance:</a:t>
            </a:r>
          </a:p>
          <a:p>
            <a:pPr lvl="0"/>
            <a:r>
              <a:rPr b="1"/>
              <a:t>Scholarships:</a:t>
            </a:r>
            <a:r>
              <a:rPr/>
              <a:t> Merit-based, talent-based, and need-based awards that do not require repayment.</a:t>
            </a:r>
          </a:p>
          <a:p>
            <a:pPr lvl="0"/>
            <a:r>
              <a:rPr b="1"/>
              <a:t>Grants:</a:t>
            </a:r>
            <a:r>
              <a:rPr/>
              <a:t> Need-based aid, typically from university, state, or federal sources; no repayment required.</a:t>
            </a:r>
          </a:p>
          <a:p>
            <a:pPr lvl="0"/>
            <a:r>
              <a:rPr b="1"/>
              <a:t>Loans:</a:t>
            </a:r>
            <a:r>
              <a:rPr/>
              <a:t> Borrowed funds that must be repaid with interest; both federal and institutional loans are available.</a:t>
            </a:r>
          </a:p>
          <a:p>
            <a:pPr lvl="0"/>
            <a:r>
              <a:rPr b="1"/>
              <a:t>Work-Study:</a:t>
            </a:r>
            <a:r>
              <a:rPr/>
              <a:t> Part-time campus employment to earn money during the academic year.</a:t>
            </a:r>
          </a:p>
          <a:p>
            <a:pPr lvl="0" indent="0" marL="0">
              <a:buNone/>
            </a:pPr>
            <a:r>
              <a:rPr/>
              <a:t>Each student may be eligible for a combination of these aid types.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Scholarships</a:t>
            </a:r>
          </a:p>
          <a:p>
            <a:pPr lvl="0" indent="0" marL="0">
              <a:buNone/>
            </a:pPr>
            <a:r>
              <a:rPr/>
              <a:t>Cendara University proudly awards a variety of scholarships, both automatic and application-based, to exceptional students across disciplines.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Merit Scholarships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Scholarship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Eligibility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 per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Renewable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Special Criteria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Presidential Scholarship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Incoming first-year undergraduates; top 5% of applicants (GPA ≥ 3.95, SAT ≥ 1450/ACT ≥ 33, or IB 40+)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Leadership &amp; community contribution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Cardinal Scholar Award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new undergraduates with strong academics (GPA ≥ 3.6)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$7,000 – $12,000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Automatic consideration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Graduate Dean’s Award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graduate students, outstanding prior GPA (≥ 3.85)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$5,000 – $9,000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2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Department recommendation required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Provost Transfer Award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Transfer students (≥ 30 credits, GPA ≥ 3.75)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2.2 Competitive &amp; Special Achievement Scholarships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Scholarship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Who Can Apply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Criteria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Cendara Arts Fellowship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First-year or transfer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Portfolio review; visual/performing arts majors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Cendara STEM Scholars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First-year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Demonstrated excellence in STEM fields; interview required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Global Diversity Scholarship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Int’l &amp; U.S. students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$5,000–$10,000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Promoting campus diversity; essay &amp; recommendation required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First-Generation Promise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First in family to attend college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FAFSA/CSS Profile required; preference for Pell-eligible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Valentina Mateo Leadership Award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undergraduates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Outstanding leadership/service during prior studies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Application deadlines</a:t>
            </a:r>
            <a:r>
              <a:rPr/>
              <a:t>: Most scholarships require fall term applications by February 15; some have additional interview or portfolio dates in March.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2.3 Departmental &amp; Donor Scholarships</a:t>
            </a:r>
          </a:p>
          <a:p>
            <a:pPr lvl="0" indent="0" marL="0">
              <a:buNone/>
            </a:pPr>
            <a:r>
              <a:rPr/>
              <a:t>Each department manages additional awards (ranging: $1,000–$6,000/year), often tied to academic major, talent, or declared area of interest.</a:t>
            </a:r>
            <a:br/>
            <a:r>
              <a:rPr/>
              <a:t>Visit </a:t>
            </a:r>
            <a:r>
              <a:rPr>
                <a:hlinkClick r:id="rId2"/>
              </a:rPr>
              <a:t>scholarships.cendara.edu/departments</a:t>
            </a:r>
            <a:r>
              <a:rPr/>
              <a:t> for details and application instructions.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Grants</a:t>
            </a:r>
          </a:p>
          <a:p>
            <a:pPr lvl="0" indent="0" marL="0">
              <a:buNone/>
            </a:pPr>
            <a:r>
              <a:rPr/>
              <a:t>Cendara administers several need-based grant programs drawn from institutional, federal, and state sources.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Eligibility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 per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Cendara Access Grant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Undergrad (full-time); based on demonstrated financial need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$2,000–$8,000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FAFSA or CSS Profile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Federal Pell Grant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U.S. citizens/permanent residents; demonstrated high need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$7,395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FAFSA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Opportunity Grant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Indiana residents (full-time undergrad/grad); need-based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$1,200–$4,500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FAFSA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Graduate Tuition Grant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Graduate students (limited selection)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$2,500–$5,000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FAFSA or separate app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Award amounts</a:t>
            </a:r>
            <a:r>
              <a:rPr/>
              <a:t> depend on Expected Family Contribution (EFC), cost of attendance, and funding levels.</a:t>
            </a:r>
          </a:p>
          <a:p>
            <a:pPr lvl="0"/>
            <a:r>
              <a:rPr/>
              <a:t>All grants are subject to annual review and funding availability.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Loans</a:t>
            </a:r>
          </a:p>
          <a:p>
            <a:pPr lvl="0" indent="0" marL="0">
              <a:buNone/>
            </a:pPr>
            <a:r>
              <a:rPr/>
              <a:t>Student loans are designed to help cover gaps after scholarships and grants are applied. Repayment with interest is required.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4.1 Federal Student Loans (U.S. citizens/permanent residents)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Borrowing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Typical Interest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 Subsidized Loan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$3,500–$5,500 (undergrad)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Need-based, interest subsidized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 Unsubsidized Loan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$2,000–$20,500 (undergrad/grad)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5.50%–7.05%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Interest accrues immediately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 PLUS Loan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 of attendance minus aid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8.05%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Credit check required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Parent PLUS Loan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Parent borrower for undergrads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8.05%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Credit check required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4.2 Institutional Loan Programs (Domestic &amp; International)</a:t>
            </a:r>
          </a:p>
          <a:p>
            <a:pPr lvl="0"/>
            <a:r>
              <a:rPr b="1"/>
              <a:t>Cendara Opportunity Loan</a:t>
            </a:r>
            <a:r>
              <a:rPr/>
              <a:t>: Up to $7,500/year (Fixed 6.25% interest, deferred repayment until 6 months post-graduation; cosigner required for international students)</a:t>
            </a:r>
          </a:p>
          <a:p>
            <a:pPr lvl="0"/>
            <a:r>
              <a:rPr b="1"/>
              <a:t>Short-term Emergency Loan</a:t>
            </a:r>
            <a:r>
              <a:rPr/>
              <a:t>: Up to $1,200/semester (No interest, payable within 6 months)</a:t>
            </a:r>
          </a:p>
          <a:p>
            <a:pPr lvl="0" indent="0" marL="0">
              <a:buNone/>
            </a:pPr>
            <a:r>
              <a:rPr b="1"/>
              <a:t>Note:</a:t>
            </a:r>
            <a:r>
              <a:rPr/>
              <a:t> Loan counseling is required for all new borrowers.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Work-Study Employment</a:t>
            </a:r>
          </a:p>
          <a:p>
            <a:pPr lvl="0" indent="0" marL="0">
              <a:buNone/>
            </a:pPr>
            <a:r>
              <a:rPr/>
              <a:t>Cendara’s Federal and Institutional Work-Study programs provide part-time, on-campus jobs to assist students in meeting expenses.</a:t>
            </a:r>
          </a:p>
          <a:p>
            <a:pPr lvl="0"/>
            <a:r>
              <a:rPr/>
              <a:t>Typical positions: Library assistant, lab tech, campus events, dining hall, research aide</a:t>
            </a:r>
          </a:p>
          <a:p>
            <a:pPr lvl="0"/>
            <a:r>
              <a:rPr/>
              <a:t>Hourly pay: $12 – $15 (undergraduate), $14 – $18 (graduate)</a:t>
            </a:r>
          </a:p>
          <a:p>
            <a:pPr lvl="0"/>
            <a:r>
              <a:rPr/>
              <a:t>Maximum hours: 15/week during terms</a:t>
            </a:r>
          </a:p>
          <a:p>
            <a:pPr lvl="0" indent="0" marL="0">
              <a:buNone/>
            </a:pPr>
            <a:r>
              <a:rPr/>
              <a:t>Eligibility depends on need and timely application; indicate work-study interest on the FAFSA or Cendara Application for Aid.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Application Procedures</a:t>
            </a:r>
          </a:p>
          <a:p>
            <a:pPr lvl="0" indent="0" marL="0">
              <a:buNone/>
            </a:pPr>
            <a:r>
              <a:rPr/>
              <a:t>To receive financial aid, applicants must complete the appropriate forms and follow these steps: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1: Gather Required Documents</a:t>
            </a:r>
          </a:p>
          <a:p>
            <a:pPr lvl="0"/>
            <a:r>
              <a:rPr/>
              <a:t>Student and parent tax returns (prior-prior year, e.g., 2022 for 2024–25)</a:t>
            </a:r>
          </a:p>
          <a:p>
            <a:pPr lvl="0"/>
            <a:r>
              <a:rPr/>
              <a:t>W-2s and other income statements</a:t>
            </a:r>
          </a:p>
          <a:p>
            <a:pPr lvl="0"/>
            <a:r>
              <a:rPr/>
              <a:t>Bank statements and records of investments</a:t>
            </a:r>
          </a:p>
          <a:p>
            <a:pPr lvl="0"/>
            <a:r>
              <a:rPr/>
              <a:t>Social Security numbers or governmental IDs (if applicable)</a:t>
            </a:r>
          </a:p>
          <a:p>
            <a:pPr lvl="0"/>
            <a:r>
              <a:rPr/>
              <a:t>Academic transcripts for some merit aid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2: Complete Applications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Aid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 Application(s)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 / Submission Method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Federal Aid (U.S.)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FAFSA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2"/>
                        </a:rPr>
                        <a:t>https://studentaid.gov</a:t>
                      </a:r>
                      <a:r>
                        <a:rPr/>
                        <a:t> (School Code: 036469)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Need-Based Aid (Intl)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CSS Profile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https://cssprofile.collegeboard.org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University Scholarships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Cendara Scholarship Portal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4"/>
                        </a:rPr>
                        <a:t>scholarships.cendara.edu/apply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Indiana State Grants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FAFSA (by April 15)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 as above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Graduate Department Awards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Dept. Application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department directly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3: Submit Supplemental Materials</a:t>
            </a:r>
          </a:p>
          <a:p>
            <a:pPr lvl="0"/>
            <a:r>
              <a:rPr/>
              <a:t>Essays, letters of recommendation, or portfolios as specified for certain scholarships</a:t>
            </a:r>
          </a:p>
          <a:p>
            <a:pPr lvl="0"/>
            <a:r>
              <a:rPr/>
              <a:t>Documentation verifying special circumstances (loss of income, medical bills, etc.)</a:t>
            </a:r>
          </a:p>
          <a:p>
            <a:pPr lvl="0"/>
            <a:r>
              <a:rPr/>
              <a:t>International students: proof of English proficiency &amp; financial Documents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4: Meet All Deadlines</a:t>
            </a:r>
          </a:p>
          <a:p>
            <a:pPr lvl="0"/>
            <a:r>
              <a:rPr b="1"/>
              <a:t>Priority Deadline:</a:t>
            </a:r>
            <a:r>
              <a:rPr/>
              <a:t> February 15, 2024 (for maximum consideration)</a:t>
            </a:r>
          </a:p>
          <a:p>
            <a:pPr lvl="0"/>
            <a:r>
              <a:rPr/>
              <a:t>Cendara Scholarship Portal: Opens October 1, closes March 1</a:t>
            </a:r>
          </a:p>
          <a:p>
            <a:pPr lvl="0"/>
            <a:r>
              <a:rPr/>
              <a:t>FAFSA/CSS Profile: Opens October 1; final deadline May 1</a:t>
            </a:r>
          </a:p>
          <a:p>
            <a:pPr lvl="0"/>
            <a:r>
              <a:rPr/>
              <a:t>Department/Graduate Scholarships: Vary by unit (consult website)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5: Review Aid Offer &amp; Accept</a:t>
            </a:r>
          </a:p>
          <a:p>
            <a:pPr lvl="0"/>
            <a:r>
              <a:rPr/>
              <a:t>Cendara’s Office of Financial Assistance will send an “Aid Notification” via email/portal.</a:t>
            </a:r>
          </a:p>
          <a:p>
            <a:pPr lvl="0"/>
            <a:r>
              <a:rPr/>
              <a:t>Review your offer, accept/decline individual items online.</a:t>
            </a:r>
          </a:p>
          <a:p>
            <a:pPr lvl="0"/>
            <a:r>
              <a:rPr/>
              <a:t>Submit additional documents if requested (tax forms, clarification letters, etc.)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6: Maintain Eligibility</a:t>
            </a:r>
          </a:p>
          <a:p>
            <a:pPr lvl="0"/>
            <a:r>
              <a:rPr/>
              <a:t>Must be enrolled at least half-time each semester (≥ 12 credits undergraduate, ≥ 9 credits graduate unless otherwise stated)</a:t>
            </a:r>
          </a:p>
          <a:p>
            <a:pPr lvl="0"/>
            <a:r>
              <a:rPr/>
              <a:t>Maintain Satisfactory Academic Progress (minimum GPA 2.0 undergrad/3.0 grad, 67% completion rate)</a:t>
            </a:r>
          </a:p>
          <a:p>
            <a:pPr lvl="0"/>
            <a:r>
              <a:rPr/>
              <a:t>Renew FAFSA or applicable forms each year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Additional Financial Support Resources</a:t>
            </a:r>
          </a:p>
          <a:p>
            <a:pPr lvl="0"/>
            <a:r>
              <a:rPr b="1"/>
              <a:t>Outside Scholarships:</a:t>
            </a:r>
            <a:r>
              <a:rPr/>
              <a:t> Students encouraged to apply for external awards (employers, civic groups, national competitions).</a:t>
            </a:r>
          </a:p>
          <a:p>
            <a:pPr lvl="0"/>
            <a:r>
              <a:rPr b="1"/>
              <a:t>Payment Plans:</a:t>
            </a:r>
            <a:r>
              <a:rPr/>
              <a:t> Flexible semester installment plans available via the Bursar’s Office.</a:t>
            </a:r>
          </a:p>
          <a:p>
            <a:pPr lvl="0"/>
            <a:r>
              <a:rPr b="1"/>
              <a:t>Emergency Assistance Fund:</a:t>
            </a:r>
            <a:r>
              <a:rPr/>
              <a:t> One-time support for unforeseen crises; contact deanofstudents@cendara.edu.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Frequently Asked Questions</a:t>
            </a:r>
          </a:p>
          <a:p>
            <a:pPr lvl="0" indent="0" marL="0">
              <a:buNone/>
            </a:pPr>
            <a:r>
              <a:rPr b="1"/>
              <a:t>Q: Can I combine multiple scholarships or grants?</a:t>
            </a:r>
            <a:br/>
            <a:r>
              <a:rPr i="1"/>
              <a:t>A: Yes, but total aid may not exceed direct costs (tuition, fees, room/board). Some awards have restrictions; always check notifications.</a:t>
            </a:r>
          </a:p>
          <a:p>
            <a:pPr lvl="0" indent="0" marL="0">
              <a:buNone/>
            </a:pPr>
            <a:r>
              <a:rPr b="1"/>
              <a:t>Q: I missed the deadline. Can I still apply?</a:t>
            </a:r>
            <a:br/>
            <a:r>
              <a:rPr i="1"/>
              <a:t>A: Late applications are accepted, but funding may be limited. Contact the Office of Financial Assistance for guidance.</a:t>
            </a:r>
          </a:p>
          <a:p>
            <a:pPr lvl="0" indent="0" marL="0">
              <a:buNone/>
            </a:pPr>
            <a:r>
              <a:rPr b="1"/>
              <a:t>Q: What if my family’s financial situation has recently changed?</a:t>
            </a:r>
            <a:br/>
            <a:r>
              <a:rPr i="1"/>
              <a:t>A: Submit a Special Circumstances Appeal form with supporting documentation for re-evaluation of your aid package.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Contacts &amp; Further Information</a:t>
            </a:r>
          </a:p>
          <a:p>
            <a:pPr lvl="0"/>
            <a:r>
              <a:rPr b="1"/>
              <a:t>Office of Financial Assistance:</a:t>
            </a:r>
            <a:r>
              <a:rPr/>
              <a:t> Founders Hall, 2nd Floor</a:t>
            </a:r>
          </a:p>
          <a:p>
            <a:pPr lvl="1"/>
            <a:r>
              <a:rPr/>
              <a:t>Phone: (317) 555-2473</a:t>
            </a:r>
          </a:p>
          <a:p>
            <a:pPr lvl="1"/>
            <a:r>
              <a:rPr/>
              <a:t>Email: financial.aid@cendara.edu</a:t>
            </a:r>
          </a:p>
          <a:p>
            <a:pPr lvl="1"/>
            <a:r>
              <a:rPr/>
              <a:t>Website: </a:t>
            </a:r>
            <a:r>
              <a:rPr>
                <a:hlinkClick r:id="rId2"/>
              </a:rPr>
              <a:t>financialaid.cendara.edu</a:t>
            </a:r>
          </a:p>
          <a:p>
            <a:pPr lvl="1"/>
            <a:r>
              <a:rPr/>
              <a:t>Office Hours: Mon–Fri, 8:30am–5:00pm</a:t>
            </a:r>
          </a:p>
          <a:p>
            <a:pPr lvl="0"/>
            <a:r>
              <a:rPr b="1"/>
              <a:t>Scholarships Team:</a:t>
            </a:r>
            <a:r>
              <a:rPr/>
              <a:t> scholarships@cendara.edu</a:t>
            </a:r>
            <a:br/>
          </a:p>
          <a:p>
            <a:pPr lvl="0"/>
            <a:r>
              <a:rPr b="1"/>
              <a:t>International Student Support:</a:t>
            </a:r>
            <a:r>
              <a:rPr/>
              <a:t> iss@cendara.edu</a:t>
            </a:r>
          </a:p>
          <a:p>
            <a:pPr lvl="0" indent="0" marL="0">
              <a:buNone/>
            </a:pPr>
            <a:r>
              <a:rPr/>
              <a:t>For policy details or appeals, reference the </a:t>
            </a:r>
            <a:r>
              <a:rPr>
                <a:hlinkClick r:id="rId3"/>
              </a:rPr>
              <a:t>Student Financial Assistance Handbook</a:t>
            </a:r>
            <a:r>
              <a:rPr/>
              <a:t>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Empowering your future, today — Cendara University Financial Assistance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2025-07-29T15:06:40Z</dcterms:created>
  <dcterms:modified xsi:type="dcterms:W3CDTF">2025-07-29T15:06:40Z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