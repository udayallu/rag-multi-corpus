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Department of Psychology</a:t>
            </a:r>
            <a:br/>
            <a:r>
              <a:rPr b="1"/>
              <a:t>Course Catalog 2024-2025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Undergraduate Courses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PSY 101: Introduction to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An overview of the major theories, foundational concepts, and methods in psychology. Topics include perception, learning, motivation, development, and social behavior. Designed for students with no prior background in psychology.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110: Research Methods in Psychology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Introduction to the scientific method as applied to psychological phenomena. Students learn experimental design, data collection, basic analysis, and ethical considerations. Includes laboratory sessions.</a:t>
            </a:r>
          </a:p>
          <a:p>
            <a:pPr lvl="0"/>
            <a:r>
              <a:rPr b="1"/>
              <a:t>Prerequisites:</a:t>
            </a:r>
            <a:r>
              <a:rPr/>
              <a:t> PSY 101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211: Developmental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Examination of the biological, cognitive, and social development of individuals from infancy through adulthood. Explores key theories and methodological approaches.</a:t>
            </a:r>
          </a:p>
          <a:p>
            <a:pPr lvl="0"/>
            <a:r>
              <a:rPr b="1"/>
              <a:t>Prerequisites:</a:t>
            </a:r>
            <a:r>
              <a:rPr/>
              <a:t> PSY 101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218: Introduction to Cognitive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Exploration of mental processes such as attention, memory, language, perception, and problem-solving. Discussion of experimental findings and theoretical frameworks.</a:t>
            </a:r>
          </a:p>
          <a:p>
            <a:pPr lvl="0"/>
            <a:r>
              <a:rPr b="1"/>
              <a:t>Prerequisites:</a:t>
            </a:r>
            <a:r>
              <a:rPr/>
              <a:t> PSY 101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230: Social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Investigation of how social factors influence individual behavior. Major topics include aggression, conformity, group dynamics, attitudes, stereotypes, and prejudice.</a:t>
            </a:r>
          </a:p>
          <a:p>
            <a:pPr lvl="0"/>
            <a:r>
              <a:rPr b="1"/>
              <a:t>Prerequisites:</a:t>
            </a:r>
            <a:r>
              <a:rPr/>
              <a:t> PSY 101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250: Abnormal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Analysis of the definition, classification, and treatment of mental disorders. Includes an overview of anxiety, mood, psychotic, and personality disorders.</a:t>
            </a:r>
          </a:p>
          <a:p>
            <a:pPr lvl="0"/>
            <a:r>
              <a:rPr b="1"/>
              <a:t>Prerequisites:</a:t>
            </a:r>
            <a:r>
              <a:rPr/>
              <a:t> PSY 101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312: Biological Bases of Behavior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Study of the neural and hormonal foundations of behavior, sensation, and motivation. Emphasizes connections between biological mechanisms and psychological processes.</a:t>
            </a:r>
          </a:p>
          <a:p>
            <a:pPr lvl="0"/>
            <a:r>
              <a:rPr b="1"/>
              <a:t>Prerequisites:</a:t>
            </a:r>
            <a:r>
              <a:rPr/>
              <a:t> PSY 101, PSY 110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320: Introduction to Clinical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Survey of the principles and practices of clinical assessment, diagnosis, and treatment of mental health conditions. Emphasis on evidence-based approaches.</a:t>
            </a:r>
          </a:p>
          <a:p>
            <a:pPr lvl="0"/>
            <a:r>
              <a:rPr b="1"/>
              <a:t>Prerequisites:</a:t>
            </a:r>
            <a:r>
              <a:rPr/>
              <a:t> PSY 250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340: Personality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Exploration of classical and contemporary theories of personality, methods of assessment, and research findings.</a:t>
            </a:r>
          </a:p>
          <a:p>
            <a:pPr lvl="0"/>
            <a:r>
              <a:rPr b="1"/>
              <a:t>Prerequisites:</a:t>
            </a:r>
            <a:r>
              <a:rPr/>
              <a:t> PSY 101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370: Psychological Statistics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Introduction to descriptive and inferential statistical techniques used in psychological research, including hypothesis testing, ANOVA, regression, and nonparametric approaches. Includes computer-based labs.</a:t>
            </a:r>
          </a:p>
          <a:p>
            <a:pPr lvl="0"/>
            <a:r>
              <a:rPr b="1"/>
              <a:t>Prerequisites:</a:t>
            </a:r>
            <a:r>
              <a:rPr/>
              <a:t> PSY 110, MTH 101 (Introduction to College Algebra)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399: Independent Study in Psychology</a:t>
            </a:r>
          </a:p>
          <a:p>
            <a:pPr lvl="0"/>
            <a:r>
              <a:rPr b="1"/>
              <a:t>Credits:</a:t>
            </a:r>
            <a:r>
              <a:rPr/>
              <a:t> 1-3 (variable)</a:t>
            </a:r>
          </a:p>
          <a:p>
            <a:pPr lvl="0"/>
            <a:r>
              <a:rPr b="1"/>
              <a:t>Description:</a:t>
            </a:r>
            <a:br/>
            <a:r>
              <a:rPr/>
              <a:t>Individual study or research project under faculty supervision in a specialized area of psychology. Requires departmental approval.</a:t>
            </a:r>
          </a:p>
          <a:p>
            <a:pPr lvl="0"/>
            <a:r>
              <a:rPr b="1"/>
              <a:t>Prerequisites:</a:t>
            </a:r>
            <a:r>
              <a:rPr/>
              <a:t> Permission of instructor, Junior standing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Graduate Courses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PSY 500: Advanced Research Methods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In-depth examination of quantitative and qualitative research methodologies, data analysis techniques, and ethics in advanced psychological research.</a:t>
            </a:r>
          </a:p>
          <a:p>
            <a:pPr lvl="0"/>
            <a:r>
              <a:rPr b="1"/>
              <a:t>Prerequisites:</a:t>
            </a:r>
            <a:r>
              <a:rPr/>
              <a:t> PSY 370 or equivalent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512: Cognitive Neuroscience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Study of neural mechanisms underlying cognitive functions such as perception, memory, and decision-making. Readings from current research literature.</a:t>
            </a:r>
          </a:p>
          <a:p>
            <a:pPr lvl="0"/>
            <a:r>
              <a:rPr b="1"/>
              <a:t>Prerequisites:</a:t>
            </a:r>
            <a:r>
              <a:rPr/>
              <a:t> PSY 312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522: Advanced Developmental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Critical analysis of cognitive and emotional development throughout the lifespan. Focus on current issues and empirical research.</a:t>
            </a:r>
          </a:p>
          <a:p>
            <a:pPr lvl="0"/>
            <a:r>
              <a:rPr b="1"/>
              <a:t>Prerequisites:</a:t>
            </a:r>
            <a:r>
              <a:rPr/>
              <a:t> PSY 211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532: Psychopathology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Advanced exploration of psychological disorders, diagnostic criteria, underlying mechanisms, and recent research trends.</a:t>
            </a:r>
          </a:p>
          <a:p>
            <a:pPr lvl="0"/>
            <a:r>
              <a:rPr b="1"/>
              <a:t>Prerequisites:</a:t>
            </a:r>
            <a:r>
              <a:rPr/>
              <a:t> PSY 250, PSY 320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540: Psychological Assessment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Principles and practices of assessment in clinical psychology, including intelligence, personality, and neuropsychological testing.</a:t>
            </a:r>
          </a:p>
          <a:p>
            <a:pPr lvl="0"/>
            <a:r>
              <a:rPr b="1"/>
              <a:t>Prerequisites:</a:t>
            </a:r>
            <a:r>
              <a:rPr/>
              <a:t> PSY 340, PSY 320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550: Interventions in Clinical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Comprehensive overview of psychotherapeutic interventions, including cognitive-behavioral, psychodynamic, and humanistic approaches. Integrates case studies and supervised practice.</a:t>
            </a:r>
          </a:p>
          <a:p>
            <a:pPr lvl="0"/>
            <a:r>
              <a:rPr b="1"/>
              <a:t>Prerequisites:</a:t>
            </a:r>
            <a:r>
              <a:rPr/>
              <a:t> PSY 532, PSY 540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561: Seminar in Social Cognition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</a:p>
          <a:p>
            <a:pPr lvl="0"/>
            <a:r>
              <a:rPr b="1"/>
              <a:t>Description:</a:t>
            </a:r>
            <a:br/>
            <a:r>
              <a:rPr/>
              <a:t>Discussion-based seminar focusing on theory and research in social cognitive processes including attitudes, attribution, and emotion regulation.</a:t>
            </a:r>
          </a:p>
          <a:p>
            <a:pPr lvl="0"/>
            <a:r>
              <a:rPr b="1"/>
              <a:t>Prerequisites:</a:t>
            </a:r>
            <a:r>
              <a:rPr/>
              <a:t> PSY 230 (or equivalent)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580: Teaching of Psychology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</a:p>
          <a:p>
            <a:pPr lvl="0"/>
            <a:r>
              <a:rPr b="1"/>
              <a:t>Description:</a:t>
            </a:r>
            <a:br/>
            <a:r>
              <a:rPr/>
              <a:t>Preparation for teaching undergraduate psychology, covering course planning, assessment, and student engagement strategies. Required for teaching assistants.</a:t>
            </a:r>
          </a:p>
          <a:p>
            <a:pPr lvl="0"/>
            <a:r>
              <a:rPr b="1"/>
              <a:t>Prerequisites:</a:t>
            </a:r>
            <a:r>
              <a:rPr/>
              <a:t> Graduate standing in Psychology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590: Graduate Thesis</a:t>
            </a:r>
          </a:p>
          <a:p>
            <a:pPr lvl="0"/>
            <a:r>
              <a:rPr b="1"/>
              <a:t>Credits:</a:t>
            </a:r>
            <a:r>
              <a:rPr/>
              <a:t> 6</a:t>
            </a:r>
          </a:p>
          <a:p>
            <a:pPr lvl="0"/>
            <a:r>
              <a:rPr b="1"/>
              <a:t>Description:</a:t>
            </a:r>
            <a:br/>
            <a:r>
              <a:rPr/>
              <a:t>Original empirical research conducted under faculty mentorship. Culminates in a thesis and oral defense.</a:t>
            </a:r>
          </a:p>
          <a:p>
            <a:pPr lvl="0"/>
            <a:r>
              <a:rPr b="1"/>
              <a:t>Prerequisites:</a:t>
            </a:r>
            <a:r>
              <a:rPr/>
              <a:t> Permission of thesis committee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Doctoral-Level Courses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PSY 601: Advanced Topics in Clinical Psychology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Rotating content seminar on topics such as trauma, substance use disorders, and multicultural assessment. Students critically evaluate recent interventions and research.</a:t>
            </a:r>
          </a:p>
          <a:p>
            <a:pPr lvl="0"/>
            <a:r>
              <a:rPr b="1"/>
              <a:t>Prerequisites:</a:t>
            </a:r>
            <a:r>
              <a:rPr/>
              <a:t> Admission to Ph.D. program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610: Statistical Modeling for Psychologists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Intensive training in advanced statistical techniques including multilevel modeling, structural equation modeling, and Bayesian estimation.</a:t>
            </a:r>
          </a:p>
          <a:p>
            <a:pPr lvl="0"/>
            <a:r>
              <a:rPr b="1"/>
              <a:t>Prerequisites:</a:t>
            </a:r>
            <a:r>
              <a:rPr/>
              <a:t> PSY 500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635: Grant Writing in Psychology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</a:p>
          <a:p>
            <a:pPr lvl="0"/>
            <a:r>
              <a:rPr b="1"/>
              <a:t>Description:</a:t>
            </a:r>
            <a:br/>
            <a:r>
              <a:rPr/>
              <a:t>Practical experience in identifying funding sources and developing research grant proposals with feedback from faculty and peers.</a:t>
            </a:r>
          </a:p>
          <a:p>
            <a:pPr lvl="0"/>
            <a:r>
              <a:rPr b="1"/>
              <a:t>Prerequisites:</a:t>
            </a:r>
            <a:r>
              <a:rPr/>
              <a:t> Graduate standing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PSY 650: Doctoral Dissertation</a:t>
            </a:r>
          </a:p>
          <a:p>
            <a:pPr lvl="0"/>
            <a:r>
              <a:rPr b="1"/>
              <a:t>Credits:</a:t>
            </a:r>
            <a:r>
              <a:rPr/>
              <a:t> 12</a:t>
            </a:r>
          </a:p>
          <a:p>
            <a:pPr lvl="0"/>
            <a:r>
              <a:rPr b="1"/>
              <a:t>Description:</a:t>
            </a:r>
            <a:br/>
            <a:r>
              <a:rPr/>
              <a:t>Completion of an original dissertation project demonstrating substantial contribution to the field of psychology. Includes proposal, data collection and analysis, manuscript preparation, and defense.</a:t>
            </a:r>
          </a:p>
          <a:p>
            <a:pPr lvl="0"/>
            <a:r>
              <a:rPr b="1"/>
              <a:t>Prerequisites:</a:t>
            </a:r>
            <a:r>
              <a:rPr/>
              <a:t> Advancement to candidacy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Notes</a:t>
            </a:r>
          </a:p>
          <a:p>
            <a:pPr lvl="0"/>
            <a:r>
              <a:rPr/>
              <a:t>All courses are subject to availability and may require consent from instructors or the department.</a:t>
            </a:r>
          </a:p>
          <a:p>
            <a:pPr lvl="0"/>
            <a:r>
              <a:rPr/>
              <a:t>Undergraduate students interested in graduate coursework must obtain special permission.</a:t>
            </a:r>
          </a:p>
          <a:p>
            <a:pPr lvl="0"/>
            <a:r>
              <a:rPr/>
              <a:t>Credit hours are based on semester system.</a:t>
            </a:r>
          </a:p>
          <a:p>
            <a:pPr lvl="0" indent="0" marL="0">
              <a:buNone/>
            </a:pPr>
            <a:r>
              <a:rPr/>
              <a:t>For further information, please consult the Department of Psychology office (psychology@cendara.edu) or visit the Cendara University Courses portal.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2025-07-29T15:06:06Z</dcterms:created>
  <dcterms:modified xsi:type="dcterms:W3CDTF">2025-07-29T15:06:06Z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