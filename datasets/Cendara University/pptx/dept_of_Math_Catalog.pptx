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Department of Mathematics and Statistics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Catalog 2024–2025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Undergraduate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B.Sc. in Mathematics</a:t>
            </a:r>
          </a:p>
          <a:p>
            <a:pPr lvl="0" indent="0" marL="0">
              <a:buNone/>
            </a:pPr>
            <a:r>
              <a:rPr b="1"/>
              <a:t>Pathways:</a:t>
            </a:r>
            <a:br/>
            <a:r>
              <a:rPr/>
              <a:t>- Pure Mathematics</a:t>
            </a:r>
            <a:br/>
            <a:r>
              <a:rPr/>
              <a:t>- Applied Mathematics</a:t>
            </a:r>
            <a:br/>
            <a:r>
              <a:rPr/>
              <a:t>- Data Science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Listing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101: Calculus I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Introduction to the differential and integral calculus of one variable, focusing on limits, derivatives, applications of derivatives, and the Fundamental Theorem of Calculus. Emphasis on problem-solving and conceptual foundations.</a:t>
            </a:r>
          </a:p>
          <a:p>
            <a:pPr lvl="0"/>
            <a:r>
              <a:rPr b="1"/>
              <a:t>Prerequisites:</a:t>
            </a:r>
            <a:br/>
            <a:r>
              <a:rPr/>
              <a:t>Secondary school mathematics (pre-calculus) or equivalent.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102: Calculus II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Continuation of Calculus I, including integration techniques, applications of the integral, sequences, series, and an introduction to differential equations.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101: Calculus I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110: Introduction to Data Science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Foundations of data science, covering data wrangling, introductory statistics, data visualization, and the basics of data analysis using modern software tools.</a:t>
            </a:r>
          </a:p>
          <a:p>
            <a:pPr lvl="0"/>
            <a:r>
              <a:rPr b="1"/>
              <a:t>Prerequisites:</a:t>
            </a:r>
            <a:br/>
            <a:r>
              <a:rPr/>
              <a:t>None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120: Linear Algebra 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Systems of linear equations, matrix operations, determinants, vector spaces, eigenvalues, and eigenvectors with applications in science and engineering.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101: Calculus 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130: Discrete Mathematics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Logic, set theory, combinatorics, graph theory, functions, relations, and mathematical induction, with emphasis on applications in computer science and mathematics.</a:t>
            </a:r>
          </a:p>
          <a:p>
            <a:pPr lvl="0"/>
            <a:r>
              <a:rPr b="1"/>
              <a:t>Prerequisites:</a:t>
            </a:r>
            <a:br/>
            <a:r>
              <a:rPr/>
              <a:t>None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211: Calculus III (Multivariable Calculus)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Calculus of functions of several variables, including partial derivatives, multiple integration, vector calculus, and applications.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102: Calculus II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220: Linear Algebra II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Advanced topics in linear algebra including inner product spaces, diagonalization, Jordan forms, and applications to differential equations and data science.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120: Linear Algebra I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225: Introduction to Mathematical Proof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Principles of rigorous mathematical reasoning and proof methods including direct, contrapositive, contradiction, and induction. Critical for transition to higher mathematics.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130: Discrete Mathematics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240: Probability and Statistics 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Probability theory, random variables, distribution functions, expectation, variance, and introduction to statistical inference.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102: Calculus II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250: Differential Equations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First and second order differential equations, systems of equations, qualitative analysis, and applications to physical, biological, and social sciences.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102: Calculus II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305: Abstract Algebra 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Fundamentals of group theory, including cyclic groups, permutation groups, subgroups, quotient groups, and homomorphisms. Applications in symmetry and cryptography.</a:t>
            </a:r>
          </a:p>
          <a:p>
            <a:pPr lvl="0"/>
            <a:r>
              <a:rPr b="1"/>
              <a:t>Prerequisites:</a:t>
            </a:r>
            <a:br/>
            <a:r>
              <a:rPr/>
              <a:t>MAT 225: Introduction to Mathematical Proof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310: Real Analysis 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Rigorous development of real numbers, sequences, series, limits, continuity, and differentiability. Focuses on precise definitions and logic.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102: Calculus II</a:t>
            </a:r>
            <a:br/>
            <a:r>
              <a:rPr/>
              <a:t>MAT 225: Introduction to Mathematical Proof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325: Combinatorics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Counting principles, permutations, combinations, inclusion-exclusion, recurrence relations, generating functions, and basic graph theory.</a:t>
            </a:r>
          </a:p>
          <a:p>
            <a:pPr lvl="0"/>
            <a:r>
              <a:rPr b="1"/>
              <a:t>Prerequisites:</a:t>
            </a:r>
            <a:br/>
            <a:r>
              <a:rPr/>
              <a:t>MAT 130: Discrete Mathematics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340: Probability and Statistics II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Advanced probability distributions, limit theorems, statistical estimation, confidence intervals, hypothesis testing, and regression analysis.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240: Probability and Statistics I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360: Mathematical Modeling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Construction and analysis of deterministic and stochastic models for problems in natural and social sciences, including dimensional analysis and simulation.</a:t>
            </a:r>
          </a:p>
          <a:p>
            <a:pPr lvl="0"/>
            <a:r>
              <a:rPr b="1"/>
              <a:t>Prerequisites:</a:t>
            </a:r>
            <a:br/>
            <a:r>
              <a:rPr/>
              <a:t>MAT 211: Calculus III</a:t>
            </a:r>
            <a:br/>
            <a:r>
              <a:rPr/>
              <a:t>MAT 250: Differential Equations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370: Numerical Analysis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Numerical methods for solving equations, interpolation, numerical integration and differentiation, and applications to computational mathematics.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211: Calculus III</a:t>
            </a:r>
            <a:br/>
            <a:r>
              <a:rPr/>
              <a:t>MAT 220: Linear Algebra II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398: Undergraduate Seminar in Mathematics</a:t>
            </a:r>
          </a:p>
          <a:p>
            <a:pPr lvl="0"/>
            <a:r>
              <a:rPr b="1"/>
              <a:t>Credits:</a:t>
            </a:r>
            <a:r>
              <a:rPr/>
              <a:t> 1</a:t>
            </a:r>
          </a:p>
          <a:p>
            <a:pPr lvl="0"/>
            <a:r>
              <a:rPr b="1"/>
              <a:t>Description:</a:t>
            </a:r>
            <a:br/>
            <a:r>
              <a:rPr/>
              <a:t>Student presentations and discussions of current topics and research in mathematics. Emphasis on communication skills and critical thinking.</a:t>
            </a:r>
          </a:p>
          <a:p>
            <a:pPr lvl="0"/>
            <a:r>
              <a:rPr b="1"/>
              <a:t>Prerequisites:</a:t>
            </a:r>
            <a:br/>
            <a:r>
              <a:rPr/>
              <a:t>Junior standing in Mathematics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 Undergraduate and Graduate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410: Abstract Algebra II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In-depth study of rings and fields, including polynomial rings, field extensions, Galois theory, and applications to coding theory.</a:t>
            </a:r>
          </a:p>
          <a:p>
            <a:pPr lvl="0"/>
            <a:r>
              <a:rPr b="1"/>
              <a:t>Prerequisites:</a:t>
            </a:r>
            <a:br/>
            <a:r>
              <a:rPr/>
              <a:t>MAT 305: Abstract Algebra I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420: Real Analysis II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Metric spaces, sequences and series of functions, uniform convergence, and introduction to measure theory.</a:t>
            </a:r>
          </a:p>
          <a:p>
            <a:pPr lvl="0"/>
            <a:r>
              <a:rPr b="1"/>
              <a:t>Prerequisites:</a:t>
            </a:r>
            <a:br/>
            <a:r>
              <a:rPr/>
              <a:t>MAT 310: Real Analysis I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431: Topology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Basic concepts of general topology, including open and closed sets, continuity, compactness, connectedness, and fundamental groups.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310: Real Analysis I</a:t>
            </a:r>
            <a:br/>
            <a:r>
              <a:rPr/>
              <a:t>MAT 225: Introduction to Mathematical Proof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445: Stochastic Processes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Markov chains, Poisson processes, Brownian motion, martingales, and applications in finance and queueing theory.</a:t>
            </a:r>
          </a:p>
          <a:p>
            <a:pPr lvl="0"/>
            <a:r>
              <a:rPr b="1"/>
              <a:t>Prerequisites:</a:t>
            </a:r>
            <a:br/>
            <a:r>
              <a:rPr/>
              <a:t>MAT 340: Probability and Statistics II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450: Data Mining and Statistical Learning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Algorithms and theory behind data mining, supervised and unsupervised learning, clustering, classification, and validation methods.</a:t>
            </a:r>
            <a:br/>
          </a:p>
          <a:p>
            <a:pPr lvl="0"/>
            <a:r>
              <a:rPr b="1"/>
              <a:t>Prerequisites:</a:t>
            </a:r>
            <a:br/>
            <a:r>
              <a:rPr/>
              <a:t>MAT 340: Probability and Statistics II</a:t>
            </a:r>
            <a:br/>
            <a:r>
              <a:rPr/>
              <a:t>MAT 110: Introduction to Data Science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480: Mathematical Modeling Seminar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</a:p>
          <a:p>
            <a:pPr lvl="0"/>
            <a:r>
              <a:rPr b="1"/>
              <a:t>Description:</a:t>
            </a:r>
            <a:br/>
            <a:r>
              <a:rPr/>
              <a:t>Collaborative research experience involving real-world modeling projects with faculty mentorship, proposal development, and solution presentation.</a:t>
            </a:r>
          </a:p>
          <a:p>
            <a:pPr lvl="0"/>
            <a:r>
              <a:rPr b="1"/>
              <a:t>Prerequisites:</a:t>
            </a:r>
            <a:br/>
            <a:r>
              <a:rPr/>
              <a:t>Senior standing in Mathematics or instructor approval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Graduate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M.Sc. in Mathematics</a:t>
            </a:r>
          </a:p>
          <a:p>
            <a:pPr lvl="0" indent="0" marL="0">
              <a:buNone/>
            </a:pPr>
            <a:r>
              <a:rPr b="1"/>
              <a:t>Specializations:</a:t>
            </a:r>
            <a:br/>
            <a:r>
              <a:rPr/>
              <a:t>- Algebra</a:t>
            </a:r>
            <a:br/>
            <a:r>
              <a:rPr/>
              <a:t>- Combinatorics</a:t>
            </a:r>
            <a:br/>
            <a:r>
              <a:rPr/>
              <a:t>- Mathematical Modeling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501: Graduate Algebra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Comprehensive study of group theory, ring theory, and module theory, with emphasis on structural theorems and modern algebraic techniques.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410: Abstract Algebra II or equivalent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510: Graduate Analysis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Lebesgue integration, convergence theorems, function spaces, and Hilbert spaces, with applications to mathematical modeling.</a:t>
            </a:r>
          </a:p>
          <a:p>
            <a:pPr lvl="0"/>
            <a:r>
              <a:rPr b="1"/>
              <a:t>Prerequisites:</a:t>
            </a:r>
            <a:br/>
            <a:r>
              <a:rPr/>
              <a:t>MAT 420: Real Analysis II or equivalent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525: Algebraic Combinatorics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Topics in enumeration, graph theory, designs, and coding theory, including connections to algebraic structures.</a:t>
            </a:r>
          </a:p>
          <a:p>
            <a:pPr lvl="0"/>
            <a:r>
              <a:rPr b="1"/>
              <a:t>Prerequisites:</a:t>
            </a:r>
            <a:br/>
            <a:r>
              <a:rPr/>
              <a:t>MAT 325: Combinatorics</a:t>
            </a:r>
            <a:br/>
            <a:r>
              <a:rPr/>
              <a:t>MAT 305: Abstract Algebra I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540: Advanced Probability and Stochastic Processes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Measure-theoretic foundations of probability, advanced stochastic processes, martingales, and applications in finance and biology.</a:t>
            </a:r>
          </a:p>
          <a:p>
            <a:pPr lvl="0"/>
            <a:r>
              <a:rPr b="1"/>
              <a:t>Prerequisites:</a:t>
            </a:r>
            <a:br/>
            <a:r>
              <a:rPr/>
              <a:t>MAT 445: Stochastic Processes or equivalent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561: Mathematical Modeling and Simulation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Development and analysis of mathematical models for complex real-world systems; simulation techniques; connection to industrial and academic research.</a:t>
            </a:r>
          </a:p>
          <a:p>
            <a:pPr lvl="0"/>
            <a:r>
              <a:rPr b="1"/>
              <a:t>Prerequisites:</a:t>
            </a:r>
            <a:br/>
            <a:r>
              <a:rPr/>
              <a:t>MAT 360: Mathematical Modeling or instructor approval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 599: Thesis Research</a:t>
            </a:r>
          </a:p>
          <a:p>
            <a:pPr lvl="0"/>
            <a:r>
              <a:rPr b="1"/>
              <a:t>Credits:</a:t>
            </a:r>
            <a:r>
              <a:rPr/>
              <a:t> 6</a:t>
            </a:r>
          </a:p>
          <a:p>
            <a:pPr lvl="0"/>
            <a:r>
              <a:rPr b="1"/>
              <a:t>Description:</a:t>
            </a:r>
            <a:br/>
            <a:r>
              <a:rPr/>
              <a:t>Original research project under faculty supervision, culminating in a written thesis and oral defense.</a:t>
            </a:r>
            <a:br/>
          </a:p>
          <a:p>
            <a:pPr lvl="0"/>
            <a:r>
              <a:rPr b="1"/>
              <a:t>Prerequisites:</a:t>
            </a:r>
            <a:br/>
            <a:r>
              <a:rPr/>
              <a:t>Completion of 24 graduate credits and recommendation of faculty advisor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all courses are offered every semester; check current timetable for scheduling.</a:t>
            </a:r>
          </a:p>
          <a:p>
            <a:pPr lvl="0"/>
            <a:r>
              <a:rPr/>
              <a:t>Prerequisites may be waived with instructor approval under exceptional circumstances.</a:t>
            </a:r>
          </a:p>
          <a:p>
            <a:pPr lvl="0"/>
            <a:r>
              <a:rPr/>
              <a:t>For questions about course selection and program pathways, contact the Department of Mathematics and Statistics, Cendara University (mathstat@cendara.edu).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2025-07-29T15:04:45Z</dcterms:created>
  <dcterms:modified xsi:type="dcterms:W3CDTF">2025-07-29T15:04:45Z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