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4.xml" /><Relationship Id="rId4" Type="http://schemas.openxmlformats.org/officeDocument/2006/relationships/slide" Target="slide5.xml" /><Relationship Id="rId5" Type="http://schemas.openxmlformats.org/officeDocument/2006/relationships/slide" Target="slide7.xml" /><Relationship Id="rId6" Type="http://schemas.openxmlformats.org/officeDocument/2006/relationships/slide" Target="slide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Employee Handbook</a:t>
            </a:r>
          </a:p>
        </p:txBody>
      </p:sp>
      <p:sp>
        <p:nvSpPr>
          <p:cNvPr id="3" name="Content Placeholder 2"/>
          <p:cNvSpPr>
            <a:spLocks noGrp="1"/>
          </p:cNvSpPr>
          <p:nvPr>
            <p:ph idx="1"/>
          </p:nvPr>
        </p:nvSpPr>
        <p:spPr/>
        <p:txBody>
          <a:bodyPr/>
          <a:lstStyle/>
          <a:p>
            <a:pPr lvl="0" indent="0" marL="0">
              <a:buNone/>
            </a:pPr>
            <a:r>
              <a:rPr i="1"/>
              <a:t>Last revised: March 18, 2024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Table of Contents</a:t>
            </a:r>
          </a:p>
          <a:p>
            <a:pPr lvl="0" indent="-342900" marL="342900">
              <a:buAutoNum type="arabicPeriod"/>
            </a:pPr>
            <a:r>
              <a:rPr>
                <a:hlinkClick r:id="rId2" action="ppaction://hlinksldjump"/>
              </a:rPr>
              <a:t>Introduction</a:t>
            </a:r>
          </a:p>
          <a:p>
            <a:pPr lvl="0" indent="-342900" marL="342900">
              <a:buAutoNum type="arabicPeriod"/>
            </a:pPr>
            <a:r>
              <a:rPr>
                <a:hlinkClick r:id="rId3" action="ppaction://hlinksldjump"/>
              </a:rPr>
              <a:t>Workplace Policies</a:t>
            </a:r>
          </a:p>
          <a:p>
            <a:pPr lvl="1"/>
            <a:r>
              <a:rPr/>
              <a:t>2.1 Equal Employment Opportunity</a:t>
            </a:r>
          </a:p>
          <a:p>
            <a:pPr lvl="1"/>
            <a:r>
              <a:rPr/>
              <a:t>2.2 Attendance and Working Hours</a:t>
            </a:r>
          </a:p>
          <a:p>
            <a:pPr lvl="1"/>
            <a:r>
              <a:rPr/>
              <a:t>2.3 Remote Work and Flexible Scheduling</a:t>
            </a:r>
          </a:p>
          <a:p>
            <a:pPr lvl="1"/>
            <a:r>
              <a:rPr/>
              <a:t>2.4 Safety and Emergency Procedures</a:t>
            </a:r>
          </a:p>
          <a:p>
            <a:pPr lvl="1"/>
            <a:r>
              <a:rPr/>
              <a:t>2.5 Use of University Property and Resources</a:t>
            </a:r>
          </a:p>
          <a:p>
            <a:pPr lvl="1"/>
            <a:r>
              <a:rPr/>
              <a:t>2.6 Confidentiality and Data Protection</a:t>
            </a:r>
          </a:p>
          <a:p>
            <a:pPr lvl="0" indent="-342900" marL="342900">
              <a:buAutoNum type="arabicPeriod"/>
            </a:pPr>
            <a:r>
              <a:rPr>
                <a:hlinkClick r:id="rId4" action="ppaction://hlinksldjump"/>
              </a:rPr>
              <a:t>Benefits Overview</a:t>
            </a:r>
          </a:p>
          <a:p>
            <a:pPr lvl="1"/>
            <a:r>
              <a:rPr/>
              <a:t>3.1 Medical, Dental, and Vision Insurance</a:t>
            </a:r>
          </a:p>
          <a:p>
            <a:pPr lvl="1"/>
            <a:r>
              <a:rPr/>
              <a:t>3.2 Retirement Plan</a:t>
            </a:r>
          </a:p>
          <a:p>
            <a:pPr lvl="1"/>
            <a:r>
              <a:rPr/>
              <a:t>3.3 Paid Time Off (PTO)</a:t>
            </a:r>
          </a:p>
          <a:p>
            <a:pPr lvl="1"/>
            <a:r>
              <a:rPr/>
              <a:t>3.4 Professional Development</a:t>
            </a:r>
          </a:p>
          <a:p>
            <a:pPr lvl="1"/>
            <a:r>
              <a:rPr/>
              <a:t>3.5 Employee Assistance Program (EAP)</a:t>
            </a:r>
          </a:p>
          <a:p>
            <a:pPr lvl="0" indent="-342900" marL="342900">
              <a:buAutoNum type="arabicPeriod"/>
            </a:pPr>
            <a:r>
              <a:rPr>
                <a:hlinkClick r:id="rId5" action="ppaction://hlinksldjump"/>
              </a:rPr>
              <a:t>Professional Conduct</a:t>
            </a:r>
          </a:p>
          <a:p>
            <a:pPr lvl="1"/>
            <a:r>
              <a:rPr/>
              <a:t>4.1 Code of Ethics</a:t>
            </a:r>
          </a:p>
          <a:p>
            <a:pPr lvl="1"/>
            <a:r>
              <a:rPr/>
              <a:t>4.2 Harassment and Discrimination Policy</a:t>
            </a:r>
          </a:p>
          <a:p>
            <a:pPr lvl="1"/>
            <a:r>
              <a:rPr/>
              <a:t>4.3 Conflict of Interest</a:t>
            </a:r>
          </a:p>
          <a:p>
            <a:pPr lvl="1"/>
            <a:r>
              <a:rPr/>
              <a:t>4.4 Dress Code and Appearance</a:t>
            </a:r>
          </a:p>
          <a:p>
            <a:pPr lvl="1"/>
            <a:r>
              <a:rPr/>
              <a:t>4.5 Disciplinary Procedures</a:t>
            </a:r>
          </a:p>
          <a:p>
            <a:pPr lvl="0" indent="-342900" marL="342900">
              <a:buAutoNum type="arabicPeriod"/>
            </a:pPr>
            <a:r>
              <a:rPr>
                <a:hlinkClick r:id="rId6" action="ppaction://hlinksldjump"/>
              </a:rPr>
              <a:t>Company Culture</a:t>
            </a:r>
          </a:p>
          <a:p>
            <a:pPr lvl="1"/>
            <a:r>
              <a:rPr/>
              <a:t>5.1 Mission and Values</a:t>
            </a:r>
          </a:p>
          <a:p>
            <a:pPr lvl="1"/>
            <a:r>
              <a:rPr/>
              <a:t>5.2 Diversity and Inclusion</a:t>
            </a:r>
          </a:p>
          <a:p>
            <a:pPr lvl="1"/>
            <a:r>
              <a:rPr/>
              <a:t>5.3 Collaboration and Communication</a:t>
            </a:r>
          </a:p>
          <a:p>
            <a:pPr lvl="1"/>
            <a:r>
              <a:rPr/>
              <a:t>5.4 Community Engagement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a:t>
            </a:r>
          </a:p>
          <a:p>
            <a:pPr lvl="0" indent="0" marL="0">
              <a:buNone/>
            </a:pPr>
            <a:r>
              <a:rPr/>
              <a:t>Welcome to Cendara University! As an esteemed faculty or staff member, you play an essential role in fostering an environment of academic excellence, inclusivity, and professional growth. This handbook provides guidance on policies, benefits, conduct expectations, and the values central to the Cendara University community.</a:t>
            </a:r>
          </a:p>
          <a:p>
            <a:pPr lvl="0" indent="0" marL="0">
              <a:buNone/>
            </a:pPr>
            <a:r>
              <a:rPr/>
              <a:t>If you have questions at any time, please contact Human Resources at hr@cendara.edu or visit the HR office in Ferris Hall, Room 206.</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Workplace Policies</a:t>
            </a:r>
          </a:p>
          <a:p>
            <a:pPr lvl="0" indent="0" marL="0">
              <a:spcBef>
                <a:spcPts val="3000"/>
              </a:spcBef>
              <a:buNone/>
            </a:pPr>
            <a:r>
              <a:rPr b="1"/>
              <a:t>2.1 Equal Employment Opportunity</a:t>
            </a:r>
          </a:p>
          <a:p>
            <a:pPr lvl="0" indent="0" marL="0">
              <a:buNone/>
            </a:pPr>
            <a:r>
              <a:rPr/>
              <a:t>Cendara University is committed to providing an inclusive workplace free of discrimination or harassment based on race, color, religion, gender, age, national origin, disability, marital status, sexual orientation, or veteran status. Employment decisions are based solely on merit and qualifications.</a:t>
            </a:r>
          </a:p>
          <a:p>
            <a:pPr lvl="0" indent="0" marL="0">
              <a:spcBef>
                <a:spcPts val="3000"/>
              </a:spcBef>
              <a:buNone/>
            </a:pPr>
            <a:r>
              <a:rPr b="1"/>
              <a:t>2.2 Attendance and Working Hours</a:t>
            </a:r>
          </a:p>
          <a:p>
            <a:pPr lvl="0"/>
            <a:r>
              <a:rPr b="1"/>
              <a:t>Standard office hours:</a:t>
            </a:r>
            <a:r>
              <a:rPr/>
              <a:t> Monday–Friday, 8:30 a.m. to 5:00 p.m.</a:t>
            </a:r>
          </a:p>
          <a:p>
            <a:pPr lvl="0"/>
            <a:r>
              <a:rPr/>
              <a:t>Faculty hours may vary by teaching schedules.</a:t>
            </a:r>
          </a:p>
          <a:p>
            <a:pPr lvl="0"/>
            <a:r>
              <a:rPr/>
              <a:t>In case of absence or late arrival, notify your supervisor or department chair as early as possible.</a:t>
            </a:r>
          </a:p>
          <a:p>
            <a:pPr lvl="0"/>
            <a:r>
              <a:rPr/>
              <a:t>Excessive unexcused absences may result in corrective action.</a:t>
            </a:r>
          </a:p>
          <a:p>
            <a:pPr lvl="0" indent="0" marL="0">
              <a:spcBef>
                <a:spcPts val="3000"/>
              </a:spcBef>
              <a:buNone/>
            </a:pPr>
            <a:r>
              <a:rPr b="1"/>
              <a:t>2.3 Remote Work and Flexible Scheduling</a:t>
            </a:r>
          </a:p>
          <a:p>
            <a:pPr lvl="0" indent="0" marL="0">
              <a:buNone/>
            </a:pPr>
            <a:r>
              <a:rPr/>
              <a:t>Cendara University supports a hybrid work environment for eligible positions:</a:t>
            </a:r>
          </a:p>
          <a:p>
            <a:pPr lvl="0"/>
            <a:r>
              <a:rPr b="1"/>
              <a:t>Remote work:</a:t>
            </a:r>
            <a:r>
              <a:rPr/>
              <a:t> Up to 2 days/week with supervisor approval.</a:t>
            </a:r>
          </a:p>
          <a:p>
            <a:pPr lvl="0"/>
            <a:r>
              <a:rPr b="1"/>
              <a:t>Flexible schedules:</a:t>
            </a:r>
            <a:r>
              <a:rPr/>
              <a:t> (e.g., adjusted start/end times) available based on departmental needs.</a:t>
            </a:r>
          </a:p>
          <a:p>
            <a:pPr lvl="0"/>
            <a:r>
              <a:rPr/>
              <a:t>Submit requests in writing to immediate supervisors; approvals are assessed case-by-case.</a:t>
            </a:r>
          </a:p>
          <a:p>
            <a:pPr lvl="0" indent="0" marL="0">
              <a:spcBef>
                <a:spcPts val="3000"/>
              </a:spcBef>
              <a:buNone/>
            </a:pPr>
            <a:r>
              <a:rPr b="1"/>
              <a:t>2.4 Safety and Emergency Procedures</a:t>
            </a:r>
          </a:p>
          <a:p>
            <a:pPr lvl="0"/>
            <a:r>
              <a:rPr/>
              <a:t>Report safety hazards to Campus Safety at (417) 555-3680.</a:t>
            </a:r>
          </a:p>
          <a:p>
            <a:pPr lvl="0"/>
            <a:r>
              <a:rPr/>
              <a:t>Participate in required annual safety trainings.</a:t>
            </a:r>
          </a:p>
          <a:p>
            <a:pPr lvl="0"/>
            <a:r>
              <a:rPr/>
              <a:t>Fire drills are conducted twice per academic year.</a:t>
            </a:r>
          </a:p>
          <a:p>
            <a:pPr lvl="0"/>
            <a:r>
              <a:rPr/>
              <a:t>In emergencies, follow posted evacuation routes and instructions from security personnel.</a:t>
            </a:r>
          </a:p>
          <a:p>
            <a:pPr lvl="0" indent="0" marL="0">
              <a:spcBef>
                <a:spcPts val="3000"/>
              </a:spcBef>
              <a:buNone/>
            </a:pPr>
            <a:r>
              <a:rPr b="1"/>
              <a:t>2.5 Use of University Property and Resources</a:t>
            </a:r>
          </a:p>
          <a:p>
            <a:pPr lvl="0"/>
            <a:r>
              <a:rPr/>
              <a:t>University devices and resources are for professional, academic, or research purposes.</a:t>
            </a:r>
          </a:p>
          <a:p>
            <a:pPr lvl="0"/>
            <a:r>
              <a:rPr/>
              <a:t>Personal use should be minimal and not interfere with operations.</a:t>
            </a:r>
          </a:p>
          <a:p>
            <a:pPr lvl="0"/>
            <a:r>
              <a:rPr/>
              <a:t>Unauthorized removal or misuse of university property will result in disciplinary measures.</a:t>
            </a:r>
          </a:p>
          <a:p>
            <a:pPr lvl="0"/>
            <a:r>
              <a:rPr/>
              <a:t>All computer usage is monitored under the Information Technology Acceptable Use Policy.</a:t>
            </a:r>
          </a:p>
          <a:p>
            <a:pPr lvl="0" indent="0" marL="0">
              <a:spcBef>
                <a:spcPts val="3000"/>
              </a:spcBef>
              <a:buNone/>
            </a:pPr>
            <a:r>
              <a:rPr b="1"/>
              <a:t>2.6 Confidentiality and Data Protection</a:t>
            </a:r>
          </a:p>
          <a:p>
            <a:pPr lvl="0"/>
            <a:r>
              <a:rPr/>
              <a:t>Maintain confidentiality regarding student, faculty, and institutional information.</a:t>
            </a:r>
          </a:p>
          <a:p>
            <a:pPr lvl="0"/>
            <a:r>
              <a:rPr/>
              <a:t>Do not disclose any sensitive information without proper authorization.</a:t>
            </a:r>
          </a:p>
          <a:p>
            <a:pPr lvl="0"/>
            <a:r>
              <a:rPr/>
              <a:t>Comply with FERPA and all applicable data protection policies.</a:t>
            </a:r>
          </a:p>
          <a:p>
            <a:pPr lvl="0"/>
            <a:r>
              <a:rPr/>
              <a:t>Report data breaches or suspicious activities to itsecurity@cendara.edu.</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Benefits Overview</a:t>
            </a:r>
          </a:p>
          <a:p>
            <a:pPr lvl="0" indent="0" marL="0">
              <a:spcBef>
                <a:spcPts val="3000"/>
              </a:spcBef>
              <a:buNone/>
            </a:pPr>
            <a:r>
              <a:rPr b="1"/>
              <a:t>3.1 Medical, Dental, and Vision Insurance</a:t>
            </a:r>
          </a:p>
          <a:p>
            <a:pPr lvl="0"/>
            <a:r>
              <a:rPr/>
              <a:t>Comprehensive health coverage through NimbusCare.</a:t>
            </a:r>
          </a:p>
          <a:p>
            <a:pPr lvl="0"/>
            <a:r>
              <a:rPr/>
              <a:t>Coverage starts on the first of the month following your hire date.</a:t>
            </a:r>
          </a:p>
          <a:p>
            <a:pPr lvl="0"/>
            <a:r>
              <a:rPr/>
              <a:t>Includes annual physicals, prescription drugs, mental health services, and specialist visits.</a:t>
            </a:r>
          </a:p>
          <a:p>
            <a:pPr lvl="0"/>
            <a:r>
              <a:rPr/>
              <a:t>Dental and vision plans administered through BrightSmile and OptiView.</a:t>
            </a:r>
          </a:p>
          <a:p>
            <a:pPr lvl="0"/>
            <a:r>
              <a:rPr/>
              <a:t>See the Benefits Guide or email benefits@cendara.edu for plan details.</a:t>
            </a:r>
          </a:p>
          <a:p>
            <a:pPr lvl="0" indent="0" marL="0">
              <a:spcBef>
                <a:spcPts val="3000"/>
              </a:spcBef>
              <a:buNone/>
            </a:pPr>
            <a:r>
              <a:rPr b="1"/>
              <a:t>3.2 Retirement Plan</a:t>
            </a:r>
          </a:p>
          <a:p>
            <a:pPr lvl="0"/>
            <a:r>
              <a:rPr/>
              <a:t>Participation in the Cendara University Retirement Savings Plan (CURSP) is automatic after 90 days of employment.</a:t>
            </a:r>
          </a:p>
          <a:p>
            <a:pPr lvl="0"/>
            <a:r>
              <a:rPr/>
              <a:t>University matches employee contributions up to 6% of salary.</a:t>
            </a:r>
          </a:p>
          <a:p>
            <a:pPr lvl="0"/>
            <a:r>
              <a:rPr/>
              <a:t>Administered by Granite Financial Services.</a:t>
            </a:r>
          </a:p>
          <a:p>
            <a:pPr lvl="0"/>
            <a:r>
              <a:rPr/>
              <a:t>Optional voluntary contributions up to IRS limits.</a:t>
            </a:r>
          </a:p>
          <a:p>
            <a:pPr lvl="0" indent="0" marL="0">
              <a:spcBef>
                <a:spcPts val="3000"/>
              </a:spcBef>
              <a:buNone/>
            </a:pPr>
            <a:r>
              <a:rPr b="1"/>
              <a:t>3.3 Paid Time Off (PTO)</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Employee Type</a:t>
                      </a:r>
                    </a:p>
                  </a:txBody>
                  <a:tcPr/>
                </a:tc>
                <a:tc>
                  <a:txBody>
                    <a:bodyPr/>
                    <a:lstStyle/>
                    <a:p>
                      <a:pPr lvl="0" indent="0" marL="0">
                        <a:buNone/>
                      </a:pPr>
                      <a:r>
                        <a:rPr/>
                        <a:t>Annual Vacation</a:t>
                      </a:r>
                    </a:p>
                  </a:txBody>
                  <a:tcPr/>
                </a:tc>
                <a:tc>
                  <a:txBody>
                    <a:bodyPr/>
                    <a:lstStyle/>
                    <a:p>
                      <a:pPr lvl="0" indent="0" marL="0">
                        <a:buNone/>
                      </a:pPr>
                      <a:r>
                        <a:rPr/>
                        <a:t>Sick Leave</a:t>
                      </a:r>
                    </a:p>
                  </a:txBody>
                  <a:tcPr/>
                </a:tc>
                <a:tc>
                  <a:txBody>
                    <a:bodyPr/>
                    <a:lstStyle/>
                    <a:p>
                      <a:pPr lvl="0" indent="0" marL="0">
                        <a:buNone/>
                      </a:pPr>
                      <a:r>
                        <a:rPr/>
                        <a:t>Personal Days</a:t>
                      </a:r>
                    </a:p>
                  </a:txBody>
                  <a:tcPr/>
                </a:tc>
                <a:tc>
                  <a:txBody>
                    <a:bodyPr/>
                    <a:lstStyle/>
                    <a:p>
                      <a:pPr lvl="0" indent="0" marL="0">
                        <a:buNone/>
                      </a:pPr>
                      <a:r>
                        <a:rPr/>
                        <a:t>Holidays</a:t>
                      </a:r>
                    </a:p>
                  </a:txBody>
                  <a:tcPr/>
                </a:tc>
              </a:tr>
              <a:tr h="0">
                <a:tc>
                  <a:txBody>
                    <a:bodyPr/>
                    <a:lstStyle/>
                    <a:p>
                      <a:pPr lvl="0" indent="0" marL="0">
                        <a:buNone/>
                      </a:pPr>
                      <a:r>
                        <a:rPr/>
                        <a:t>Full-time Staff</a:t>
                      </a:r>
                    </a:p>
                  </a:txBody>
                </a:tc>
                <a:tc>
                  <a:txBody>
                    <a:bodyPr/>
                    <a:lstStyle/>
                    <a:p>
                      <a:pPr lvl="0" indent="0" marL="0">
                        <a:buNone/>
                      </a:pPr>
                      <a:r>
                        <a:rPr/>
                        <a:t>20 days</a:t>
                      </a:r>
                    </a:p>
                  </a:txBody>
                </a:tc>
                <a:tc>
                  <a:txBody>
                    <a:bodyPr/>
                    <a:lstStyle/>
                    <a:p>
                      <a:pPr lvl="0" indent="0" marL="0">
                        <a:buNone/>
                      </a:pPr>
                      <a:r>
                        <a:rPr/>
                        <a:t>10 days</a:t>
                      </a:r>
                    </a:p>
                  </a:txBody>
                </a:tc>
                <a:tc>
                  <a:txBody>
                    <a:bodyPr/>
                    <a:lstStyle/>
                    <a:p>
                      <a:pPr lvl="0" indent="0" marL="0">
                        <a:buNone/>
                      </a:pPr>
                      <a:r>
                        <a:rPr/>
                        <a:t>4 days</a:t>
                      </a:r>
                    </a:p>
                  </a:txBody>
                </a:tc>
                <a:tc>
                  <a:txBody>
                    <a:bodyPr/>
                    <a:lstStyle/>
                    <a:p>
                      <a:pPr lvl="0" indent="0" marL="0">
                        <a:buNone/>
                      </a:pPr>
                      <a:r>
                        <a:rPr/>
                        <a:t>12 days</a:t>
                      </a:r>
                    </a:p>
                  </a:txBody>
                </a:tc>
              </a:tr>
              <a:tr h="0">
                <a:tc>
                  <a:txBody>
                    <a:bodyPr/>
                    <a:lstStyle/>
                    <a:p>
                      <a:pPr lvl="0" indent="0" marL="0">
                        <a:buNone/>
                      </a:pPr>
                      <a:r>
                        <a:rPr/>
                        <a:t>Full-time Faculty</a:t>
                      </a:r>
                    </a:p>
                  </a:txBody>
                </a:tc>
                <a:tc>
                  <a:txBody>
                    <a:bodyPr/>
                    <a:lstStyle/>
                    <a:p>
                      <a:pPr lvl="0" indent="0" marL="0">
                        <a:buNone/>
                      </a:pPr>
                      <a:r>
                        <a:rPr/>
                        <a:t>By appointment</a:t>
                      </a:r>
                    </a:p>
                  </a:txBody>
                </a:tc>
                <a:tc>
                  <a:txBody>
                    <a:bodyPr/>
                    <a:lstStyle/>
                    <a:p>
                      <a:pPr lvl="0" indent="0" marL="0">
                        <a:buNone/>
                      </a:pPr>
                      <a:r>
                        <a:rPr/>
                        <a:t>10 days</a:t>
                      </a:r>
                    </a:p>
                  </a:txBody>
                </a:tc>
                <a:tc>
                  <a:txBody>
                    <a:bodyPr/>
                    <a:lstStyle/>
                    <a:p>
                      <a:pPr lvl="0" indent="0" marL="0">
                        <a:buNone/>
                      </a:pPr>
                      <a:r>
                        <a:rPr/>
                        <a:t>2 days</a:t>
                      </a:r>
                    </a:p>
                  </a:txBody>
                </a:tc>
                <a:tc>
                  <a:txBody>
                    <a:bodyPr/>
                    <a:lstStyle/>
                    <a:p>
                      <a:pPr lvl="0" indent="0" marL="0">
                        <a:buNone/>
                      </a:pPr>
                      <a:r>
                        <a:rPr/>
                        <a:t>12 days</a:t>
                      </a:r>
                    </a:p>
                  </a:txBody>
                </a:tc>
              </a:tr>
              <a:tr h="0">
                <a:tc>
                  <a:txBody>
                    <a:bodyPr/>
                    <a:lstStyle/>
                    <a:p>
                      <a:pPr lvl="0" indent="0" marL="0">
                        <a:buNone/>
                      </a:pPr>
                      <a:r>
                        <a:rPr/>
                        <a:t>Part-time Employees</a:t>
                      </a:r>
                    </a:p>
                  </a:txBody>
                </a:tc>
                <a:tc>
                  <a:txBody>
                    <a:bodyPr/>
                    <a:lstStyle/>
                    <a:p>
                      <a:pPr lvl="0" indent="0" marL="0">
                        <a:buNone/>
                      </a:pPr>
                      <a:r>
                        <a:rPr/>
                        <a:t>Pro-rated</a:t>
                      </a:r>
                    </a:p>
                  </a:txBody>
                </a:tc>
                <a:tc>
                  <a:txBody>
                    <a:bodyPr/>
                    <a:lstStyle/>
                    <a:p>
                      <a:pPr lvl="0" indent="0" marL="0">
                        <a:buNone/>
                      </a:pPr>
                      <a:r>
                        <a:rPr/>
                        <a:t>Pro-rated</a:t>
                      </a:r>
                    </a:p>
                  </a:txBody>
                </a:tc>
                <a:tc>
                  <a:txBody>
                    <a:bodyPr/>
                    <a:lstStyle/>
                    <a:p>
                      <a:pPr lvl="0" indent="0" marL="0">
                        <a:buNone/>
                      </a:pPr>
                      <a:r>
                        <a:rPr/>
                        <a:t>2 days</a:t>
                      </a:r>
                    </a:p>
                  </a:txBody>
                </a:tc>
                <a:tc>
                  <a:txBody>
                    <a:bodyPr/>
                    <a:lstStyle/>
                    <a:p>
                      <a:pPr lvl="0" indent="0" marL="0">
                        <a:buNone/>
                      </a:pPr>
                      <a:r>
                        <a:rPr/>
                        <a:t>12 days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Unused vacation days may be carried over up to a maximum of 10 days per year.</a:t>
            </a:r>
          </a:p>
          <a:p>
            <a:pPr lvl="0" indent="0" marL="0">
              <a:spcBef>
                <a:spcPts val="3000"/>
              </a:spcBef>
              <a:buNone/>
            </a:pPr>
            <a:r>
              <a:rPr b="1"/>
              <a:t>3.4 Professional Development</a:t>
            </a:r>
          </a:p>
          <a:p>
            <a:pPr lvl="0"/>
            <a:r>
              <a:rPr/>
              <a:t>Annual stipend of $800 for conferences, workshops, or continuing education.</a:t>
            </a:r>
          </a:p>
          <a:p>
            <a:pPr lvl="0"/>
            <a:r>
              <a:rPr/>
              <a:t>Tuition reimbursement for approved coursework at Cendara or partner institutions (up to 50% tuition).</a:t>
            </a:r>
          </a:p>
          <a:p>
            <a:pPr lvl="0"/>
            <a:r>
              <a:rPr/>
              <a:t>Access to on-campus seminars and leadership training.</a:t>
            </a:r>
          </a:p>
          <a:p>
            <a:pPr lvl="0" indent="0" marL="0">
              <a:spcBef>
                <a:spcPts val="3000"/>
              </a:spcBef>
              <a:buNone/>
            </a:pPr>
            <a:r>
              <a:rPr b="1"/>
              <a:t>3.5 Employee Assistance Program (EAP)</a:t>
            </a:r>
          </a:p>
          <a:p>
            <a:pPr lvl="0"/>
            <a:r>
              <a:rPr/>
              <a:t>Free, confidential counseling (up to 6 sessions per year).</a:t>
            </a:r>
          </a:p>
          <a:p>
            <a:pPr lvl="0"/>
            <a:r>
              <a:rPr/>
              <a:t>Financial consulting, legal assistance, and support resources for all employees and families.</a:t>
            </a:r>
          </a:p>
          <a:p>
            <a:pPr lvl="0"/>
            <a:r>
              <a:rPr/>
              <a:t>EAP contact: (800) 555-9932 or eapservices@cendara.edu.</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Professional Conduct</a:t>
            </a:r>
          </a:p>
          <a:p>
            <a:pPr lvl="0" indent="0" marL="0">
              <a:spcBef>
                <a:spcPts val="3000"/>
              </a:spcBef>
              <a:buNone/>
            </a:pPr>
            <a:r>
              <a:rPr b="1"/>
              <a:t>4.1 Code of Ethics</a:t>
            </a:r>
          </a:p>
          <a:p>
            <a:pPr lvl="0" indent="0" marL="0">
              <a:buNone/>
            </a:pPr>
            <a:r>
              <a:rPr/>
              <a:t>Employees are expected to: - Demonstrate honesty, accountability, and integrity in all interactions. - Uphold academic freedom, respect intellectual property, and maintain professionalism. - Report unethical conduct or conflicts of interest to the Office of Compliance.</a:t>
            </a:r>
          </a:p>
          <a:p>
            <a:pPr lvl="0" indent="0" marL="0">
              <a:spcBef>
                <a:spcPts val="3000"/>
              </a:spcBef>
              <a:buNone/>
            </a:pPr>
            <a:r>
              <a:rPr b="1"/>
              <a:t>4.2 Harassment and Discrimination Policy</a:t>
            </a:r>
          </a:p>
          <a:p>
            <a:pPr lvl="0"/>
            <a:r>
              <a:rPr/>
              <a:t>Zero tolerance for harassment, discrimination, or retaliation.</a:t>
            </a:r>
          </a:p>
          <a:p>
            <a:pPr lvl="0"/>
            <a:r>
              <a:rPr/>
              <a:t>Includes but is not limited to: sexual harassment, bullying, offensive language, and intimidation.</a:t>
            </a:r>
          </a:p>
          <a:p>
            <a:pPr lvl="0"/>
            <a:r>
              <a:rPr/>
              <a:t>Incidents should be reported immediately to Office of Equity &amp; Inclusion at equity@cendara.edu.</a:t>
            </a:r>
          </a:p>
          <a:p>
            <a:pPr lvl="0"/>
            <a:r>
              <a:rPr/>
              <a:t>All complaints are confidential and thoroughly investigated.</a:t>
            </a:r>
          </a:p>
          <a:p>
            <a:pPr lvl="0" indent="0" marL="0">
              <a:spcBef>
                <a:spcPts val="3000"/>
              </a:spcBef>
              <a:buNone/>
            </a:pPr>
            <a:r>
              <a:rPr b="1"/>
              <a:t>4.3 Conflict of Interest</a:t>
            </a:r>
          </a:p>
          <a:p>
            <a:pPr lvl="0"/>
            <a:r>
              <a:rPr/>
              <a:t>Disclose any potential conflicts involving personal, financial, or familial interests that could compromise university decisions.</a:t>
            </a:r>
          </a:p>
          <a:p>
            <a:pPr lvl="0"/>
            <a:r>
              <a:rPr/>
              <a:t>Employees may not accept gifts in excess of $75 from vendors or partners.</a:t>
            </a:r>
          </a:p>
          <a:p>
            <a:pPr lvl="0"/>
            <a:r>
              <a:rPr/>
              <a:t>Conflicts should be reported using the online disclosure form or to your department head.</a:t>
            </a:r>
          </a:p>
          <a:p>
            <a:pPr lvl="0" indent="0" marL="0">
              <a:spcBef>
                <a:spcPts val="3000"/>
              </a:spcBef>
              <a:buNone/>
            </a:pPr>
            <a:r>
              <a:rPr b="1"/>
              <a:t>4.4 Dress Code and Appearance</a:t>
            </a:r>
          </a:p>
          <a:p>
            <a:pPr lvl="0"/>
            <a:r>
              <a:rPr/>
              <a:t>Business casual is standard for all office and academic settings.</a:t>
            </a:r>
          </a:p>
          <a:p>
            <a:pPr lvl="0"/>
            <a:r>
              <a:rPr/>
              <a:t>Lab and clinical staff must adhere to departmental safety attire regulations.</a:t>
            </a:r>
          </a:p>
          <a:p>
            <a:pPr lvl="0"/>
            <a:r>
              <a:rPr/>
              <a:t>“Cendara Pride Fridays” permit university-branded casual wear.</a:t>
            </a:r>
          </a:p>
          <a:p>
            <a:pPr lvl="0"/>
            <a:r>
              <a:rPr/>
              <a:t>Special dress requirements may apply for events or ceremonies.</a:t>
            </a:r>
          </a:p>
          <a:p>
            <a:pPr lvl="0" indent="0" marL="0">
              <a:spcBef>
                <a:spcPts val="3000"/>
              </a:spcBef>
              <a:buNone/>
            </a:pPr>
            <a:r>
              <a:rPr b="1"/>
              <a:t>4.5 Disciplinary Procedures</a:t>
            </a:r>
          </a:p>
          <a:p>
            <a:pPr lvl="0"/>
            <a:r>
              <a:rPr/>
              <a:t>Violations of university policies result in progressive discipline:</a:t>
            </a:r>
          </a:p>
          <a:p>
            <a:pPr lvl="1" indent="-342900" marL="685800">
              <a:buAutoNum type="arabicPeriod"/>
            </a:pPr>
            <a:r>
              <a:rPr/>
              <a:t>Verbal warning</a:t>
            </a:r>
          </a:p>
          <a:p>
            <a:pPr lvl="1" indent="-342900" marL="685800">
              <a:buAutoNum type="arabicPeriod"/>
            </a:pPr>
            <a:r>
              <a:rPr/>
              <a:t>Written warning</a:t>
            </a:r>
          </a:p>
          <a:p>
            <a:pPr lvl="1" indent="-342900" marL="685800">
              <a:buAutoNum type="arabicPeriod"/>
            </a:pPr>
            <a:r>
              <a:rPr/>
              <a:t>Suspension</a:t>
            </a:r>
          </a:p>
          <a:p>
            <a:pPr lvl="1" indent="-342900" marL="685800">
              <a:buAutoNum type="arabicPeriod"/>
            </a:pPr>
            <a:r>
              <a:rPr/>
              <a:t>Termination (for serious or repeated violations)</a:t>
            </a:r>
          </a:p>
          <a:p>
            <a:pPr lvl="0"/>
            <a:r>
              <a:rPr/>
              <a:t>All disciplinary actions are documented in the employee’s file and handled in accordance with university guidelines.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Company Culture</a:t>
            </a:r>
          </a:p>
          <a:p>
            <a:pPr lvl="0" indent="0" marL="0">
              <a:spcBef>
                <a:spcPts val="3000"/>
              </a:spcBef>
              <a:buNone/>
            </a:pPr>
            <a:r>
              <a:rPr b="1"/>
              <a:t>5.1 Mission and Values</a:t>
            </a:r>
          </a:p>
          <a:p>
            <a:pPr lvl="0" indent="0" marL="0">
              <a:buNone/>
            </a:pPr>
            <a:r>
              <a:rPr/>
              <a:t>Cendara University fosters inquiry, lifelong learning, and civic engagement. We empower our community members to pursue excellence, innovation, and global citizenship.</a:t>
            </a:r>
          </a:p>
          <a:p>
            <a:pPr lvl="0" indent="0" marL="0">
              <a:buNone/>
            </a:pPr>
            <a:r>
              <a:rPr b="1"/>
              <a:t>Core Values:</a:t>
            </a:r>
            <a:r>
              <a:rPr/>
              <a:t> - Academic integrity and freedom - Respect and inclusivity - Service and responsibility - Creativity and discovery</a:t>
            </a:r>
          </a:p>
          <a:p>
            <a:pPr lvl="0" indent="0" marL="0">
              <a:spcBef>
                <a:spcPts val="3000"/>
              </a:spcBef>
              <a:buNone/>
            </a:pPr>
            <a:r>
              <a:rPr b="1"/>
              <a:t>5.2 Diversity and Inclusion</a:t>
            </a:r>
          </a:p>
          <a:p>
            <a:pPr lvl="0"/>
            <a:r>
              <a:rPr/>
              <a:t>Diversity is integral to our academic mission.</a:t>
            </a:r>
          </a:p>
          <a:p>
            <a:pPr lvl="0"/>
            <a:r>
              <a:rPr/>
              <a:t>The Mosaic Initiative advances equity for underrepresented groups in faculty and student recruitment.</a:t>
            </a:r>
          </a:p>
          <a:p>
            <a:pPr lvl="0"/>
            <a:r>
              <a:rPr/>
              <a:t>Monthly “Voices Forum” discussions and annual Diversity Symposium.</a:t>
            </a:r>
          </a:p>
          <a:p>
            <a:pPr lvl="0" indent="0" marL="0">
              <a:spcBef>
                <a:spcPts val="3000"/>
              </a:spcBef>
              <a:buNone/>
            </a:pPr>
            <a:r>
              <a:rPr b="1"/>
              <a:t>5.3 Collaboration and Communication</a:t>
            </a:r>
          </a:p>
          <a:p>
            <a:pPr lvl="0"/>
            <a:r>
              <a:rPr/>
              <a:t>Open-door policy among departments and leadership.</a:t>
            </a:r>
          </a:p>
          <a:p>
            <a:pPr lvl="0"/>
            <a:r>
              <a:rPr/>
              <a:t>Annual university retreat (“Connections Day”) each August for cross-campus networking and team building.</a:t>
            </a:r>
          </a:p>
          <a:p>
            <a:pPr lvl="0"/>
            <a:r>
              <a:rPr/>
              <a:t>Use of CendaraConnect, an internal communications platform, for updates, discussion, and feedback.</a:t>
            </a:r>
          </a:p>
          <a:p>
            <a:pPr lvl="0" indent="0" marL="0">
              <a:spcBef>
                <a:spcPts val="3000"/>
              </a:spcBef>
              <a:buNone/>
            </a:pPr>
            <a:r>
              <a:rPr b="1"/>
              <a:t>5.4 Community Engagement</a:t>
            </a:r>
          </a:p>
          <a:p>
            <a:pPr lvl="0"/>
            <a:r>
              <a:rPr/>
              <a:t>Employee Volunteer Day each spring, supporting local nonprofits.</a:t>
            </a:r>
          </a:p>
          <a:p>
            <a:pPr lvl="0"/>
            <a:r>
              <a:rPr/>
              <a:t>Encouragement of staff participation in community lectures, outreach, and K-12 mentoring programs.</a:t>
            </a:r>
          </a:p>
          <a:p>
            <a:pPr lvl="0"/>
            <a:r>
              <a:rPr/>
              <a:t>Cendara’s annual Open Campus Festival invites neighbors, alumni, and civic partners to campus.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Please review this handbook regularly. Cendara University reserves the right to amend any policies or benefits as needed. Updates are communicated via email and posted in the HR section of the university intranet.</a:t>
            </a:r>
          </a:p>
          <a:p>
            <a:pPr lvl="0" indent="0" marL="0">
              <a:buNone/>
            </a:pPr>
            <a:r>
              <a:rPr i="1"/>
              <a:t>Thank you for being a part of Cendara University’s vibrant academic community!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2025-07-29T15:06:02Z</dcterms:created>
  <dcterms:modified xsi:type="dcterms:W3CDTF">2025-07-29T15:06:02Z</dcterms:modified>
</cp:coreProperties>
</file>

<file path=docProps/custom.xml><?xml version="1.0" encoding="utf-8"?>
<Properties xmlns="http://schemas.openxmlformats.org/officeDocument/2006/custom-properties" xmlns:vt="http://schemas.openxmlformats.org/officeDocument/2006/docPropsVTypes"/>
</file>