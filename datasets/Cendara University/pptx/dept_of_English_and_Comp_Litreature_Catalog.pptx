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Department of English and Comparative Literature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2024–2025 Course Catalog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Undergraduate Courses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101: Introduction to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Foundational exploration of major genres—poetry, fiction, and drama—from diverse cultures and historical periods. Emphasis on close reading, interpretive strategies, and critical discussion.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102: Fundamentals of Academic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Practice in formal writing for a variety of academic disciplines. Topics include thesis development, argumentation, research methods, and citation styles.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203: British Literature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 survey of British literature from the Anglo-Saxon period through the 18th century, including key texts by Chaucer, Shakespeare, and Milton. Attention to literary traditions, historical contexts, and cultural influence.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101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204: British Literature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Continuation of ENGL 203, focusing on Romanticism, Victorian literature, and Modernism. Authors include Wordsworth, Tennyson, Woolf, and Joyce.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101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211: American Literature to 1865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Examination of major works and authors from colonization through the Civil War, including Native American, African American, and immigrant voices.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101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212: American Literature Since 1865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A study of representative American literary works from the late 19th century to the present. Emphasizes realism, modernism, postmodernism, and contemporary trends.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101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220: World Literature in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Works from outside the British and American traditions, read in English translation. Includes poetry, drama, and prose from Asia, Africa, Latin America, and the Middle East.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101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231: Introduction to Linguistics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Introduction to the scientific study of language, including phonetics, syntax, morphology, semantics, and language acquisition.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251: Creative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Workshop-based introduction to writing poetry, short fiction, and creative nonfiction. Supports development of personal voice and style.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102 or instructor permission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260: Literature and Film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Explores the relationship between written texts and film adaptations. Comparative analysis of narrative strategies, genre conventions, and cultural contexts.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101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299: Special Topics in 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1–3</a:t>
            </a:r>
            <a:br/>
            <a:r>
              <a:rPr b="1"/>
              <a:t>Description:</a:t>
            </a:r>
            <a:br/>
            <a:r>
              <a:rPr/>
              <a:t>Rotating topics of current interest in literature, writing, or linguistics. Recent offerings have included “The Gothic Imagination,” “Digital Storytelling,” and “Eco-Criticism.”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At least one prior ENGL course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Upper-Level Undergraduate and Graduate Courses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301: Shakespeare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Intensive analysis of selected plays and poetry by William Shakespeare. Focus on themes, language, dramatic structure, and socio-historical context.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203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315: The African Diaspora in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Study of literary works by writers of the African diaspora, addressing themes of identity, migration, and community. Authors include Chimamanda Ngozi Adichie, Derek Walcott, and Ta-Nehisi Coates.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101 or 211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332: Advanced Grammar and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Detailed examination of English grammar and stylistic conventions, emphasizing practical application in editing and writing.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231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340: Literary Theory and Criticism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Survey of major theoretical frameworks, including structuralism, postcolonialism, feminism, and psychoanalytic criticism. Application to selected texts.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Two 200-level ENGL courses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350: Writing for Digital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Study and practice of writing for online platforms, including blogs, podcasts, and social media. Attention to audience, ethics, and multimodal storytelling.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102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370: Studies in Modern Poetry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Exploration of major poets and modern poetic movements from the 20th century to the present. Includes work from Eliot, Plath, Hughes, Bishop, and Heaney.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203 or 204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451: Senior Seminar in 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Capstone seminar for senior English majors. Students complete independent research projects and present their findings in a public symposium.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Senior standing; completion of at least two 300-level ENGL courses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498: Honors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6 (over two semesters)</a:t>
            </a:r>
            <a:br/>
            <a:r>
              <a:rPr b="1"/>
              <a:t>Description:</a:t>
            </a:r>
            <a:br/>
            <a:r>
              <a:rPr/>
              <a:t>Individualized research and thesis writing under faculty supervision on a topic approved by the department.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Invitation to Honors Program; ENGL 340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Graduate Courses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520: Research Methods in Literary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Fundamentals of advanced research, bibliographical strategies, and theory application in literary study. Preparation for thesis work.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Admission to M.A. or Ph.D. program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531: Seminar in Comparative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Comparative analysis of texts from different literary traditions, periods, or languages. Emphasizes interdisciplinary approaches.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Graduate standing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550: Critical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Close study of key texts in 20th and 21st-century critical theory. Topics include deconstruction, queer theory, new historicism, and more.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ENGL 340 or equivalent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571: Pedagogy in English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Description:</a:t>
            </a:r>
            <a:br/>
            <a:r>
              <a:rPr/>
              <a:t>Introduction to theories and practices of teaching composition and literature at the college level. Includes supervised teaching practicum.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Graduate standing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598: Directed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1–3</a:t>
            </a:r>
            <a:br/>
            <a:r>
              <a:rPr b="1"/>
              <a:t>Description:</a:t>
            </a:r>
            <a:br/>
            <a:r>
              <a:rPr/>
              <a:t>Supervised reading program on a specialized topic not covered in regular courses, developed in consultation with a faculty mentor.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Departmental approval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ENGL 599: Thesis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Credits:</a:t>
            </a:r>
            <a:r>
              <a:rPr/>
              <a:t> 6 (over two semesters)</a:t>
            </a:r>
            <a:br/>
            <a:r>
              <a:rPr b="1"/>
              <a:t>Description:</a:t>
            </a:r>
            <a:br/>
            <a:r>
              <a:rPr/>
              <a:t>M.A. and Ph.D. thesis research and writing under supervision of a departmental advisor. Oral defense required.</a:t>
            </a:r>
          </a:p>
          <a:p>
            <a:pPr lvl="0" indent="0" marL="0">
              <a:buNone/>
            </a:pPr>
            <a:r>
              <a:rPr b="1"/>
              <a:t>Prerequisites:</a:t>
            </a:r>
            <a:r>
              <a:rPr/>
              <a:t> Completion of coursework and proposal approval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Note:</a:t>
            </a:r>
            <a:br/>
            <a:r>
              <a:rPr/>
              <a:t>Some courses may be offered only in alternate years or terms. For scheduling and instructor assignments, consult the departmental website or contact the Office of the Registrar.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2025-07-29T15:06:36Z</dcterms:created>
  <dcterms:modified xsi:type="dcterms:W3CDTF">2025-07-29T15:06:36Z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