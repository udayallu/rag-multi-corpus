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atalog.cendara.edu"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 Academic Programs Summary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Cendara University offers a comprehensive range of academic programs through its constituent schools and departments. Our commitment to fostering innovation, leadership, and critical inquiry is reflected in the diversity and rigor of our degree offerings. Below is a summary of all degrees, schools, departments, and specialized programs currently available at Cendara University.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Schools and Departments</a:t>
            </a:r>
          </a:p>
        </p:txBody>
      </p:sp>
      <p:sp>
        <p:nvSpPr>
          <p:cNvPr id="3" name="Content Placeholder 2"/>
          <p:cNvSpPr>
            <a:spLocks noGrp="1"/>
          </p:cNvSpPr>
          <p:nvPr>
            <p:ph idx="1"/>
          </p:nvPr>
        </p:nvSpPr>
        <p:spPr/>
        <p:txBody>
          <a:bodyPr/>
          <a:lstStyle/>
          <a:p>
            <a:pPr lvl="0" indent="0" marL="0">
              <a:spcBef>
                <a:spcPts val="3000"/>
              </a:spcBef>
              <a:buNone/>
            </a:pPr>
            <a:r>
              <a:rPr b="1"/>
              <a:t>1. School of Arts &amp; Humanities</a:t>
            </a:r>
          </a:p>
          <a:p>
            <a:pPr lvl="0"/>
            <a:r>
              <a:rPr b="1"/>
              <a:t>Department of English and Comparative Literature</a:t>
            </a:r>
          </a:p>
          <a:p>
            <a:pPr lvl="0"/>
            <a:r>
              <a:rPr b="1"/>
              <a:t>Department of History</a:t>
            </a:r>
          </a:p>
          <a:p>
            <a:pPr lvl="0"/>
            <a:r>
              <a:rPr b="1"/>
              <a:t>Department of Philosophy</a:t>
            </a:r>
          </a:p>
          <a:p>
            <a:pPr lvl="0"/>
            <a:r>
              <a:rPr b="1"/>
              <a:t>Department of Modern Languages</a:t>
            </a:r>
          </a:p>
          <a:p>
            <a:pPr lvl="0" indent="0" marL="0">
              <a:spcBef>
                <a:spcPts val="3000"/>
              </a:spcBef>
              <a:buNone/>
            </a:pPr>
            <a:r>
              <a:rPr b="1"/>
              <a:t>2. School of Sciences</a:t>
            </a:r>
          </a:p>
          <a:p>
            <a:pPr lvl="0"/>
            <a:r>
              <a:rPr b="1"/>
              <a:t>Department of Biology</a:t>
            </a:r>
          </a:p>
          <a:p>
            <a:pPr lvl="0"/>
            <a:r>
              <a:rPr b="1"/>
              <a:t>Department of Chemistry</a:t>
            </a:r>
          </a:p>
          <a:p>
            <a:pPr lvl="0"/>
            <a:r>
              <a:rPr b="1"/>
              <a:t>Department of Physics</a:t>
            </a:r>
          </a:p>
          <a:p>
            <a:pPr lvl="0"/>
            <a:r>
              <a:rPr b="1"/>
              <a:t>Department of Mathematics and Statistics</a:t>
            </a:r>
          </a:p>
          <a:p>
            <a:pPr lvl="0" indent="0" marL="0">
              <a:spcBef>
                <a:spcPts val="3000"/>
              </a:spcBef>
              <a:buNone/>
            </a:pPr>
            <a:r>
              <a:rPr b="1"/>
              <a:t>3. School of Engineering &amp; Technology</a:t>
            </a:r>
          </a:p>
          <a:p>
            <a:pPr lvl="0"/>
            <a:r>
              <a:rPr b="1"/>
              <a:t>Department of Computer Science</a:t>
            </a:r>
          </a:p>
          <a:p>
            <a:pPr lvl="0"/>
            <a:r>
              <a:rPr b="1"/>
              <a:t>Department of Mechanical Engineering</a:t>
            </a:r>
          </a:p>
          <a:p>
            <a:pPr lvl="0"/>
            <a:r>
              <a:rPr b="1"/>
              <a:t>Department of Electrical Engineering</a:t>
            </a:r>
          </a:p>
          <a:p>
            <a:pPr lvl="0"/>
            <a:r>
              <a:rPr b="1"/>
              <a:t>Department of Civil and Environmental Engineering</a:t>
            </a:r>
          </a:p>
          <a:p>
            <a:pPr lvl="0" indent="0" marL="0">
              <a:spcBef>
                <a:spcPts val="3000"/>
              </a:spcBef>
              <a:buNone/>
            </a:pPr>
            <a:r>
              <a:rPr b="1"/>
              <a:t>4. School of Social Sciences</a:t>
            </a:r>
          </a:p>
          <a:p>
            <a:pPr lvl="0"/>
            <a:r>
              <a:rPr b="1"/>
              <a:t>Department of Psychology</a:t>
            </a:r>
          </a:p>
          <a:p>
            <a:pPr lvl="0"/>
            <a:r>
              <a:rPr b="1"/>
              <a:t>Department of Political Science</a:t>
            </a:r>
          </a:p>
          <a:p>
            <a:pPr lvl="0"/>
            <a:r>
              <a:rPr b="1"/>
              <a:t>Department of Sociology and Anthropology</a:t>
            </a:r>
          </a:p>
          <a:p>
            <a:pPr lvl="0"/>
            <a:r>
              <a:rPr b="1"/>
              <a:t>Department of Economics</a:t>
            </a:r>
          </a:p>
          <a:p>
            <a:pPr lvl="0" indent="0" marL="0">
              <a:spcBef>
                <a:spcPts val="3000"/>
              </a:spcBef>
              <a:buNone/>
            </a:pPr>
            <a:r>
              <a:rPr b="1"/>
              <a:t>5. School of Business</a:t>
            </a:r>
          </a:p>
          <a:p>
            <a:pPr lvl="0"/>
            <a:r>
              <a:rPr b="1"/>
              <a:t>Department of Management</a:t>
            </a:r>
          </a:p>
          <a:p>
            <a:pPr lvl="0"/>
            <a:r>
              <a:rPr b="1"/>
              <a:t>Department of Finance and Accounting</a:t>
            </a:r>
          </a:p>
          <a:p>
            <a:pPr lvl="0"/>
            <a:r>
              <a:rPr b="1"/>
              <a:t>Department of Marketing</a:t>
            </a:r>
          </a:p>
          <a:p>
            <a:pPr lvl="0"/>
            <a:r>
              <a:rPr b="1"/>
              <a:t>Department of Entrepreneurship</a:t>
            </a:r>
          </a:p>
          <a:p>
            <a:pPr lvl="0" indent="0" marL="0">
              <a:spcBef>
                <a:spcPts val="3000"/>
              </a:spcBef>
              <a:buNone/>
            </a:pPr>
            <a:r>
              <a:rPr b="1"/>
              <a:t>6. School of Education</a:t>
            </a:r>
          </a:p>
          <a:p>
            <a:pPr lvl="0"/>
            <a:r>
              <a:rPr b="1"/>
              <a:t>Department of Curriculum &amp; Instruction</a:t>
            </a:r>
          </a:p>
          <a:p>
            <a:pPr lvl="0"/>
            <a:r>
              <a:rPr b="1"/>
              <a:t>Department of Special Education</a:t>
            </a:r>
          </a:p>
          <a:p>
            <a:pPr lvl="0"/>
            <a:r>
              <a:rPr b="1"/>
              <a:t>Department of Educational Leadership</a:t>
            </a:r>
          </a:p>
          <a:p>
            <a:pPr lvl="0" indent="0" marL="0">
              <a:spcBef>
                <a:spcPts val="3000"/>
              </a:spcBef>
              <a:buNone/>
            </a:pPr>
            <a:r>
              <a:rPr b="1"/>
              <a:t>7. School of Health Sciences</a:t>
            </a:r>
          </a:p>
          <a:p>
            <a:pPr lvl="0"/>
            <a:r>
              <a:rPr b="1"/>
              <a:t>Department of Nursing</a:t>
            </a:r>
          </a:p>
          <a:p>
            <a:pPr lvl="0"/>
            <a:r>
              <a:rPr b="1"/>
              <a:t>Department of Public Health</a:t>
            </a:r>
          </a:p>
          <a:p>
            <a:pPr lvl="0"/>
            <a:r>
              <a:rPr b="1"/>
              <a:t>Department of Nutrition and Dietetics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Degrees Offered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Degree</a:t>
                      </a:r>
                    </a:p>
                  </a:txBody>
                  <a:tcPr/>
                </a:tc>
                <a:tc>
                  <a:txBody>
                    <a:bodyPr/>
                    <a:lstStyle/>
                    <a:p>
                      <a:pPr lvl="0" indent="0" marL="0">
                        <a:buNone/>
                      </a:pPr>
                      <a:r>
                        <a:rPr/>
                        <a:t>Schools/Departments</a:t>
                      </a:r>
                    </a:p>
                  </a:txBody>
                  <a:tcPr/>
                </a:tc>
              </a:tr>
              <a:tr h="0">
                <a:tc>
                  <a:txBody>
                    <a:bodyPr/>
                    <a:lstStyle/>
                    <a:p>
                      <a:pPr lvl="0" indent="0" marL="0">
                        <a:buNone/>
                      </a:pPr>
                      <a:r>
                        <a:rPr/>
                        <a:t>Bachelor of Arts (B.A.)</a:t>
                      </a:r>
                    </a:p>
                  </a:txBody>
                </a:tc>
                <a:tc>
                  <a:txBody>
                    <a:bodyPr/>
                    <a:lstStyle/>
                    <a:p>
                      <a:pPr lvl="0" indent="0" marL="0">
                        <a:buNone/>
                      </a:pPr>
                      <a:r>
                        <a:rPr/>
                        <a:t>English, History, Philosophy, Modern Languages, Psychology, Political Science, Sociology</a:t>
                      </a:r>
                    </a:p>
                  </a:txBody>
                </a:tc>
              </a:tr>
              <a:tr h="0">
                <a:tc>
                  <a:txBody>
                    <a:bodyPr/>
                    <a:lstStyle/>
                    <a:p>
                      <a:pPr lvl="0" indent="0" marL="0">
                        <a:buNone/>
                      </a:pPr>
                      <a:r>
                        <a:rPr/>
                        <a:t>Bachelor of Science (B.Sc.)</a:t>
                      </a:r>
                    </a:p>
                  </a:txBody>
                </a:tc>
                <a:tc>
                  <a:txBody>
                    <a:bodyPr/>
                    <a:lstStyle/>
                    <a:p>
                      <a:pPr lvl="0" indent="0" marL="0">
                        <a:buNone/>
                      </a:pPr>
                      <a:r>
                        <a:rPr/>
                        <a:t>Biology, Chemistry, Physics, Mathematics, Computer Science, Economics, Environmental Engineering</a:t>
                      </a:r>
                    </a:p>
                  </a:txBody>
                </a:tc>
              </a:tr>
              <a:tr h="0">
                <a:tc>
                  <a:txBody>
                    <a:bodyPr/>
                    <a:lstStyle/>
                    <a:p>
                      <a:pPr lvl="0" indent="0" marL="0">
                        <a:buNone/>
                      </a:pPr>
                      <a:r>
                        <a:rPr/>
                        <a:t>Bachelor of Engineering (B.Eng.)</a:t>
                      </a:r>
                    </a:p>
                  </a:txBody>
                </a:tc>
                <a:tc>
                  <a:txBody>
                    <a:bodyPr/>
                    <a:lstStyle/>
                    <a:p>
                      <a:pPr lvl="0" indent="0" marL="0">
                        <a:buNone/>
                      </a:pPr>
                      <a:r>
                        <a:rPr/>
                        <a:t>Mechanical, Electrical, Civil and Environmental Engineering</a:t>
                      </a:r>
                    </a:p>
                  </a:txBody>
                </a:tc>
              </a:tr>
              <a:tr h="0">
                <a:tc>
                  <a:txBody>
                    <a:bodyPr/>
                    <a:lstStyle/>
                    <a:p>
                      <a:pPr lvl="0" indent="0" marL="0">
                        <a:buNone/>
                      </a:pPr>
                      <a:r>
                        <a:rPr/>
                        <a:t>Bachelor of Business Administration (B.B.A.)</a:t>
                      </a:r>
                    </a:p>
                  </a:txBody>
                </a:tc>
                <a:tc>
                  <a:txBody>
                    <a:bodyPr/>
                    <a:lstStyle/>
                    <a:p>
                      <a:pPr lvl="0" indent="0" marL="0">
                        <a:buNone/>
                      </a:pPr>
                      <a:r>
                        <a:rPr/>
                        <a:t>Management, Finance, Marketing, Entrepreneurship</a:t>
                      </a:r>
                    </a:p>
                  </a:txBody>
                </a:tc>
              </a:tr>
              <a:tr h="0">
                <a:tc>
                  <a:txBody>
                    <a:bodyPr/>
                    <a:lstStyle/>
                    <a:p>
                      <a:pPr lvl="0" indent="0" marL="0">
                        <a:buNone/>
                      </a:pPr>
                      <a:r>
                        <a:rPr/>
                        <a:t>Bachelor of Education (B.Ed.)</a:t>
                      </a:r>
                    </a:p>
                  </a:txBody>
                </a:tc>
                <a:tc>
                  <a:txBody>
                    <a:bodyPr/>
                    <a:lstStyle/>
                    <a:p>
                      <a:pPr lvl="0" indent="0" marL="0">
                        <a:buNone/>
                      </a:pPr>
                      <a:r>
                        <a:rPr/>
                        <a:t>Curriculum &amp; Instruction, Special Education</a:t>
                      </a:r>
                    </a:p>
                  </a:txBody>
                </a:tc>
              </a:tr>
              <a:tr h="0">
                <a:tc>
                  <a:txBody>
                    <a:bodyPr/>
                    <a:lstStyle/>
                    <a:p>
                      <a:pPr lvl="0" indent="0" marL="0">
                        <a:buNone/>
                      </a:pPr>
                      <a:r>
                        <a:rPr/>
                        <a:t>Bachelor of Nursing Science (B.N.S.)</a:t>
                      </a:r>
                    </a:p>
                  </a:txBody>
                </a:tc>
                <a:tc>
                  <a:txBody>
                    <a:bodyPr/>
                    <a:lstStyle/>
                    <a:p>
                      <a:pPr lvl="0" indent="0" marL="0">
                        <a:buNone/>
                      </a:pPr>
                      <a:r>
                        <a:rPr/>
                        <a:t>Nursing</a:t>
                      </a:r>
                    </a:p>
                  </a:txBody>
                </a:tc>
              </a:tr>
              <a:tr h="0">
                <a:tc>
                  <a:txBody>
                    <a:bodyPr/>
                    <a:lstStyle/>
                    <a:p>
                      <a:pPr lvl="0" indent="0" marL="0">
                        <a:buNone/>
                      </a:pPr>
                      <a:r>
                        <a:rPr/>
                        <a:t>Master of Arts (M.A.)</a:t>
                      </a:r>
                    </a:p>
                  </a:txBody>
                </a:tc>
                <a:tc>
                  <a:txBody>
                    <a:bodyPr/>
                    <a:lstStyle/>
                    <a:p>
                      <a:pPr lvl="0" indent="0" marL="0">
                        <a:buNone/>
                      </a:pPr>
                      <a:r>
                        <a:rPr/>
                        <a:t>English, History, Modern Languages, Philosophy</a:t>
                      </a:r>
                    </a:p>
                  </a:txBody>
                </a:tc>
              </a:tr>
              <a:tr h="0">
                <a:tc>
                  <a:txBody>
                    <a:bodyPr/>
                    <a:lstStyle/>
                    <a:p>
                      <a:pPr lvl="0" indent="0" marL="0">
                        <a:buNone/>
                      </a:pPr>
                      <a:r>
                        <a:rPr/>
                        <a:t>Master of Science (M.Sc.)</a:t>
                      </a:r>
                    </a:p>
                  </a:txBody>
                </a:tc>
                <a:tc>
                  <a:txBody>
                    <a:bodyPr/>
                    <a:lstStyle/>
                    <a:p>
                      <a:pPr lvl="0" indent="0" marL="0">
                        <a:buNone/>
                      </a:pPr>
                      <a:r>
                        <a:rPr/>
                        <a:t>Biology, Chemistry, Physics, Mathematics, Computer Science, Public Health, Nutrition</a:t>
                      </a:r>
                    </a:p>
                  </a:txBody>
                </a:tc>
              </a:tr>
              <a:tr h="0">
                <a:tc>
                  <a:txBody>
                    <a:bodyPr/>
                    <a:lstStyle/>
                    <a:p>
                      <a:pPr lvl="0" indent="0" marL="0">
                        <a:buNone/>
                      </a:pPr>
                      <a:r>
                        <a:rPr/>
                        <a:t>Master of Engineering (M.Eng.)</a:t>
                      </a:r>
                    </a:p>
                  </a:txBody>
                </a:tc>
                <a:tc>
                  <a:txBody>
                    <a:bodyPr/>
                    <a:lstStyle/>
                    <a:p>
                      <a:pPr lvl="0" indent="0" marL="0">
                        <a:buNone/>
                      </a:pPr>
                      <a:r>
                        <a:rPr/>
                        <a:t>Mechanical, Electrical, Civil and Environmental Engineering</a:t>
                      </a:r>
                    </a:p>
                  </a:txBody>
                </a:tc>
              </a:tr>
              <a:tr h="0">
                <a:tc>
                  <a:txBody>
                    <a:bodyPr/>
                    <a:lstStyle/>
                    <a:p>
                      <a:pPr lvl="0" indent="0" marL="0">
                        <a:buNone/>
                      </a:pPr>
                      <a:r>
                        <a:rPr/>
                        <a:t>Master of Business Administration (M.B.A.)</a:t>
                      </a:r>
                    </a:p>
                  </a:txBody>
                </a:tc>
                <a:tc>
                  <a:txBody>
                    <a:bodyPr/>
                    <a:lstStyle/>
                    <a:p>
                      <a:pPr lvl="0" indent="0" marL="0">
                        <a:buNone/>
                      </a:pPr>
                      <a:r>
                        <a:rPr/>
                        <a:t>Management, Finance, Marketing</a:t>
                      </a:r>
                    </a:p>
                  </a:txBody>
                </a:tc>
              </a:tr>
              <a:tr h="0">
                <a:tc>
                  <a:txBody>
                    <a:bodyPr/>
                    <a:lstStyle/>
                    <a:p>
                      <a:pPr lvl="0" indent="0" marL="0">
                        <a:buNone/>
                      </a:pPr>
                      <a:r>
                        <a:rPr/>
                        <a:t>Doctor of Philosophy (Ph.D.)</a:t>
                      </a:r>
                    </a:p>
                  </a:txBody>
                </a:tc>
                <a:tc>
                  <a:txBody>
                    <a:bodyPr/>
                    <a:lstStyle/>
                    <a:p>
                      <a:pPr lvl="0" indent="0" marL="0">
                        <a:buNone/>
                      </a:pPr>
                      <a:r>
                        <a:rPr/>
                        <a:t>English, History, Biology, Physics, Computer Science, Psychology, Education, Business</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Specialized Programs</a:t>
            </a:r>
          </a:p>
        </p:txBody>
      </p:sp>
      <p:sp>
        <p:nvSpPr>
          <p:cNvPr id="3" name="Content Placeholder 2"/>
          <p:cNvSpPr>
            <a:spLocks noGrp="1"/>
          </p:cNvSpPr>
          <p:nvPr>
            <p:ph idx="1"/>
          </p:nvPr>
        </p:nvSpPr>
        <p:spPr/>
        <p:txBody>
          <a:bodyPr/>
          <a:lstStyle/>
          <a:p>
            <a:pPr lvl="0"/>
            <a:r>
              <a:rPr b="1"/>
              <a:t>Honors College</a:t>
            </a:r>
            <a:r>
              <a:rPr/>
              <a:t>: Interdisciplinary honors curriculum for high-achieving undergraduates across all schools.</a:t>
            </a:r>
          </a:p>
          <a:p>
            <a:pPr lvl="0"/>
            <a:r>
              <a:rPr b="1"/>
              <a:t>Sustainable Technology Initiative</a:t>
            </a:r>
            <a:r>
              <a:rPr/>
              <a:t>: Focused track within Engineering on renewable energy and sustainable infrastructure.</a:t>
            </a:r>
          </a:p>
          <a:p>
            <a:pPr lvl="0"/>
            <a:r>
              <a:rPr b="1"/>
              <a:t>International Business Concentration</a:t>
            </a:r>
            <a:r>
              <a:rPr/>
              <a:t>: Specialized track within B.B.A. and M.B.A. integrating global business studies.</a:t>
            </a:r>
          </a:p>
          <a:p>
            <a:pPr lvl="0"/>
            <a:r>
              <a:rPr b="1"/>
              <a:t>Undergraduate Research Scholars Program</a:t>
            </a:r>
            <a:r>
              <a:rPr/>
              <a:t>: Mentoring and research funding for undergraduates in STEM fields.</a:t>
            </a:r>
          </a:p>
          <a:p>
            <a:pPr lvl="0"/>
            <a:r>
              <a:rPr b="1"/>
              <a:t>Global Education Exchange</a:t>
            </a:r>
            <a:r>
              <a:rPr/>
              <a:t>: Semester-abroad and dual-degree programs with partner institutions in Europe and Asia.</a:t>
            </a:r>
          </a:p>
          <a:p>
            <a:pPr lvl="0"/>
            <a:r>
              <a:rPr b="1"/>
              <a:t>Teacher Residency Program</a:t>
            </a:r>
            <a:r>
              <a:rPr/>
              <a:t>: A year-long mentored teaching placement for M.Ed. students in area schools.</a:t>
            </a:r>
          </a:p>
          <a:p>
            <a:pPr lvl="0"/>
            <a:r>
              <a:rPr b="1"/>
              <a:t>Health Informatics Certification</a:t>
            </a:r>
            <a:r>
              <a:rPr/>
              <a:t>: Post-baccalaureate certificate offered through Health Sciences.</a:t>
            </a:r>
          </a:p>
          <a:p>
            <a:pPr lvl="0"/>
            <a:r>
              <a:rPr b="1"/>
              <a:t>Environmental Policy Minor</a:t>
            </a:r>
            <a:r>
              <a:rPr/>
              <a:t>: Interdisciplinary minor drawing on Environmental Engineering, Political Science, and Economics.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 Program Catalog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School of Arts &amp; Humanities</a:t>
            </a:r>
          </a:p>
        </p:txBody>
      </p:sp>
      <p:sp>
        <p:nvSpPr>
          <p:cNvPr id="3" name="Content Placeholder 2"/>
          <p:cNvSpPr>
            <a:spLocks noGrp="1"/>
          </p:cNvSpPr>
          <p:nvPr>
            <p:ph idx="1"/>
          </p:nvPr>
        </p:nvSpPr>
        <p:spPr/>
        <p:txBody>
          <a:bodyPr/>
          <a:lstStyle/>
          <a:p>
            <a:pPr lvl="0" indent="0" marL="0">
              <a:spcBef>
                <a:spcPts val="3000"/>
              </a:spcBef>
              <a:buNone/>
            </a:pPr>
            <a:r>
              <a:rPr b="1"/>
              <a:t>Department of English and Comparative Literature</a:t>
            </a:r>
          </a:p>
          <a:p>
            <a:pPr lvl="0" indent="0" marL="0">
              <a:buNone/>
            </a:pPr>
            <a:r>
              <a:rPr b="1"/>
              <a:t>B.A. in English</a:t>
            </a:r>
            <a:br/>
            <a:r>
              <a:rPr/>
              <a:t>A diverse curriculum covering literature, writing, linguistics, and media studies.</a:t>
            </a:r>
          </a:p>
          <a:p>
            <a:pPr lvl="0" indent="0" marL="0">
              <a:buNone/>
            </a:pPr>
            <a:r>
              <a:rPr b="1"/>
              <a:t>M.A./Ph.D. in English</a:t>
            </a:r>
            <a:br/>
            <a:r>
              <a:rPr/>
              <a:t>Advanced literary analysis, critical theory, and research methods.</a:t>
            </a:r>
          </a:p>
          <a:p>
            <a:pPr lvl="0" indent="0" marL="0">
              <a:spcBef>
                <a:spcPts val="3000"/>
              </a:spcBef>
              <a:buNone/>
            </a:pPr>
            <a:r>
              <a:rPr b="1"/>
              <a:t>Department of History</a:t>
            </a:r>
          </a:p>
          <a:p>
            <a:pPr lvl="0" indent="0" marL="0">
              <a:buNone/>
            </a:pPr>
            <a:r>
              <a:rPr b="1"/>
              <a:t>B.A. in History</a:t>
            </a:r>
            <a:br/>
            <a:r>
              <a:rPr/>
              <a:t>Courses in world history, American history, historical methods, and public history.</a:t>
            </a:r>
          </a:p>
          <a:p>
            <a:pPr lvl="0" indent="0" marL="0">
              <a:buNone/>
            </a:pPr>
            <a:r>
              <a:rPr b="1"/>
              <a:t>M.A./Ph.D. in History</a:t>
            </a:r>
            <a:br/>
            <a:r>
              <a:rPr/>
              <a:t>Emphasis on original research, historiography, and archival studies.</a:t>
            </a:r>
          </a:p>
          <a:p>
            <a:pPr lvl="0" indent="0" marL="0">
              <a:spcBef>
                <a:spcPts val="3000"/>
              </a:spcBef>
              <a:buNone/>
            </a:pPr>
            <a:r>
              <a:rPr b="1"/>
              <a:t>Department of Philosophy</a:t>
            </a:r>
          </a:p>
          <a:p>
            <a:pPr lvl="0" indent="0" marL="0">
              <a:buNone/>
            </a:pPr>
            <a:r>
              <a:rPr b="1"/>
              <a:t>B.A./M.A. in Philosophy</a:t>
            </a:r>
            <a:br/>
            <a:r>
              <a:rPr/>
              <a:t>Training in logic, ethics, epistemology, and the history of philosophy.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School of Sciences</a:t>
            </a:r>
          </a:p>
        </p:txBody>
      </p:sp>
      <p:sp>
        <p:nvSpPr>
          <p:cNvPr id="3" name="Content Placeholder 2"/>
          <p:cNvSpPr>
            <a:spLocks noGrp="1"/>
          </p:cNvSpPr>
          <p:nvPr>
            <p:ph idx="1"/>
          </p:nvPr>
        </p:nvSpPr>
        <p:spPr/>
        <p:txBody>
          <a:bodyPr/>
          <a:lstStyle/>
          <a:p>
            <a:pPr lvl="0" indent="0" marL="0">
              <a:spcBef>
                <a:spcPts val="3000"/>
              </a:spcBef>
              <a:buNone/>
            </a:pPr>
            <a:r>
              <a:rPr b="1"/>
              <a:t>Department of Biology</a:t>
            </a:r>
          </a:p>
          <a:p>
            <a:pPr lvl="0" indent="0" marL="0">
              <a:buNone/>
            </a:pPr>
            <a:r>
              <a:rPr b="1"/>
              <a:t>B.Sc. in Biology</a:t>
            </a:r>
            <a:br/>
            <a:r>
              <a:rPr/>
              <a:t>Concentrations: Molecular Biology, Ecology, Marine Biology</a:t>
            </a:r>
          </a:p>
          <a:p>
            <a:pPr lvl="0" indent="0" marL="0">
              <a:buNone/>
            </a:pPr>
            <a:r>
              <a:rPr b="1"/>
              <a:t>M.Sc./Ph.D. in Biology</a:t>
            </a:r>
            <a:br/>
            <a:r>
              <a:rPr/>
              <a:t>Specializations in Genetics, Conservation Biology, and Cell Biology</a:t>
            </a:r>
          </a:p>
          <a:p>
            <a:pPr lvl="0" indent="0" marL="0">
              <a:spcBef>
                <a:spcPts val="3000"/>
              </a:spcBef>
              <a:buNone/>
            </a:pPr>
            <a:r>
              <a:rPr b="1"/>
              <a:t>Department of Chemistry</a:t>
            </a:r>
          </a:p>
          <a:p>
            <a:pPr lvl="0" indent="0" marL="0">
              <a:buNone/>
            </a:pPr>
            <a:r>
              <a:rPr b="1"/>
              <a:t>B.Sc. in Chemistry</a:t>
            </a:r>
            <a:br/>
            <a:r>
              <a:rPr/>
              <a:t>Core curriculum: Organic, Inorganic, Analytical, Physical Chemistry</a:t>
            </a:r>
          </a:p>
          <a:p>
            <a:pPr lvl="0" indent="0" marL="0">
              <a:buNone/>
            </a:pPr>
            <a:r>
              <a:rPr b="1"/>
              <a:t>M.Sc. in Chemistry</a:t>
            </a:r>
            <a:br/>
            <a:r>
              <a:rPr/>
              <a:t>Research-based thesis program in advanced chemistry topics</a:t>
            </a:r>
          </a:p>
          <a:p>
            <a:pPr lvl="0" indent="0" marL="0">
              <a:spcBef>
                <a:spcPts val="3000"/>
              </a:spcBef>
              <a:buNone/>
            </a:pPr>
            <a:r>
              <a:rPr b="1"/>
              <a:t>Department of Mathematics and Statistics</a:t>
            </a:r>
          </a:p>
          <a:p>
            <a:pPr lvl="0" indent="0" marL="0">
              <a:buNone/>
            </a:pPr>
            <a:r>
              <a:rPr b="1"/>
              <a:t>B.Sc. in Mathematics</a:t>
            </a:r>
            <a:br/>
            <a:r>
              <a:rPr/>
              <a:t>Pathways: Pure Mathematics, Applied Mathematics, Data Science</a:t>
            </a:r>
          </a:p>
          <a:p>
            <a:pPr lvl="0" indent="0" marL="0">
              <a:buNone/>
            </a:pPr>
            <a:r>
              <a:rPr b="1"/>
              <a:t>M.Sc. in Mathematics</a:t>
            </a:r>
            <a:br/>
            <a:r>
              <a:rPr/>
              <a:t>Research in algebra, combinatorics, and mathematical modeling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School of Engineering &amp; Technology</a:t>
            </a:r>
          </a:p>
        </p:txBody>
      </p:sp>
      <p:sp>
        <p:nvSpPr>
          <p:cNvPr id="3" name="Content Placeholder 2"/>
          <p:cNvSpPr>
            <a:spLocks noGrp="1"/>
          </p:cNvSpPr>
          <p:nvPr>
            <p:ph idx="1"/>
          </p:nvPr>
        </p:nvSpPr>
        <p:spPr/>
        <p:txBody>
          <a:bodyPr/>
          <a:lstStyle/>
          <a:p>
            <a:pPr lvl="0" indent="0" marL="0">
              <a:spcBef>
                <a:spcPts val="3000"/>
              </a:spcBef>
              <a:buNone/>
            </a:pPr>
            <a:r>
              <a:rPr b="1"/>
              <a:t>Department of Computer Science</a:t>
            </a:r>
          </a:p>
          <a:p>
            <a:pPr lvl="0" indent="0" marL="0">
              <a:buNone/>
            </a:pPr>
            <a:r>
              <a:rPr b="1"/>
              <a:t>B.Sc. in Computer Science</a:t>
            </a:r>
            <a:br/>
            <a:r>
              <a:rPr/>
              <a:t>Tracks: Software Engineering, Artificial Intelligence, Cybersecurity</a:t>
            </a:r>
          </a:p>
          <a:p>
            <a:pPr lvl="0" indent="0" marL="0">
              <a:buNone/>
            </a:pPr>
            <a:r>
              <a:rPr b="1"/>
              <a:t>M.Sc./Ph.D. in Computer Science</a:t>
            </a:r>
            <a:br/>
            <a:r>
              <a:rPr/>
              <a:t>Focus on research, advanced algorithms, machine learning</a:t>
            </a:r>
          </a:p>
          <a:p>
            <a:pPr lvl="0" indent="0" marL="0">
              <a:spcBef>
                <a:spcPts val="3000"/>
              </a:spcBef>
              <a:buNone/>
            </a:pPr>
            <a:r>
              <a:rPr b="1"/>
              <a:t>Department of Mechanical Engineering</a:t>
            </a:r>
          </a:p>
          <a:p>
            <a:pPr lvl="0" indent="0" marL="0">
              <a:buNone/>
            </a:pPr>
            <a:r>
              <a:rPr b="1"/>
              <a:t>B.Eng./M.Eng. in Mechanical Engineering</a:t>
            </a:r>
            <a:br/>
            <a:r>
              <a:rPr/>
              <a:t>Core subjects: Thermodynamics, Mechanics, CAD/CAM, Mechatronics</a:t>
            </a:r>
          </a:p>
          <a:p>
            <a:pPr lvl="0" indent="0" marL="0">
              <a:spcBef>
                <a:spcPts val="3000"/>
              </a:spcBef>
              <a:buNone/>
            </a:pPr>
            <a:r>
              <a:rPr b="1"/>
              <a:t>Department of Electrical Engineering</a:t>
            </a:r>
          </a:p>
          <a:p>
            <a:pPr lvl="0" indent="0" marL="0">
              <a:buNone/>
            </a:pPr>
            <a:r>
              <a:rPr b="1"/>
              <a:t>B.Eng./M.Eng. in Electrical Engineering</a:t>
            </a:r>
            <a:br/>
            <a:r>
              <a:rPr/>
              <a:t>Courses in circuit analysis, signal processing, embedded systems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School of Social Sciences</a:t>
            </a:r>
          </a:p>
        </p:txBody>
      </p:sp>
      <p:sp>
        <p:nvSpPr>
          <p:cNvPr id="3" name="Content Placeholder 2"/>
          <p:cNvSpPr>
            <a:spLocks noGrp="1"/>
          </p:cNvSpPr>
          <p:nvPr>
            <p:ph idx="1"/>
          </p:nvPr>
        </p:nvSpPr>
        <p:spPr/>
        <p:txBody>
          <a:bodyPr/>
          <a:lstStyle/>
          <a:p>
            <a:pPr lvl="0" indent="0" marL="0">
              <a:spcBef>
                <a:spcPts val="3000"/>
              </a:spcBef>
              <a:buNone/>
            </a:pPr>
            <a:r>
              <a:rPr b="1"/>
              <a:t>Department of Psychology</a:t>
            </a:r>
          </a:p>
          <a:p>
            <a:pPr lvl="0" indent="0" marL="0">
              <a:buNone/>
            </a:pPr>
            <a:r>
              <a:rPr b="1"/>
              <a:t>B.A./M.Sc./Ph.D. in Psychology</a:t>
            </a:r>
            <a:br/>
            <a:r>
              <a:rPr/>
              <a:t>Areas of study: Clinical, Developmental, Cognitive, Social Psychology</a:t>
            </a:r>
          </a:p>
          <a:p>
            <a:pPr lvl="0" indent="0" marL="0">
              <a:spcBef>
                <a:spcPts val="3000"/>
              </a:spcBef>
              <a:buNone/>
            </a:pPr>
            <a:r>
              <a:rPr b="1"/>
              <a:t>Department of Economics</a:t>
            </a:r>
          </a:p>
          <a:p>
            <a:pPr lvl="0" indent="0" marL="0">
              <a:buNone/>
            </a:pPr>
            <a:r>
              <a:rPr b="1"/>
              <a:t>B.Sc. in Economics</a:t>
            </a:r>
            <a:br/>
            <a:r>
              <a:rPr/>
              <a:t>Specializations: Macroeconomics, Econometrics, International Economics</a:t>
            </a:r>
          </a:p>
          <a:p>
            <a:pPr lvl="0" indent="0" marL="0">
              <a:buNone/>
            </a:pPr>
            <a:r>
              <a:rPr b="1"/>
              <a:t>M.Sc. in Economics</a:t>
            </a:r>
            <a:br/>
            <a:r>
              <a:rPr/>
              <a:t>Advanced microeconomic and macroeconomic theory, applied research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School of Business</a:t>
            </a:r>
          </a:p>
        </p:txBody>
      </p:sp>
      <p:sp>
        <p:nvSpPr>
          <p:cNvPr id="3" name="Content Placeholder 2"/>
          <p:cNvSpPr>
            <a:spLocks noGrp="1"/>
          </p:cNvSpPr>
          <p:nvPr>
            <p:ph idx="1"/>
          </p:nvPr>
        </p:nvSpPr>
        <p:spPr/>
        <p:txBody>
          <a:bodyPr/>
          <a:lstStyle/>
          <a:p>
            <a:pPr lvl="0" indent="0" marL="0">
              <a:spcBef>
                <a:spcPts val="3000"/>
              </a:spcBef>
              <a:buNone/>
            </a:pPr>
            <a:r>
              <a:rPr b="1"/>
              <a:t>Department of Management</a:t>
            </a:r>
          </a:p>
          <a:p>
            <a:pPr lvl="0" indent="0" marL="0">
              <a:buNone/>
            </a:pPr>
            <a:r>
              <a:rPr b="1"/>
              <a:t>B.B.A./M.B.A. in Management</a:t>
            </a:r>
            <a:br/>
            <a:r>
              <a:rPr/>
              <a:t>Entrepreneurship, human resources, operations, and strategic management</a:t>
            </a:r>
          </a:p>
          <a:p>
            <a:pPr lvl="0" indent="0" marL="0">
              <a:spcBef>
                <a:spcPts val="3000"/>
              </a:spcBef>
              <a:buNone/>
            </a:pPr>
            <a:r>
              <a:rPr b="1"/>
              <a:t>Department of Finance and Accounting</a:t>
            </a:r>
          </a:p>
          <a:p>
            <a:pPr lvl="0" indent="0" marL="0">
              <a:buNone/>
            </a:pPr>
            <a:r>
              <a:rPr b="1"/>
              <a:t>B.B.A. in Finance</a:t>
            </a:r>
            <a:br/>
            <a:r>
              <a:rPr/>
              <a:t>Investment analysis, corporate finance, financial markets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School of Education</a:t>
            </a:r>
          </a:p>
        </p:txBody>
      </p:sp>
      <p:sp>
        <p:nvSpPr>
          <p:cNvPr id="3" name="Content Placeholder 2"/>
          <p:cNvSpPr>
            <a:spLocks noGrp="1"/>
          </p:cNvSpPr>
          <p:nvPr>
            <p:ph idx="1"/>
          </p:nvPr>
        </p:nvSpPr>
        <p:spPr/>
        <p:txBody>
          <a:bodyPr/>
          <a:lstStyle/>
          <a:p>
            <a:pPr lvl="0" indent="0" marL="0">
              <a:spcBef>
                <a:spcPts val="3000"/>
              </a:spcBef>
              <a:buNone/>
            </a:pPr>
            <a:r>
              <a:rPr b="1"/>
              <a:t>Department of Curriculum &amp; Instruction</a:t>
            </a:r>
          </a:p>
          <a:p>
            <a:pPr lvl="0" indent="0" marL="0">
              <a:buNone/>
            </a:pPr>
            <a:r>
              <a:rPr b="1"/>
              <a:t>B.Ed. in Elementary Education</a:t>
            </a:r>
            <a:br/>
            <a:r>
              <a:rPr/>
              <a:t>Foundational studies in curriculum development and pedagogy</a:t>
            </a:r>
          </a:p>
          <a:p>
            <a:pPr lvl="0" indent="0" marL="0">
              <a:buNone/>
            </a:pPr>
            <a:r>
              <a:rPr b="1"/>
              <a:t>M.Ed. in Curriculum &amp; Instruction</a:t>
            </a:r>
            <a:br/>
            <a:r>
              <a:rPr/>
              <a:t>Advanced curriculum design, instructional theory, classroom technologies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School of Health Sciences</a:t>
            </a:r>
          </a:p>
        </p:txBody>
      </p:sp>
      <p:sp>
        <p:nvSpPr>
          <p:cNvPr id="3" name="Content Placeholder 2"/>
          <p:cNvSpPr>
            <a:spLocks noGrp="1"/>
          </p:cNvSpPr>
          <p:nvPr>
            <p:ph idx="1"/>
          </p:nvPr>
        </p:nvSpPr>
        <p:spPr/>
        <p:txBody>
          <a:bodyPr/>
          <a:lstStyle/>
          <a:p>
            <a:pPr lvl="0" indent="0" marL="0">
              <a:spcBef>
                <a:spcPts val="3000"/>
              </a:spcBef>
              <a:buNone/>
            </a:pPr>
            <a:r>
              <a:rPr b="1"/>
              <a:t>Department of Nursing</a:t>
            </a:r>
          </a:p>
          <a:p>
            <a:pPr lvl="0" indent="0" marL="0">
              <a:buNone/>
            </a:pPr>
            <a:r>
              <a:rPr b="1"/>
              <a:t>B.N.S. in Nursing</a:t>
            </a:r>
            <a:br/>
            <a:r>
              <a:rPr/>
              <a:t>Prepares for registered nurse licensure, clinical placements in partner hospitals</a:t>
            </a:r>
          </a:p>
          <a:p>
            <a:pPr lvl="0" indent="0" marL="0">
              <a:spcBef>
                <a:spcPts val="3000"/>
              </a:spcBef>
              <a:buNone/>
            </a:pPr>
            <a:r>
              <a:rPr b="1"/>
              <a:t>Department of Public Health</a:t>
            </a:r>
          </a:p>
          <a:p>
            <a:pPr lvl="0" indent="0" marL="0">
              <a:buNone/>
            </a:pPr>
            <a:r>
              <a:rPr b="1"/>
              <a:t>B.Sc. in Public Health</a:t>
            </a:r>
            <a:br/>
            <a:r>
              <a:rPr/>
              <a:t>Concentrations: Epidemiology, Health Policy, Community Health</a:t>
            </a:r>
          </a:p>
          <a:p>
            <a:pPr lvl="0" indent="0" marL="0">
              <a:buNone/>
            </a:pPr>
            <a:r>
              <a:rPr b="1"/>
              <a:t>M.Sc. in Public Health</a:t>
            </a:r>
            <a:br/>
            <a:r>
              <a:rPr/>
              <a:t>Research in population health, environmental health, health informatics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Academic Opportunities</a:t>
            </a:r>
          </a:p>
        </p:txBody>
      </p:sp>
      <p:sp>
        <p:nvSpPr>
          <p:cNvPr id="3" name="Content Placeholder 2"/>
          <p:cNvSpPr>
            <a:spLocks noGrp="1"/>
          </p:cNvSpPr>
          <p:nvPr>
            <p:ph idx="1"/>
          </p:nvPr>
        </p:nvSpPr>
        <p:spPr/>
        <p:txBody>
          <a:bodyPr/>
          <a:lstStyle/>
          <a:p>
            <a:pPr lvl="0"/>
            <a:r>
              <a:rPr b="1"/>
              <a:t>Undergraduate Minors</a:t>
            </a:r>
            <a:r>
              <a:rPr/>
              <a:t>: Art History, Creative Writing, Environmental Policy, Global Studies, Data Science</a:t>
            </a:r>
            <a:br/>
          </a:p>
          <a:p>
            <a:pPr lvl="0"/>
            <a:r>
              <a:rPr b="1"/>
              <a:t>Double Majors/Dual Degrees</a:t>
            </a:r>
            <a:r>
              <a:rPr/>
              <a:t>: Available in select programs with academic advising</a:t>
            </a:r>
            <a:br/>
          </a:p>
          <a:p>
            <a:pPr lvl="0"/>
            <a:r>
              <a:rPr b="1"/>
              <a:t>Evening &amp; Online Programs</a:t>
            </a:r>
            <a:r>
              <a:rPr/>
              <a:t>: Business, Computer Science, and Education courses available online and evenings for working professionals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full program details, course descriptions, admissions prerequisites, and application deadlines, please refer to the </a:t>
            </a:r>
            <a:r>
              <a:rPr>
                <a:hlinkClick r:id="rId2"/>
              </a:rPr>
              <a:t>Cendara University Academic Catalog</a:t>
            </a:r>
            <a:r>
              <a:rPr/>
              <a:t> or contact the Office of Admissions at admissions@cendara.edu.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2025-07-29T15:06:31Z</dcterms:created>
  <dcterms:modified xsi:type="dcterms:W3CDTF">2025-07-29T15:06:31Z</dcterms:modified>
</cp:coreProperties>
</file>

<file path=docProps/custom.xml><?xml version="1.0" encoding="utf-8"?>
<Properties xmlns="http://schemas.openxmlformats.org/officeDocument/2006/custom-properties" xmlns:vt="http://schemas.openxmlformats.org/officeDocument/2006/docPropsVTypes"/>
</file>