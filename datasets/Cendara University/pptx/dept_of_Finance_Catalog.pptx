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3" Type="http://schemas.openxmlformats.org/officeDocument/2006/relationships/viewProps" Target="viewProps.xml" /><Relationship Id="rId22" Type="http://schemas.openxmlformats.org/officeDocument/2006/relationships/presProps" Target="presProps.xml" /><Relationship Id="rId1" Type="http://schemas.openxmlformats.org/officeDocument/2006/relationships/slideMaster" Target="slideMasters/slideMaster1.xml" /><Relationship Id="rId25" Type="http://schemas.openxmlformats.org/officeDocument/2006/relationships/tableStyles" Target="tableStyles.xml" /><Relationship Id="rId24"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Cendara University Course Catalog</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Department of Finance and Accounting</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B.B.A. in Finance</a:t>
            </a:r>
          </a:p>
        </p:txBody>
      </p:sp>
      <p:sp>
        <p:nvSpPr>
          <p:cNvPr id="3" name="Content Placeholder 2"/>
          <p:cNvSpPr>
            <a:spLocks noGrp="1"/>
          </p:cNvSpPr>
          <p:nvPr>
            <p:ph idx="1"/>
          </p:nvPr>
        </p:nvSpPr>
        <p:spPr/>
        <p:txBody>
          <a:bodyPr/>
          <a:lstStyle/>
          <a:p>
            <a:pPr lvl="0" indent="0" marL="0">
              <a:buNone/>
            </a:pPr>
            <a:r>
              <a:rPr/>
              <a:t>Below is a comprehensive listing of all courses offered for the Bachelor of Business Administration in Finance at Cendara University. Each course entry includes the course code, title, description, prerequisites, and credit hours.</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FINA 101: Introduction to Financial Systems</a:t>
            </a:r>
          </a:p>
        </p:txBody>
      </p:sp>
      <p:sp>
        <p:nvSpPr>
          <p:cNvPr id="3" name="Content Placeholder 2"/>
          <p:cNvSpPr>
            <a:spLocks noGrp="1"/>
          </p:cNvSpPr>
          <p:nvPr>
            <p:ph idx="1"/>
          </p:nvPr>
        </p:nvSpPr>
        <p:spPr/>
        <p:txBody>
          <a:bodyPr/>
          <a:lstStyle/>
          <a:p>
            <a:pPr lvl="0" indent="0" marL="0">
              <a:buNone/>
            </a:pPr>
            <a:r>
              <a:rPr b="1"/>
              <a:t>Description:</a:t>
            </a:r>
            <a:br/>
            <a:r>
              <a:rPr/>
              <a:t>An overview of foundational concepts in finance, including the structure of financial systems, types of financial markets, and the role of financial institutions. Students will explore the basic functions of financial intermediaries and the regulatory environment.</a:t>
            </a:r>
          </a:p>
          <a:p>
            <a:pPr lvl="0"/>
            <a:r>
              <a:rPr b="1"/>
              <a:t>Prerequisites:</a:t>
            </a:r>
            <a:r>
              <a:rPr/>
              <a:t> None</a:t>
            </a:r>
            <a:br/>
          </a:p>
          <a:p>
            <a:pPr lvl="0"/>
            <a:r>
              <a:rPr b="1"/>
              <a:t>Credit Hours:</a:t>
            </a:r>
            <a:r>
              <a:rPr/>
              <a:t> 3</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ACCT 103: Principles of Accounting I</a:t>
            </a:r>
          </a:p>
        </p:txBody>
      </p:sp>
      <p:sp>
        <p:nvSpPr>
          <p:cNvPr id="3" name="Content Placeholder 2"/>
          <p:cNvSpPr>
            <a:spLocks noGrp="1"/>
          </p:cNvSpPr>
          <p:nvPr>
            <p:ph idx="1"/>
          </p:nvPr>
        </p:nvSpPr>
        <p:spPr/>
        <p:txBody>
          <a:bodyPr/>
          <a:lstStyle/>
          <a:p>
            <a:pPr lvl="0" indent="0" marL="0">
              <a:buNone/>
            </a:pPr>
            <a:r>
              <a:rPr b="1"/>
              <a:t>Description:</a:t>
            </a:r>
            <a:br/>
            <a:r>
              <a:rPr/>
              <a:t>Introduction to financial accounting concepts, including the accounting cycle, preparation of financial statements, analysis of assets, liabilities, and equity. Emphasis on understanding how financial information supports business decision-making.</a:t>
            </a:r>
          </a:p>
          <a:p>
            <a:pPr lvl="0"/>
            <a:r>
              <a:rPr b="1"/>
              <a:t>Prerequisites:</a:t>
            </a:r>
            <a:r>
              <a:rPr/>
              <a:t> None</a:t>
            </a:r>
            <a:br/>
          </a:p>
          <a:p>
            <a:pPr lvl="0"/>
            <a:r>
              <a:rPr b="1"/>
              <a:t>Credit Hours:</a:t>
            </a:r>
            <a:r>
              <a:rPr/>
              <a:t> 3</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FINA 201: Corporate Finance</a:t>
            </a:r>
          </a:p>
        </p:txBody>
      </p:sp>
      <p:sp>
        <p:nvSpPr>
          <p:cNvPr id="3" name="Content Placeholder 2"/>
          <p:cNvSpPr>
            <a:spLocks noGrp="1"/>
          </p:cNvSpPr>
          <p:nvPr>
            <p:ph idx="1"/>
          </p:nvPr>
        </p:nvSpPr>
        <p:spPr/>
        <p:txBody>
          <a:bodyPr/>
          <a:lstStyle/>
          <a:p>
            <a:pPr lvl="0" indent="0" marL="0">
              <a:buNone/>
            </a:pPr>
            <a:r>
              <a:rPr b="1"/>
              <a:t>Description:</a:t>
            </a:r>
            <a:br/>
            <a:r>
              <a:rPr/>
              <a:t>A comprehensive study of the financial management practices within corporations. Topics include capital budgeting, cost of capital, working capital management, and financial planning.</a:t>
            </a:r>
          </a:p>
          <a:p>
            <a:pPr lvl="0"/>
            <a:r>
              <a:rPr b="1"/>
              <a:t>Prerequisites:</a:t>
            </a:r>
            <a:r>
              <a:rPr/>
              <a:t> FINA 101, ACCT 103</a:t>
            </a:r>
            <a:br/>
          </a:p>
          <a:p>
            <a:pPr lvl="0"/>
            <a:r>
              <a:rPr b="1"/>
              <a:t>Credit Hours:</a:t>
            </a:r>
            <a:r>
              <a:rPr/>
              <a:t> 3</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FINA 210: Investment Analysis</a:t>
            </a:r>
          </a:p>
        </p:txBody>
      </p:sp>
      <p:sp>
        <p:nvSpPr>
          <p:cNvPr id="3" name="Content Placeholder 2"/>
          <p:cNvSpPr>
            <a:spLocks noGrp="1"/>
          </p:cNvSpPr>
          <p:nvPr>
            <p:ph idx="1"/>
          </p:nvPr>
        </p:nvSpPr>
        <p:spPr/>
        <p:txBody>
          <a:bodyPr/>
          <a:lstStyle/>
          <a:p>
            <a:pPr lvl="0" indent="0" marL="0">
              <a:buNone/>
            </a:pPr>
            <a:r>
              <a:rPr b="1"/>
              <a:t>Description:</a:t>
            </a:r>
            <a:br/>
            <a:r>
              <a:rPr/>
              <a:t>Examination of investment vehicles, portfolio construction, securities analysis, and risk management strategies. Students will conduct applied valuation of equities and fixed-income securities.</a:t>
            </a:r>
          </a:p>
          <a:p>
            <a:pPr lvl="0"/>
            <a:r>
              <a:rPr b="1"/>
              <a:t>Prerequisites:</a:t>
            </a:r>
            <a:r>
              <a:rPr/>
              <a:t> FINA 201</a:t>
            </a:r>
            <a:br/>
          </a:p>
          <a:p>
            <a:pPr lvl="0"/>
            <a:r>
              <a:rPr b="1"/>
              <a:t>Credit Hours:</a:t>
            </a:r>
            <a:r>
              <a:rPr/>
              <a:t> 3</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ACCT 205: Managerial Accounting</a:t>
            </a:r>
          </a:p>
        </p:txBody>
      </p:sp>
      <p:sp>
        <p:nvSpPr>
          <p:cNvPr id="3" name="Content Placeholder 2"/>
          <p:cNvSpPr>
            <a:spLocks noGrp="1"/>
          </p:cNvSpPr>
          <p:nvPr>
            <p:ph idx="1"/>
          </p:nvPr>
        </p:nvSpPr>
        <p:spPr/>
        <p:txBody>
          <a:bodyPr/>
          <a:lstStyle/>
          <a:p>
            <a:pPr lvl="0" indent="0" marL="0">
              <a:buNone/>
            </a:pPr>
            <a:r>
              <a:rPr b="1"/>
              <a:t>Description:</a:t>
            </a:r>
            <a:br/>
            <a:r>
              <a:rPr/>
              <a:t>Focus on the use of accounting data in managerial decision making, budgeting, cost analysis, and performance evaluation. The course includes the application of cost-volume-profit analysis to operational decisions.</a:t>
            </a:r>
          </a:p>
          <a:p>
            <a:pPr lvl="0"/>
            <a:r>
              <a:rPr b="1"/>
              <a:t>Prerequisites:</a:t>
            </a:r>
            <a:r>
              <a:rPr/>
              <a:t> ACCT 103</a:t>
            </a:r>
            <a:br/>
          </a:p>
          <a:p>
            <a:pPr lvl="0"/>
            <a:r>
              <a:rPr b="1"/>
              <a:t>Credit Hours:</a:t>
            </a:r>
            <a:r>
              <a:rPr/>
              <a:t> 3</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FINA 225: Financial Markets and Institutions</a:t>
            </a:r>
          </a:p>
        </p:txBody>
      </p:sp>
      <p:sp>
        <p:nvSpPr>
          <p:cNvPr id="3" name="Content Placeholder 2"/>
          <p:cNvSpPr>
            <a:spLocks noGrp="1"/>
          </p:cNvSpPr>
          <p:nvPr>
            <p:ph idx="1"/>
          </p:nvPr>
        </p:nvSpPr>
        <p:spPr/>
        <p:txBody>
          <a:bodyPr/>
          <a:lstStyle/>
          <a:p>
            <a:pPr lvl="0" indent="0" marL="0">
              <a:buNone/>
            </a:pPr>
            <a:r>
              <a:rPr b="1"/>
              <a:t>Description:</a:t>
            </a:r>
            <a:br/>
            <a:r>
              <a:rPr/>
              <a:t>In-depth study of financial instruments and markets, including money markets, capital markets, and derivatives. Analysis of the functions and operations of financial institutions such as banks, insurance companies, and mutual funds.</a:t>
            </a:r>
          </a:p>
          <a:p>
            <a:pPr lvl="0"/>
            <a:r>
              <a:rPr b="1"/>
              <a:t>Prerequisites:</a:t>
            </a:r>
            <a:r>
              <a:rPr/>
              <a:t> FINA 101</a:t>
            </a:r>
            <a:br/>
          </a:p>
          <a:p>
            <a:pPr lvl="0"/>
            <a:r>
              <a:rPr b="1"/>
              <a:t>Credit Hours:</a:t>
            </a:r>
            <a:r>
              <a:rPr/>
              <a:t> 3</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FINA 302: International Finance</a:t>
            </a:r>
          </a:p>
        </p:txBody>
      </p:sp>
      <p:sp>
        <p:nvSpPr>
          <p:cNvPr id="3" name="Content Placeholder 2"/>
          <p:cNvSpPr>
            <a:spLocks noGrp="1"/>
          </p:cNvSpPr>
          <p:nvPr>
            <p:ph idx="1"/>
          </p:nvPr>
        </p:nvSpPr>
        <p:spPr/>
        <p:txBody>
          <a:bodyPr/>
          <a:lstStyle/>
          <a:p>
            <a:pPr lvl="0" indent="0" marL="0">
              <a:buNone/>
            </a:pPr>
            <a:r>
              <a:rPr b="1"/>
              <a:t>Description:</a:t>
            </a:r>
            <a:br/>
            <a:r>
              <a:rPr/>
              <a:t>Analysis of financial management in international contexts, including exchange rate dynamics, international financial markets, global risk management, and cross-border financing.</a:t>
            </a:r>
          </a:p>
          <a:p>
            <a:pPr lvl="0"/>
            <a:r>
              <a:rPr b="1"/>
              <a:t>Prerequisites:</a:t>
            </a:r>
            <a:r>
              <a:rPr/>
              <a:t> FINA 201, FIN 225</a:t>
            </a:r>
            <a:br/>
          </a:p>
          <a:p>
            <a:pPr lvl="0"/>
            <a:r>
              <a:rPr b="1"/>
              <a:t>Credit Hours:</a:t>
            </a:r>
            <a:r>
              <a:rPr/>
              <a:t> 3</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FINA 309: Financial Statement Analysis</a:t>
            </a:r>
          </a:p>
        </p:txBody>
      </p:sp>
      <p:sp>
        <p:nvSpPr>
          <p:cNvPr id="3" name="Content Placeholder 2"/>
          <p:cNvSpPr>
            <a:spLocks noGrp="1"/>
          </p:cNvSpPr>
          <p:nvPr>
            <p:ph idx="1"/>
          </p:nvPr>
        </p:nvSpPr>
        <p:spPr/>
        <p:txBody>
          <a:bodyPr/>
          <a:lstStyle/>
          <a:p>
            <a:pPr lvl="0" indent="0" marL="0">
              <a:buNone/>
            </a:pPr>
            <a:r>
              <a:rPr b="1"/>
              <a:t>Description:</a:t>
            </a:r>
            <a:br/>
            <a:r>
              <a:rPr/>
              <a:t>Development of analytical skills for evaluating corporate financial statements. Topics include ratio analysis, trend analysis, and benchmarking for assessment of firm performance.</a:t>
            </a:r>
          </a:p>
          <a:p>
            <a:pPr lvl="0"/>
            <a:r>
              <a:rPr b="1"/>
              <a:t>Prerequisites:</a:t>
            </a:r>
            <a:r>
              <a:rPr/>
              <a:t> ACCT 103</a:t>
            </a:r>
            <a:br/>
          </a:p>
          <a:p>
            <a:pPr lvl="0"/>
            <a:r>
              <a:rPr b="1"/>
              <a:t>Credit Hours:</a:t>
            </a:r>
            <a:r>
              <a:rPr/>
              <a:t> 3</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FINA 321: Derivatives and Risk Management</a:t>
            </a:r>
          </a:p>
        </p:txBody>
      </p:sp>
      <p:sp>
        <p:nvSpPr>
          <p:cNvPr id="3" name="Content Placeholder 2"/>
          <p:cNvSpPr>
            <a:spLocks noGrp="1"/>
          </p:cNvSpPr>
          <p:nvPr>
            <p:ph idx="1"/>
          </p:nvPr>
        </p:nvSpPr>
        <p:spPr/>
        <p:txBody>
          <a:bodyPr/>
          <a:lstStyle/>
          <a:p>
            <a:pPr lvl="0" indent="0" marL="0">
              <a:buNone/>
            </a:pPr>
            <a:r>
              <a:rPr b="1"/>
              <a:t>Description:</a:t>
            </a:r>
            <a:br/>
            <a:r>
              <a:rPr/>
              <a:t>Survey of derivatives markets and instruments such as options, futures, and swaps. Exploration of hedging and speculation strategies, valuation models, and risk management applications.</a:t>
            </a:r>
          </a:p>
          <a:p>
            <a:pPr lvl="0"/>
            <a:r>
              <a:rPr b="1"/>
              <a:t>Prerequisites:</a:t>
            </a:r>
            <a:r>
              <a:rPr/>
              <a:t> FINA 210</a:t>
            </a:r>
            <a:br/>
          </a:p>
          <a:p>
            <a:pPr lvl="0"/>
            <a:r>
              <a:rPr b="1"/>
              <a:t>Credit Hours:</a:t>
            </a:r>
            <a:r>
              <a:rPr/>
              <a:t> 3</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FINA 340: Ethics and Professional Standards in Finance</a:t>
            </a:r>
          </a:p>
        </p:txBody>
      </p:sp>
      <p:sp>
        <p:nvSpPr>
          <p:cNvPr id="3" name="Content Placeholder 2"/>
          <p:cNvSpPr>
            <a:spLocks noGrp="1"/>
          </p:cNvSpPr>
          <p:nvPr>
            <p:ph idx="1"/>
          </p:nvPr>
        </p:nvSpPr>
        <p:spPr/>
        <p:txBody>
          <a:bodyPr/>
          <a:lstStyle/>
          <a:p>
            <a:pPr lvl="0" indent="0" marL="0">
              <a:buNone/>
            </a:pPr>
            <a:r>
              <a:rPr b="1"/>
              <a:t>Description:</a:t>
            </a:r>
            <a:br/>
            <a:r>
              <a:rPr/>
              <a:t>Examination of ethical issues and professional responsibilities in the finance profession. Topics include conflicts of interest, fiduciary duty, regulatory compliance, and global standards for ethical conduct.</a:t>
            </a:r>
          </a:p>
          <a:p>
            <a:pPr lvl="0"/>
            <a:r>
              <a:rPr b="1"/>
              <a:t>Prerequisites:</a:t>
            </a:r>
            <a:r>
              <a:rPr/>
              <a:t> FINA 201</a:t>
            </a:r>
            <a:br/>
          </a:p>
          <a:p>
            <a:pPr lvl="0"/>
            <a:r>
              <a:rPr b="1"/>
              <a:t>Credit Hours:</a:t>
            </a:r>
            <a:r>
              <a:rPr/>
              <a:t> 2</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FINA 355: Portfolio Management</a:t>
            </a:r>
          </a:p>
        </p:txBody>
      </p:sp>
      <p:sp>
        <p:nvSpPr>
          <p:cNvPr id="3" name="Content Placeholder 2"/>
          <p:cNvSpPr>
            <a:spLocks noGrp="1"/>
          </p:cNvSpPr>
          <p:nvPr>
            <p:ph idx="1"/>
          </p:nvPr>
        </p:nvSpPr>
        <p:spPr/>
        <p:txBody>
          <a:bodyPr/>
          <a:lstStyle/>
          <a:p>
            <a:pPr lvl="0" indent="0" marL="0">
              <a:buNone/>
            </a:pPr>
            <a:r>
              <a:rPr b="1"/>
              <a:t>Description:</a:t>
            </a:r>
            <a:br/>
            <a:r>
              <a:rPr/>
              <a:t>Advanced techniques in managing investment portfolios, asset allocation, performance measurement, and portfolio optimization using quantitative methods and financial technology tools.</a:t>
            </a:r>
          </a:p>
          <a:p>
            <a:pPr lvl="0"/>
            <a:r>
              <a:rPr b="1"/>
              <a:t>Prerequisites:</a:t>
            </a:r>
            <a:r>
              <a:rPr/>
              <a:t> FINA 210, STAT 215</a:t>
            </a:r>
            <a:br/>
          </a:p>
          <a:p>
            <a:pPr lvl="0"/>
            <a:r>
              <a:rPr b="1"/>
              <a:t>Credit Hours:</a:t>
            </a:r>
            <a:r>
              <a:rPr/>
              <a:t> 3</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STAT 215: Business Statistics</a:t>
            </a:r>
          </a:p>
        </p:txBody>
      </p:sp>
      <p:sp>
        <p:nvSpPr>
          <p:cNvPr id="3" name="Content Placeholder 2"/>
          <p:cNvSpPr>
            <a:spLocks noGrp="1"/>
          </p:cNvSpPr>
          <p:nvPr>
            <p:ph idx="1"/>
          </p:nvPr>
        </p:nvSpPr>
        <p:spPr/>
        <p:txBody>
          <a:bodyPr/>
          <a:lstStyle/>
          <a:p>
            <a:pPr lvl="0" indent="0" marL="0">
              <a:buNone/>
            </a:pPr>
            <a:r>
              <a:rPr b="1"/>
              <a:t>Description:</a:t>
            </a:r>
            <a:br/>
            <a:r>
              <a:rPr/>
              <a:t>Introduction to statistical techniques relevant to finance and business, including probability distributions, hypothesis testing, regression analysis, and data interpretation.</a:t>
            </a:r>
          </a:p>
          <a:p>
            <a:pPr lvl="0"/>
            <a:r>
              <a:rPr b="1"/>
              <a:t>Prerequisites:</a:t>
            </a:r>
            <a:r>
              <a:rPr/>
              <a:t> None</a:t>
            </a:r>
            <a:br/>
          </a:p>
          <a:p>
            <a:pPr lvl="0"/>
            <a:r>
              <a:rPr b="1"/>
              <a:t>Credit Hours:</a:t>
            </a:r>
            <a:r>
              <a:rPr/>
              <a:t> 3</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FINA 370: Behavioral Finance</a:t>
            </a:r>
          </a:p>
        </p:txBody>
      </p:sp>
      <p:sp>
        <p:nvSpPr>
          <p:cNvPr id="3" name="Content Placeholder 2"/>
          <p:cNvSpPr>
            <a:spLocks noGrp="1"/>
          </p:cNvSpPr>
          <p:nvPr>
            <p:ph idx="1"/>
          </p:nvPr>
        </p:nvSpPr>
        <p:spPr/>
        <p:txBody>
          <a:bodyPr/>
          <a:lstStyle/>
          <a:p>
            <a:pPr lvl="0" indent="0" marL="0">
              <a:buNone/>
            </a:pPr>
            <a:r>
              <a:rPr b="1"/>
              <a:t>Description:</a:t>
            </a:r>
            <a:br/>
            <a:r>
              <a:rPr/>
              <a:t>Study of psychological influences on financial decision-making. Topics cover biases, heuristics, investor behavior, and market anomalies.</a:t>
            </a:r>
          </a:p>
          <a:p>
            <a:pPr lvl="0"/>
            <a:r>
              <a:rPr b="1"/>
              <a:t>Prerequisites:</a:t>
            </a:r>
            <a:r>
              <a:rPr/>
              <a:t> FINA 210</a:t>
            </a:r>
            <a:br/>
          </a:p>
          <a:p>
            <a:pPr lvl="0"/>
            <a:r>
              <a:rPr b="1"/>
              <a:t>Credit Hours:</a:t>
            </a:r>
            <a:r>
              <a:rPr/>
              <a:t> 3</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FINA 401: Financial Modeling</a:t>
            </a:r>
          </a:p>
        </p:txBody>
      </p:sp>
      <p:sp>
        <p:nvSpPr>
          <p:cNvPr id="3" name="Content Placeholder 2"/>
          <p:cNvSpPr>
            <a:spLocks noGrp="1"/>
          </p:cNvSpPr>
          <p:nvPr>
            <p:ph idx="1"/>
          </p:nvPr>
        </p:nvSpPr>
        <p:spPr/>
        <p:txBody>
          <a:bodyPr/>
          <a:lstStyle/>
          <a:p>
            <a:pPr lvl="0" indent="0" marL="0">
              <a:buNone/>
            </a:pPr>
            <a:r>
              <a:rPr b="1"/>
              <a:t>Description:</a:t>
            </a:r>
            <a:br/>
            <a:r>
              <a:rPr/>
              <a:t>Application of quantitative and computational methods to build financial models for valuation, forecasting, and scenario analysis. Tools include spreadsheet modeling and basic programming.</a:t>
            </a:r>
          </a:p>
          <a:p>
            <a:pPr lvl="0"/>
            <a:r>
              <a:rPr b="1"/>
              <a:t>Prerequisites:</a:t>
            </a:r>
            <a:r>
              <a:rPr/>
              <a:t> FIN 355, STAT 215</a:t>
            </a:r>
            <a:br/>
          </a:p>
          <a:p>
            <a:pPr lvl="0"/>
            <a:r>
              <a:rPr b="1"/>
              <a:t>Credit Hours:</a:t>
            </a:r>
            <a:r>
              <a:rPr/>
              <a:t> 3</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FINA 480: Seminar in Contemporary Financial Issues</a:t>
            </a:r>
          </a:p>
        </p:txBody>
      </p:sp>
      <p:sp>
        <p:nvSpPr>
          <p:cNvPr id="3" name="Content Placeholder 2"/>
          <p:cNvSpPr>
            <a:spLocks noGrp="1"/>
          </p:cNvSpPr>
          <p:nvPr>
            <p:ph idx="1"/>
          </p:nvPr>
        </p:nvSpPr>
        <p:spPr/>
        <p:txBody>
          <a:bodyPr/>
          <a:lstStyle/>
          <a:p>
            <a:pPr lvl="0" indent="0" marL="0">
              <a:buNone/>
            </a:pPr>
            <a:r>
              <a:rPr b="1"/>
              <a:t>Description:</a:t>
            </a:r>
            <a:br/>
            <a:r>
              <a:rPr/>
              <a:t>Capstone seminar critically examining current topics and emerging trends in finance, including fintech, environmental finance, and market regulation. Includes guest speakers and case studies.</a:t>
            </a:r>
          </a:p>
          <a:p>
            <a:pPr lvl="0"/>
            <a:r>
              <a:rPr b="1"/>
              <a:t>Prerequisites:</a:t>
            </a:r>
            <a:r>
              <a:rPr/>
              <a:t> FINA 401 or Instructor Approval</a:t>
            </a:r>
            <a:br/>
          </a:p>
          <a:p>
            <a:pPr lvl="0"/>
            <a:r>
              <a:rPr b="1"/>
              <a:t>Credit Hours:</a:t>
            </a:r>
            <a:r>
              <a:rPr/>
              <a:t> 3</a:t>
            </a:r>
          </a:p>
        </p:txBody>
      </p:sp>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FINA 490: Finance Internship</a:t>
            </a:r>
          </a:p>
        </p:txBody>
      </p:sp>
      <p:sp>
        <p:nvSpPr>
          <p:cNvPr id="3" name="Content Placeholder 2"/>
          <p:cNvSpPr>
            <a:spLocks noGrp="1"/>
          </p:cNvSpPr>
          <p:nvPr>
            <p:ph idx="1"/>
          </p:nvPr>
        </p:nvSpPr>
        <p:spPr/>
        <p:txBody>
          <a:bodyPr/>
          <a:lstStyle/>
          <a:p>
            <a:pPr lvl="0" indent="0" marL="0">
              <a:buNone/>
            </a:pPr>
            <a:r>
              <a:rPr b="1"/>
              <a:t>Description:</a:t>
            </a:r>
            <a:br/>
            <a:r>
              <a:rPr/>
              <a:t>Supervised practical experience in a finance-related role within industry or government. Emphasis on applying academic knowledge to professional practice through structured reflection and reporting.</a:t>
            </a:r>
          </a:p>
          <a:p>
            <a:pPr lvl="0"/>
            <a:r>
              <a:rPr b="1"/>
              <a:t>Prerequisites:</a:t>
            </a:r>
            <a:r>
              <a:rPr/>
              <a:t> Junior Standing, Department Approval</a:t>
            </a:r>
            <a:br/>
          </a:p>
          <a:p>
            <a:pPr lvl="0"/>
            <a:r>
              <a:rPr b="1"/>
              <a:t>Credit Hours:</a:t>
            </a:r>
            <a:r>
              <a:rPr/>
              <a:t> 4</a:t>
            </a:r>
          </a:p>
        </p:txBody>
      </p:sp>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b="1"/>
              <a:t>Note:</a:t>
            </a:r>
            <a:r>
              <a:rPr/>
              <a:t> Some upper-level courses may only be offered in alternate semesters. For further details on course scheduling and academic advising, contact the Department of Finance and Accounting at fina.office@cendara.edu.</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keywords/>
  <dcterms:created xsi:type="dcterms:W3CDTF">2025-07-29T15:05:30Z</dcterms:created>
  <dcterms:modified xsi:type="dcterms:W3CDTF">2025-07-29T15:05:30Z</dcterms:modified>
</cp:coreProperties>
</file>

<file path=docProps/custom.xml><?xml version="1.0" encoding="utf-8"?>
<Properties xmlns="http://schemas.openxmlformats.org/officeDocument/2006/custom-properties" xmlns:vt="http://schemas.openxmlformats.org/officeDocument/2006/docPropsVTypes"/>
</file>