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faculty.cendara.edu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 Faculty Directory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the current faculty directory for Cendara University, organized by school and department. This directory includes full-time professors, associate professors, assistant professors, and senior lecturers actively teaching and conducting research as of Spring 2024.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School of Arts &amp; Humanities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English and Comparative Literature</a:t>
            </a:r>
          </a:p>
          <a:p>
            <a:pPr lvl="0"/>
            <a:r>
              <a:rPr b="1"/>
              <a:t>Dr. Miriam Valdez</a:t>
            </a:r>
            <a:br/>
            <a:r>
              <a:rPr i="1"/>
              <a:t>Professor &amp; Department Chair</a:t>
            </a:r>
            <a:br/>
            <a:r>
              <a:rPr/>
              <a:t>valdez.miriam@cendara.edu</a:t>
            </a:r>
          </a:p>
          <a:p>
            <a:pPr lvl="0"/>
            <a:r>
              <a:rPr b="1"/>
              <a:t>Prof. Anthony R. Sloane</a:t>
            </a:r>
            <a:br/>
            <a:r>
              <a:rPr i="1"/>
              <a:t>Associate Professor, Renaissance Literature</a:t>
            </a:r>
            <a:br/>
            <a:r>
              <a:rPr/>
              <a:t>sloane.anthony@cendara.edu</a:t>
            </a:r>
          </a:p>
          <a:p>
            <a:pPr lvl="0"/>
            <a:r>
              <a:rPr b="1"/>
              <a:t>Dr. Anisa Ganesha</a:t>
            </a:r>
            <a:br/>
            <a:r>
              <a:rPr i="1"/>
              <a:t>Assistant Professor, Comparative Literature</a:t>
            </a:r>
            <a:br/>
            <a:r>
              <a:rPr/>
              <a:t>ganesha.anisa@cendara.edu</a:t>
            </a:r>
          </a:p>
          <a:p>
            <a:pPr lvl="0"/>
            <a:r>
              <a:rPr b="1"/>
              <a:t>Dr. Corrine Thuy-Bao</a:t>
            </a:r>
            <a:br/>
            <a:r>
              <a:rPr i="1"/>
              <a:t>Senior Lecturer, Media Studies &amp; Linguistics</a:t>
            </a:r>
            <a:br/>
            <a:r>
              <a:rPr/>
              <a:t>bao.corrine@cendara.edu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History</a:t>
            </a:r>
          </a:p>
          <a:p>
            <a:pPr lvl="0"/>
            <a:r>
              <a:rPr b="1"/>
              <a:t>Dr. Jerome Pavlenco</a:t>
            </a:r>
            <a:br/>
            <a:r>
              <a:rPr i="1"/>
              <a:t>Professor of Modern European History</a:t>
            </a:r>
            <a:br/>
            <a:r>
              <a:rPr/>
              <a:t>pavlenco.jerome@cendara.edu</a:t>
            </a:r>
          </a:p>
          <a:p>
            <a:pPr lvl="0"/>
            <a:r>
              <a:rPr b="1"/>
              <a:t>Dr. Judith Maynard</a:t>
            </a:r>
            <a:br/>
            <a:r>
              <a:rPr i="1"/>
              <a:t>Professor &amp; Department Chair</a:t>
            </a:r>
            <a:br/>
            <a:r>
              <a:rPr/>
              <a:t>maynard.judith@cendara.edu</a:t>
            </a:r>
          </a:p>
          <a:p>
            <a:pPr lvl="0"/>
            <a:r>
              <a:rPr b="1"/>
              <a:t>Prof. Diego Lumumba</a:t>
            </a:r>
            <a:br/>
            <a:r>
              <a:rPr i="1"/>
              <a:t>Associate Professor, African &amp; Global History</a:t>
            </a:r>
            <a:br/>
            <a:r>
              <a:rPr/>
              <a:t>lumumba.diego@cendara.edu</a:t>
            </a:r>
          </a:p>
          <a:p>
            <a:pPr lvl="0"/>
            <a:r>
              <a:rPr b="1"/>
              <a:t>Dr. Natalia Serbanescu</a:t>
            </a:r>
            <a:br/>
            <a:r>
              <a:rPr i="1"/>
              <a:t>Lecturer, American History</a:t>
            </a:r>
            <a:br/>
            <a:r>
              <a:rPr/>
              <a:t>serbanescu.natalia@cendara.edu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Philosophy</a:t>
            </a:r>
          </a:p>
          <a:p>
            <a:pPr lvl="0"/>
            <a:r>
              <a:rPr b="1"/>
              <a:t>Dr. Peter Ji-Won Seo</a:t>
            </a:r>
            <a:br/>
            <a:r>
              <a:rPr i="1"/>
              <a:t>Professor, Ethics and Social Philosophy</a:t>
            </a:r>
            <a:br/>
            <a:r>
              <a:rPr/>
              <a:t>seopj@cendara.edu</a:t>
            </a:r>
          </a:p>
          <a:p>
            <a:pPr lvl="0"/>
            <a:r>
              <a:rPr b="1"/>
              <a:t>Prof. Martina L. Farrow</a:t>
            </a:r>
            <a:br/>
            <a:r>
              <a:rPr i="1"/>
              <a:t>Assistant Professor, Epistemology</a:t>
            </a:r>
            <a:br/>
            <a:r>
              <a:rPr/>
              <a:t>farrow.martina@cendara.edu</a:t>
            </a:r>
          </a:p>
          <a:p>
            <a:pPr lvl="0"/>
            <a:r>
              <a:rPr b="1"/>
              <a:t>Dr. Chandan Nair</a:t>
            </a:r>
            <a:br/>
            <a:r>
              <a:rPr i="1"/>
              <a:t>Associate Professor, Eastern Philosophy</a:t>
            </a:r>
            <a:br/>
            <a:r>
              <a:rPr/>
              <a:t>nair.chandan@cendara.edu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Modern Languages</a:t>
            </a:r>
          </a:p>
          <a:p>
            <a:pPr lvl="0"/>
            <a:r>
              <a:rPr b="1"/>
              <a:t>Dr. Silvia Fontaine</a:t>
            </a:r>
            <a:br/>
            <a:r>
              <a:rPr i="1"/>
              <a:t>Professor of Spanish &amp; French</a:t>
            </a:r>
            <a:br/>
            <a:r>
              <a:rPr/>
              <a:t>fontaine.silvia@cendara.edu</a:t>
            </a:r>
          </a:p>
          <a:p>
            <a:pPr lvl="0"/>
            <a:r>
              <a:rPr b="1"/>
              <a:t>Dr. Ryo Hashimoto</a:t>
            </a:r>
            <a:br/>
            <a:r>
              <a:rPr i="1"/>
              <a:t>Associate Professor, Japanese Language</a:t>
            </a:r>
            <a:br/>
            <a:r>
              <a:rPr/>
              <a:t>hashimoto.ryo@cendara.edu</a:t>
            </a:r>
          </a:p>
          <a:p>
            <a:pPr lvl="0"/>
            <a:r>
              <a:rPr b="1"/>
              <a:t>Prof. Lucia Bernal</a:t>
            </a:r>
            <a:br/>
            <a:r>
              <a:rPr i="1"/>
              <a:t>Senior Lecturer, Italian Studies</a:t>
            </a:r>
            <a:br/>
            <a:r>
              <a:rPr/>
              <a:t>bernal.lucia@cendara.edu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School of Sciences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Biology</a:t>
            </a:r>
          </a:p>
          <a:p>
            <a:pPr lvl="0"/>
            <a:r>
              <a:rPr b="1"/>
              <a:t>Dr. Leandro Gutierrez</a:t>
            </a:r>
            <a:br/>
            <a:r>
              <a:rPr i="1"/>
              <a:t>Professor &amp; Department Chair, Molecular Biology</a:t>
            </a:r>
            <a:br/>
            <a:r>
              <a:rPr/>
              <a:t>gutierrez.leandro@cendara.edu</a:t>
            </a:r>
          </a:p>
          <a:p>
            <a:pPr lvl="0"/>
            <a:r>
              <a:rPr b="1"/>
              <a:t>Dr. Helena Sikorska</a:t>
            </a:r>
            <a:br/>
            <a:r>
              <a:rPr i="1"/>
              <a:t>Associate Professor, Ecology</a:t>
            </a:r>
            <a:br/>
            <a:r>
              <a:rPr/>
              <a:t>sikorska.helena@cendara.edu</a:t>
            </a:r>
          </a:p>
          <a:p>
            <a:pPr lvl="0"/>
            <a:r>
              <a:rPr b="1"/>
              <a:t>Dr. Pritha Prasad</a:t>
            </a:r>
            <a:br/>
            <a:r>
              <a:rPr i="1"/>
              <a:t>Assistant Professor, Genetics</a:t>
            </a:r>
            <a:br/>
            <a:r>
              <a:rPr/>
              <a:t>prasad.pritha@cendara.edu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Chemistry</a:t>
            </a:r>
          </a:p>
          <a:p>
            <a:pPr lvl="0"/>
            <a:r>
              <a:rPr b="1"/>
              <a:t>Dr. Faisal Khoury</a:t>
            </a:r>
            <a:br/>
            <a:r>
              <a:rPr i="1"/>
              <a:t>Professor, Physical Chemistry</a:t>
            </a:r>
            <a:br/>
            <a:r>
              <a:rPr/>
              <a:t>khoury.faisal@cendara.edu</a:t>
            </a:r>
          </a:p>
          <a:p>
            <a:pPr lvl="0"/>
            <a:r>
              <a:rPr b="1"/>
              <a:t>Prof. Jenna Boyle</a:t>
            </a:r>
            <a:br/>
            <a:r>
              <a:rPr i="1"/>
              <a:t>Associate Professor &amp; Department Chair</a:t>
            </a:r>
            <a:br/>
            <a:r>
              <a:rPr/>
              <a:t>boyle.jenna@cendara.edu</a:t>
            </a:r>
          </a:p>
          <a:p>
            <a:pPr lvl="0"/>
            <a:r>
              <a:rPr b="1"/>
              <a:t>Dr. Akash Tomlinson</a:t>
            </a:r>
            <a:br/>
            <a:r>
              <a:rPr i="1"/>
              <a:t>Lecturer, Analytical Chemistry</a:t>
            </a:r>
            <a:br/>
            <a:r>
              <a:rPr/>
              <a:t>tomlinson.akash@cendara.edu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Physics</a:t>
            </a:r>
          </a:p>
          <a:p>
            <a:pPr lvl="0"/>
            <a:r>
              <a:rPr b="1"/>
              <a:t>Dr. Sharon L. Kanter</a:t>
            </a:r>
            <a:br/>
            <a:r>
              <a:rPr i="1"/>
              <a:t>Professor, Astrophysics</a:t>
            </a:r>
            <a:br/>
            <a:r>
              <a:rPr/>
              <a:t>kanter.sharon@cendara.edu</a:t>
            </a:r>
          </a:p>
          <a:p>
            <a:pPr lvl="0"/>
            <a:r>
              <a:rPr b="1"/>
              <a:t>Dr. Eduard Denes</a:t>
            </a:r>
            <a:br/>
            <a:r>
              <a:rPr i="1"/>
              <a:t>Associate Professor, Particle Physics</a:t>
            </a:r>
            <a:br/>
            <a:r>
              <a:rPr/>
              <a:t>denes.eduard@cendara.edu</a:t>
            </a:r>
          </a:p>
          <a:p>
            <a:pPr lvl="0"/>
            <a:r>
              <a:rPr b="1"/>
              <a:t>Prof. Ema J. Mensah</a:t>
            </a:r>
            <a:br/>
            <a:r>
              <a:rPr i="1"/>
              <a:t>Assistant Professor, Applied Physics</a:t>
            </a:r>
            <a:br/>
            <a:r>
              <a:rPr/>
              <a:t>mensah.ema@cendara.edu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Mathematics and Statistics</a:t>
            </a:r>
          </a:p>
          <a:p>
            <a:pPr lvl="0"/>
            <a:r>
              <a:rPr b="1"/>
              <a:t>Dr. Anders Rutledge</a:t>
            </a:r>
            <a:br/>
            <a:r>
              <a:rPr i="1"/>
              <a:t>Professor &amp; Department Chair, Pure Mathematics</a:t>
            </a:r>
            <a:br/>
            <a:r>
              <a:rPr/>
              <a:t>rutledge.anders@cendara.edu</a:t>
            </a:r>
          </a:p>
          <a:p>
            <a:pPr lvl="0"/>
            <a:r>
              <a:rPr b="1"/>
              <a:t>Dr. Liwen Tang</a:t>
            </a:r>
            <a:br/>
            <a:r>
              <a:rPr i="1"/>
              <a:t>Associate Professor, Data Science</a:t>
            </a:r>
            <a:br/>
            <a:r>
              <a:rPr/>
              <a:t>tang.liwen@cendara.edu</a:t>
            </a:r>
          </a:p>
          <a:p>
            <a:pPr lvl="0"/>
            <a:r>
              <a:rPr b="1"/>
              <a:t>Dr. Melinda Correia</a:t>
            </a:r>
            <a:br/>
            <a:r>
              <a:rPr i="1"/>
              <a:t>Assistant Professor, Statistics</a:t>
            </a:r>
            <a:br/>
            <a:r>
              <a:rPr/>
              <a:t>correia.melinda@cendara.edu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School of Engineering &amp; Technology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Computer Science</a:t>
            </a:r>
          </a:p>
          <a:p>
            <a:pPr lvl="0"/>
            <a:r>
              <a:rPr b="1"/>
              <a:t>Dr. Uma Raghavan</a:t>
            </a:r>
            <a:br/>
            <a:r>
              <a:rPr i="1"/>
              <a:t>Professor &amp; Department Chair, Machine Learning</a:t>
            </a:r>
            <a:br/>
            <a:r>
              <a:rPr/>
              <a:t>raghavan.uma@cendara.edu</a:t>
            </a:r>
          </a:p>
          <a:p>
            <a:pPr lvl="0"/>
            <a:r>
              <a:rPr b="1"/>
              <a:t>Dr. Isaac Wong</a:t>
            </a:r>
            <a:br/>
            <a:r>
              <a:rPr i="1"/>
              <a:t>Associate Professor, Cybersecurity</a:t>
            </a:r>
            <a:br/>
            <a:r>
              <a:rPr/>
              <a:t>wong.isaac@cendara.edu</a:t>
            </a:r>
          </a:p>
          <a:p>
            <a:pPr lvl="0"/>
            <a:r>
              <a:rPr b="1"/>
              <a:t>Prof. Elena Y. Orlov</a:t>
            </a:r>
            <a:br/>
            <a:r>
              <a:rPr i="1"/>
              <a:t>Assistant Professor, Software Engineering</a:t>
            </a:r>
            <a:br/>
            <a:r>
              <a:rPr/>
              <a:t>orlov.elena@cendara.edu</a:t>
            </a:r>
          </a:p>
          <a:p>
            <a:pPr lvl="0"/>
            <a:r>
              <a:rPr b="1"/>
              <a:t>Dr. Mark O’Brien</a:t>
            </a:r>
            <a:br/>
            <a:r>
              <a:rPr i="1"/>
              <a:t>Senior Lecturer, Computer Systems</a:t>
            </a:r>
            <a:br/>
            <a:r>
              <a:rPr/>
              <a:t>obrien.mark@cendara.edu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Mechanical Engineering</a:t>
            </a:r>
          </a:p>
          <a:p>
            <a:pPr lvl="0"/>
            <a:r>
              <a:rPr b="1"/>
              <a:t>Dr. Rune Sorensen</a:t>
            </a:r>
            <a:br/>
            <a:r>
              <a:rPr i="1"/>
              <a:t>Professor, Thermodynamics &amp; Fluid Mechanics</a:t>
            </a:r>
            <a:br/>
            <a:r>
              <a:rPr/>
              <a:t>sorensen.rune@cendara.edu</a:t>
            </a:r>
          </a:p>
          <a:p>
            <a:pPr lvl="0"/>
            <a:r>
              <a:rPr b="1"/>
              <a:t>Dr. Priya Choudhury</a:t>
            </a:r>
            <a:br/>
            <a:r>
              <a:rPr i="1"/>
              <a:t>Associate Professor, Mechatronics</a:t>
            </a:r>
            <a:br/>
            <a:r>
              <a:rPr/>
              <a:t>choudhury.priya@cendara.edu</a:t>
            </a:r>
          </a:p>
          <a:p>
            <a:pPr lvl="0"/>
            <a:r>
              <a:rPr b="1"/>
              <a:t>Prof. Timothy Keane</a:t>
            </a:r>
            <a:br/>
            <a:r>
              <a:rPr i="1"/>
              <a:t>Assistant Professor, Computer-Aided Design</a:t>
            </a:r>
            <a:br/>
            <a:r>
              <a:rPr/>
              <a:t>keane.timothy@cendara.edu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Electrical Engineering</a:t>
            </a:r>
          </a:p>
          <a:p>
            <a:pPr lvl="0"/>
            <a:r>
              <a:rPr b="1"/>
              <a:t>Dr. Tamara Ioannidis</a:t>
            </a:r>
            <a:br/>
            <a:r>
              <a:rPr i="1"/>
              <a:t>Professor &amp; Department Chair, Embedded Systems</a:t>
            </a:r>
            <a:br/>
            <a:r>
              <a:rPr/>
              <a:t>ioannidis.tamara@cendara.edu</a:t>
            </a:r>
          </a:p>
          <a:p>
            <a:pPr lvl="0"/>
            <a:r>
              <a:rPr b="1"/>
              <a:t>Dr. Marcel Doshi</a:t>
            </a:r>
            <a:br/>
            <a:r>
              <a:rPr i="1"/>
              <a:t>Associate Professor, Signal Processing</a:t>
            </a:r>
            <a:br/>
            <a:r>
              <a:rPr/>
              <a:t>doshi.marcel@cendara.edu</a:t>
            </a:r>
          </a:p>
          <a:p>
            <a:pPr lvl="0"/>
            <a:r>
              <a:rPr b="1"/>
              <a:t>Dr. Daisy M. Sefa</a:t>
            </a:r>
            <a:br/>
            <a:r>
              <a:rPr i="1"/>
              <a:t>Assistant Professor, Integrated Circuits</a:t>
            </a:r>
            <a:br/>
            <a:r>
              <a:rPr/>
              <a:t>sefa.daisy@cendara.edu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Civil and Environmental Engineering</a:t>
            </a:r>
          </a:p>
          <a:p>
            <a:pPr lvl="0"/>
            <a:r>
              <a:rPr b="1"/>
              <a:t>Prof. Yusuf Suleman</a:t>
            </a:r>
            <a:br/>
            <a:r>
              <a:rPr i="1"/>
              <a:t>Professor, Structural Engineering</a:t>
            </a:r>
            <a:br/>
            <a:r>
              <a:rPr/>
              <a:t>suleman.yusuf@cendara.edu</a:t>
            </a:r>
          </a:p>
          <a:p>
            <a:pPr lvl="0"/>
            <a:r>
              <a:rPr b="1"/>
              <a:t>Dr. Hannah Feldman</a:t>
            </a:r>
            <a:br/>
            <a:r>
              <a:rPr i="1"/>
              <a:t>Associate Professor, Environmental Systems</a:t>
            </a:r>
            <a:br/>
            <a:r>
              <a:rPr/>
              <a:t>feldman.hannah@cendara.edu</a:t>
            </a:r>
          </a:p>
          <a:p>
            <a:pPr lvl="0"/>
            <a:r>
              <a:rPr b="1"/>
              <a:t>Dr. Omar El-Sharif</a:t>
            </a:r>
            <a:br/>
            <a:r>
              <a:rPr i="1"/>
              <a:t>Lecturer, Transportation Engineering</a:t>
            </a:r>
            <a:br/>
            <a:r>
              <a:rPr/>
              <a:t>elsharif.omar@cendara.edu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School of Social Sciences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Psychology</a:t>
            </a:r>
          </a:p>
          <a:p>
            <a:pPr lvl="0"/>
            <a:r>
              <a:rPr b="1"/>
              <a:t>Dr. Alexa Simonsen</a:t>
            </a:r>
            <a:br/>
            <a:r>
              <a:rPr i="1"/>
              <a:t>Professor &amp; Department Chair, Clinical Psychology</a:t>
            </a:r>
            <a:br/>
            <a:r>
              <a:rPr/>
              <a:t>simonsen.alexa@cendara.edu</a:t>
            </a:r>
          </a:p>
          <a:p>
            <a:pPr lvl="0"/>
            <a:r>
              <a:rPr b="1"/>
              <a:t>Prof. Tolu Yusuf-Adeyemi</a:t>
            </a:r>
            <a:br/>
            <a:r>
              <a:rPr i="1"/>
              <a:t>Associate Professor, Developmental Psychology</a:t>
            </a:r>
            <a:br/>
            <a:r>
              <a:rPr/>
              <a:t>yusuf.tolu@cendara.edu</a:t>
            </a:r>
          </a:p>
          <a:p>
            <a:pPr lvl="0"/>
            <a:r>
              <a:rPr b="1"/>
              <a:t>Dr. Sara Chabert</a:t>
            </a:r>
            <a:br/>
            <a:r>
              <a:rPr i="1"/>
              <a:t>Assistant Professor, Cognitive Neuroscience</a:t>
            </a:r>
            <a:br/>
            <a:r>
              <a:rPr/>
              <a:t>chabert.sara@cendara.edu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Political Science</a:t>
            </a:r>
          </a:p>
          <a:p>
            <a:pPr lvl="0"/>
            <a:r>
              <a:rPr b="1"/>
              <a:t>Dr. Felipe Monteiro</a:t>
            </a:r>
            <a:br/>
            <a:r>
              <a:rPr i="1"/>
              <a:t>Professor, International Relations</a:t>
            </a:r>
            <a:br/>
            <a:r>
              <a:rPr/>
              <a:t>monteiro.felipe@cendara.edu</a:t>
            </a:r>
          </a:p>
          <a:p>
            <a:pPr lvl="0"/>
            <a:r>
              <a:rPr b="1"/>
              <a:t>Dr. Rachel D. Holt</a:t>
            </a:r>
            <a:br/>
            <a:r>
              <a:rPr i="1"/>
              <a:t>Associate Professor &amp; Department Chair, Comparative Politics</a:t>
            </a:r>
            <a:br/>
            <a:r>
              <a:rPr/>
              <a:t>holt.rachel@cendara.edu</a:t>
            </a:r>
          </a:p>
          <a:p>
            <a:pPr lvl="0"/>
            <a:r>
              <a:rPr b="1"/>
              <a:t>Prof. Vishal Anand</a:t>
            </a:r>
            <a:br/>
            <a:r>
              <a:rPr i="1"/>
              <a:t>Lecturer, Public Policy</a:t>
            </a:r>
            <a:br/>
            <a:r>
              <a:rPr/>
              <a:t>anand.vishal@cendara.edu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Sociology and Anthropology</a:t>
            </a:r>
          </a:p>
          <a:p>
            <a:pPr lvl="0"/>
            <a:r>
              <a:rPr b="1"/>
              <a:t>Dr. Mona Youssef</a:t>
            </a:r>
            <a:br/>
            <a:r>
              <a:rPr i="1"/>
              <a:t>Professor, Urban Sociology</a:t>
            </a:r>
            <a:br/>
            <a:r>
              <a:rPr/>
              <a:t>youssef.mona@cendara.edu</a:t>
            </a:r>
          </a:p>
          <a:p>
            <a:pPr lvl="0"/>
            <a:r>
              <a:rPr b="1"/>
              <a:t>Dr. Hugo van der Meer</a:t>
            </a:r>
            <a:br/>
            <a:r>
              <a:rPr i="1"/>
              <a:t>Associate Professor, Cultural Anthropology</a:t>
            </a:r>
            <a:br/>
            <a:r>
              <a:rPr/>
              <a:t>vandermeer.hugo@cendara.edu</a:t>
            </a:r>
          </a:p>
          <a:p>
            <a:pPr lvl="0"/>
            <a:r>
              <a:rPr b="1"/>
              <a:t>Dr. Elif Topal</a:t>
            </a:r>
            <a:br/>
            <a:r>
              <a:rPr i="1"/>
              <a:t>Assistant Professor, Social Change</a:t>
            </a:r>
            <a:br/>
            <a:r>
              <a:rPr/>
              <a:t>topal.elif@cendara.edu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Economics</a:t>
            </a:r>
          </a:p>
          <a:p>
            <a:pPr lvl="0"/>
            <a:r>
              <a:rPr b="1"/>
              <a:t>Dr. Zhiqiang Li</a:t>
            </a:r>
            <a:br/>
            <a:r>
              <a:rPr i="1"/>
              <a:t>Professor &amp; Department Chair, Macroeconomics</a:t>
            </a:r>
            <a:br/>
            <a:r>
              <a:rPr/>
              <a:t>lizhiqiang@cendara.edu</a:t>
            </a:r>
          </a:p>
          <a:p>
            <a:pPr lvl="0"/>
            <a:r>
              <a:rPr b="1"/>
              <a:t>Prof. Abigail F. Morgan</a:t>
            </a:r>
            <a:br/>
            <a:r>
              <a:rPr i="1"/>
              <a:t>Associate Professor, Econometrics</a:t>
            </a:r>
            <a:br/>
            <a:r>
              <a:rPr/>
              <a:t>morgan.abigail@cendara.edu</a:t>
            </a:r>
          </a:p>
          <a:p>
            <a:pPr lvl="0"/>
            <a:r>
              <a:rPr b="1"/>
              <a:t>Dr. Meral Polat</a:t>
            </a:r>
            <a:br/>
            <a:r>
              <a:rPr i="1"/>
              <a:t>Assistant Professor, International Economics</a:t>
            </a:r>
            <a:br/>
            <a:r>
              <a:rPr/>
              <a:t>polat.meral@cendara.edu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School of Business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Management</a:t>
            </a:r>
          </a:p>
          <a:p>
            <a:pPr lvl="0"/>
            <a:r>
              <a:rPr b="1"/>
              <a:t>Dr. Robert J. Ellison</a:t>
            </a:r>
            <a:br/>
            <a:r>
              <a:rPr i="1"/>
              <a:t>Professor, Strategic Management</a:t>
            </a:r>
            <a:br/>
            <a:r>
              <a:rPr/>
              <a:t>ellison.robert@cendara.edu</a:t>
            </a:r>
          </a:p>
          <a:p>
            <a:pPr lvl="0"/>
            <a:r>
              <a:rPr b="1"/>
              <a:t>Prof. Julia V. Ilunga</a:t>
            </a:r>
            <a:br/>
            <a:r>
              <a:rPr i="1"/>
              <a:t>Associate Professor, Organizational Behavior</a:t>
            </a:r>
            <a:br/>
            <a:r>
              <a:rPr/>
              <a:t>ilunga.julia@cendara.edu</a:t>
            </a:r>
          </a:p>
          <a:p>
            <a:pPr lvl="0"/>
            <a:r>
              <a:rPr b="1"/>
              <a:t>Dr. Gabriella Chang</a:t>
            </a:r>
            <a:br/>
            <a:r>
              <a:rPr i="1"/>
              <a:t>Assistant Professor, Entrepreneurship</a:t>
            </a:r>
            <a:br/>
            <a:r>
              <a:rPr/>
              <a:t>chang.gabriella@cendara.edu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Finance and Accounting</a:t>
            </a:r>
          </a:p>
          <a:p>
            <a:pPr lvl="0"/>
            <a:r>
              <a:rPr b="1"/>
              <a:t>Dr. Nathaniel Kwong</a:t>
            </a:r>
            <a:br/>
            <a:r>
              <a:rPr i="1"/>
              <a:t>Professor, Corporate Finance</a:t>
            </a:r>
            <a:br/>
            <a:r>
              <a:rPr/>
              <a:t>kwong.nathaniel@cendara.edu</a:t>
            </a:r>
          </a:p>
          <a:p>
            <a:pPr lvl="0"/>
            <a:r>
              <a:rPr b="1"/>
              <a:t>Prof. Emily Bird</a:t>
            </a:r>
            <a:br/>
            <a:r>
              <a:rPr i="1"/>
              <a:t>Associate Professor &amp; Department Chair, Accounting</a:t>
            </a:r>
            <a:br/>
            <a:r>
              <a:rPr/>
              <a:t>bird.emily@cendara.edu</a:t>
            </a:r>
          </a:p>
          <a:p>
            <a:pPr lvl="0"/>
            <a:r>
              <a:rPr b="1"/>
              <a:t>Dr. Igor Draganov</a:t>
            </a:r>
            <a:br/>
            <a:r>
              <a:rPr i="1"/>
              <a:t>Lecturer, Financial Markets</a:t>
            </a:r>
            <a:br/>
            <a:r>
              <a:rPr/>
              <a:t>draganov.igor@cendara.edu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Marketing</a:t>
            </a:r>
          </a:p>
          <a:p>
            <a:pPr lvl="0"/>
            <a:r>
              <a:rPr b="1"/>
              <a:t>Dr. Isabel Moretti</a:t>
            </a:r>
            <a:br/>
            <a:r>
              <a:rPr i="1"/>
              <a:t>Professor, Digital Marketing Strategy</a:t>
            </a:r>
            <a:br/>
            <a:r>
              <a:rPr/>
              <a:t>moretti.isabel@cendara.edu</a:t>
            </a:r>
          </a:p>
          <a:p>
            <a:pPr lvl="0"/>
            <a:r>
              <a:rPr b="1"/>
              <a:t>Prof. Sanjay Nambiar</a:t>
            </a:r>
            <a:br/>
            <a:r>
              <a:rPr i="1"/>
              <a:t>Assistant Professor, Brand Management</a:t>
            </a:r>
            <a:br/>
            <a:r>
              <a:rPr/>
              <a:t>nambiar.sanjay@cendara.edu</a:t>
            </a:r>
          </a:p>
          <a:p>
            <a:pPr lvl="0"/>
            <a:r>
              <a:rPr b="1"/>
              <a:t>Dr. Linda Verbeek</a:t>
            </a:r>
            <a:br/>
            <a:r>
              <a:rPr i="1"/>
              <a:t>Senior Lecturer, Consumer Behavior</a:t>
            </a:r>
            <a:br/>
            <a:r>
              <a:rPr/>
              <a:t>verbeek.linda@cendara.edu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Entrepreneurship</a:t>
            </a:r>
          </a:p>
          <a:p>
            <a:pPr lvl="0"/>
            <a:r>
              <a:rPr b="1"/>
              <a:t>Dr. Kayode Onwudachi</a:t>
            </a:r>
            <a:br/>
            <a:r>
              <a:rPr i="1"/>
              <a:t>Associate Professor &amp; Program Director</a:t>
            </a:r>
            <a:br/>
            <a:r>
              <a:rPr/>
              <a:t>onwudachi.kayode@cendara.edu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School of Education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Curriculum &amp; Instruction</a:t>
            </a:r>
          </a:p>
          <a:p>
            <a:pPr lvl="0"/>
            <a:r>
              <a:rPr b="1"/>
              <a:t>Dr. Tess Raymond</a:t>
            </a:r>
            <a:br/>
            <a:r>
              <a:rPr i="1"/>
              <a:t>Professor &amp; Department Chair, Curriculum Theory</a:t>
            </a:r>
            <a:br/>
            <a:r>
              <a:rPr/>
              <a:t>raymond.tess@cendara.edu</a:t>
            </a:r>
          </a:p>
          <a:p>
            <a:pPr lvl="0"/>
            <a:r>
              <a:rPr b="1"/>
              <a:t>Dr. Peter Mensah</a:t>
            </a:r>
            <a:br/>
            <a:r>
              <a:rPr i="1"/>
              <a:t>Associate Professor, Instructional Design</a:t>
            </a:r>
            <a:br/>
            <a:r>
              <a:rPr/>
              <a:t>mensah.peter@cendara.edu</a:t>
            </a:r>
          </a:p>
          <a:p>
            <a:pPr lvl="0"/>
            <a:r>
              <a:rPr b="1"/>
              <a:t>Prof. Danielle Hoffman</a:t>
            </a:r>
            <a:br/>
            <a:r>
              <a:rPr i="1"/>
              <a:t>Lecturer, Educational Technology</a:t>
            </a:r>
            <a:br/>
            <a:r>
              <a:rPr/>
              <a:t>hoffman.danielle@cendara.edu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Special Education</a:t>
            </a:r>
          </a:p>
          <a:p>
            <a:pPr lvl="0"/>
            <a:r>
              <a:rPr b="1"/>
              <a:t>Dr. Camila Sandoval</a:t>
            </a:r>
            <a:br/>
            <a:r>
              <a:rPr i="1"/>
              <a:t>Professor, Inclusive Education</a:t>
            </a:r>
            <a:br/>
            <a:r>
              <a:rPr/>
              <a:t>sandoval.camila@cendara.edu</a:t>
            </a:r>
          </a:p>
          <a:p>
            <a:pPr lvl="0"/>
            <a:r>
              <a:rPr b="1"/>
              <a:t>Dr. Julius Atkinson</a:t>
            </a:r>
            <a:br/>
            <a:r>
              <a:rPr i="1"/>
              <a:t>Associate Professor, Learning Disabilities</a:t>
            </a:r>
            <a:br/>
            <a:r>
              <a:rPr/>
              <a:t>atkinson.julius@cendara.edu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Educational Leadership</a:t>
            </a:r>
          </a:p>
          <a:p>
            <a:pPr lvl="0"/>
            <a:r>
              <a:rPr b="1"/>
              <a:t>Dr. Sonia Alvarez</a:t>
            </a:r>
            <a:br/>
            <a:r>
              <a:rPr i="1"/>
              <a:t>Professor &amp; Department Chair, Leadership in Education</a:t>
            </a:r>
            <a:br/>
            <a:r>
              <a:rPr/>
              <a:t>alvarez.sonia@cendara.edu</a:t>
            </a:r>
          </a:p>
          <a:p>
            <a:pPr lvl="0"/>
            <a:r>
              <a:rPr b="1"/>
              <a:t>Prof. Lars Nyström</a:t>
            </a:r>
            <a:br/>
            <a:r>
              <a:rPr i="1"/>
              <a:t>Assistant Professor, School Administration</a:t>
            </a:r>
            <a:br/>
            <a:r>
              <a:rPr/>
              <a:t>nystrom.lars@cendara.edu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School of Health Sciences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Nursing</a:t>
            </a:r>
          </a:p>
          <a:p>
            <a:pPr lvl="0"/>
            <a:r>
              <a:rPr b="1"/>
              <a:t>Dr. Eva B. Andersson</a:t>
            </a:r>
            <a:br/>
            <a:r>
              <a:rPr i="1"/>
              <a:t>Professor &amp; Department Chair, Evidence-Based Nursing</a:t>
            </a:r>
            <a:br/>
            <a:r>
              <a:rPr/>
              <a:t>andersson.eva@cendara.edu</a:t>
            </a:r>
          </a:p>
          <a:p>
            <a:pPr lvl="0"/>
            <a:r>
              <a:rPr b="1"/>
              <a:t>Prof. Jasmine Ndlovu</a:t>
            </a:r>
            <a:br/>
            <a:r>
              <a:rPr i="1"/>
              <a:t>Associate Professor, Clinical Simulations</a:t>
            </a:r>
            <a:br/>
            <a:r>
              <a:rPr/>
              <a:t>ndlovu.jasmine@cendara.edu</a:t>
            </a:r>
          </a:p>
          <a:p>
            <a:pPr lvl="0"/>
            <a:r>
              <a:rPr b="1"/>
              <a:t>Dr. Thomas Finlay</a:t>
            </a:r>
            <a:br/>
            <a:r>
              <a:rPr i="1"/>
              <a:t>Lecturer, Pediatric Nursing</a:t>
            </a:r>
            <a:br/>
            <a:r>
              <a:rPr/>
              <a:t>finlay.thomas@cendara.edu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Public Health</a:t>
            </a:r>
          </a:p>
          <a:p>
            <a:pPr lvl="0"/>
            <a:r>
              <a:rPr b="1"/>
              <a:t>Dr. Minh Chau Tran</a:t>
            </a:r>
            <a:br/>
            <a:r>
              <a:rPr i="1"/>
              <a:t>Professor, Epidemiology</a:t>
            </a:r>
            <a:br/>
            <a:r>
              <a:rPr/>
              <a:t>tran.minhchau@cendara.edu</a:t>
            </a:r>
          </a:p>
          <a:p>
            <a:pPr lvl="0"/>
            <a:r>
              <a:rPr b="1"/>
              <a:t>Dr. Sofia Papadakis</a:t>
            </a:r>
            <a:br/>
            <a:r>
              <a:rPr i="1"/>
              <a:t>Associate Professor, Health Policy</a:t>
            </a:r>
            <a:br/>
            <a:r>
              <a:rPr/>
              <a:t>papadakis.sofia@cendara.edu</a:t>
            </a:r>
          </a:p>
          <a:p>
            <a:pPr lvl="0"/>
            <a:r>
              <a:rPr b="1"/>
              <a:t>Prof. Lara Grobler</a:t>
            </a:r>
            <a:br/>
            <a:r>
              <a:rPr i="1"/>
              <a:t>Assistant Professor, Community Health</a:t>
            </a:r>
            <a:br/>
            <a:r>
              <a:rPr/>
              <a:t>grobler.lara@cendara.edu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Department of Nutrition and Dietetics</a:t>
            </a:r>
          </a:p>
          <a:p>
            <a:pPr lvl="0"/>
            <a:r>
              <a:rPr b="1"/>
              <a:t>Dr. Fiona McGrath</a:t>
            </a:r>
            <a:br/>
            <a:r>
              <a:rPr i="1"/>
              <a:t>Professor &amp; Program Director</a:t>
            </a:r>
            <a:br/>
            <a:r>
              <a:rPr/>
              <a:t>mcgrath.fiona@cendara.edu</a:t>
            </a:r>
          </a:p>
          <a:p>
            <a:pPr lvl="0"/>
            <a:r>
              <a:rPr b="1"/>
              <a:t>Dr. Samiha Al-Khatib</a:t>
            </a:r>
            <a:br/>
            <a:r>
              <a:rPr i="1"/>
              <a:t>Associate Professor, Clinical Nutrition</a:t>
            </a:r>
            <a:br/>
            <a:r>
              <a:rPr/>
              <a:t>alkhatib.samiha@cendara.edu</a:t>
            </a:r>
          </a:p>
          <a:p>
            <a:pPr lvl="0"/>
            <a:r>
              <a:rPr b="1"/>
              <a:t>Prof. Renata Estevez</a:t>
            </a:r>
            <a:br/>
            <a:r>
              <a:rPr i="1"/>
              <a:t>Lecturer, Food Science</a:t>
            </a:r>
            <a:br/>
            <a:r>
              <a:rPr/>
              <a:t>estevez.renata@cendara.edu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all general inquiries, contact the Office of the Provost at provost@cendara.edu. Full faculty biographies and research profiles are available at </a:t>
            </a:r>
            <a:r>
              <a:rPr>
                <a:hlinkClick r:id="rId2"/>
              </a:rPr>
              <a:t>faculty.cendara.edu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2025-07-29T15:06:27Z</dcterms:created>
  <dcterms:modified xsi:type="dcterms:W3CDTF">2025-07-29T15:06:27Z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