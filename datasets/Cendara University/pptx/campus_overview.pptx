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 Campus Overview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Founded in 1972, Cendara University spans a 180-acre campus nestled on the eastern edge of Windham City. The campus combines modern innovation with a respect for natural landscapes, offering an environment conducive to academic excellence and community engagement.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Physical Description of Facilities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Academic Buildings</a:t>
            </a:r>
          </a:p>
          <a:p>
            <a:pPr lvl="0"/>
            <a:r>
              <a:rPr b="1"/>
              <a:t>Morgan Academic Complex</a:t>
            </a:r>
            <a:br/>
            <a:r>
              <a:rPr i="1"/>
              <a:t>Constructed:</a:t>
            </a:r>
            <a:r>
              <a:rPr/>
              <a:t> 1974, Renovated 2017</a:t>
            </a:r>
            <a:br/>
            <a:r>
              <a:rPr i="1"/>
              <a:t>Description:</a:t>
            </a:r>
            <a:r>
              <a:rPr/>
              <a:t> Three interconnected wings house 60 classrooms, 7 computer labs, and 15 faculty offices. The complex supports the College of Arts &amp; Humanities and features multimedia-enabled lecture halls (maximum capacity: 250 students each).</a:t>
            </a:r>
          </a:p>
          <a:p>
            <a:pPr lvl="0"/>
            <a:r>
              <a:rPr b="1"/>
              <a:t>Rosenfeld Science Center</a:t>
            </a:r>
            <a:br/>
            <a:r>
              <a:rPr i="1"/>
              <a:t>Constructed:</a:t>
            </a:r>
            <a:r>
              <a:rPr/>
              <a:t> 1983, Expanded 2015</a:t>
            </a:r>
            <a:br/>
            <a:r>
              <a:rPr i="1"/>
              <a:t>Description:</a:t>
            </a:r>
            <a:r>
              <a:rPr/>
              <a:t> A four-story structure dedicated to the Departments of Biology, Chemistry, and Environmental Sciences. Facilities include:</a:t>
            </a:r>
          </a:p>
          <a:p>
            <a:pPr lvl="1"/>
            <a:r>
              <a:rPr/>
              <a:t>8 research laboratories (BSL-2 and chemistry wet labs)</a:t>
            </a:r>
          </a:p>
          <a:p>
            <a:pPr lvl="1"/>
            <a:r>
              <a:rPr/>
              <a:t>2 lecture auditoriums (seating 160 and 120)</a:t>
            </a:r>
          </a:p>
          <a:p>
            <a:pPr lvl="1"/>
            <a:r>
              <a:rPr/>
              <a:t>A rooftop greenhouse (2,500 sq. ft.)</a:t>
            </a:r>
          </a:p>
          <a:p>
            <a:pPr lvl="1"/>
            <a:r>
              <a:rPr/>
              <a:t>A microscopy imaging core</a:t>
            </a:r>
          </a:p>
          <a:p>
            <a:pPr lvl="0"/>
            <a:r>
              <a:rPr b="1"/>
              <a:t>Helena L. Martin Engineering Hall</a:t>
            </a:r>
            <a:br/>
            <a:r>
              <a:rPr i="1"/>
              <a:t>Opened:</a:t>
            </a:r>
            <a:r>
              <a:rPr/>
              <a:t> 2005</a:t>
            </a:r>
            <a:br/>
            <a:r>
              <a:rPr i="1"/>
              <a:t>Description:</a:t>
            </a:r>
            <a:r>
              <a:rPr/>
              <a:t> Features workshop spaces, prototyping rooms, 12 teaching labs, and a design center supporting civil, electrical, and mechanical engineering programs.</a:t>
            </a:r>
          </a:p>
          <a:p>
            <a:pPr lvl="0"/>
            <a:r>
              <a:rPr b="1"/>
              <a:t>Mendell Business Pavilion</a:t>
            </a:r>
            <a:br/>
            <a:r>
              <a:rPr i="1"/>
              <a:t>Constructed:</a:t>
            </a:r>
            <a:r>
              <a:rPr/>
              <a:t> 1991</a:t>
            </a:r>
            <a:br/>
            <a:r>
              <a:rPr i="1"/>
              <a:t>Highlights:</a:t>
            </a:r>
          </a:p>
          <a:p>
            <a:pPr lvl="1"/>
            <a:r>
              <a:rPr/>
              <a:t>10 seminar rooms with tiered seating</a:t>
            </a:r>
            <a:br/>
          </a:p>
          <a:p>
            <a:pPr lvl="1"/>
            <a:r>
              <a:rPr/>
              <a:t>Real-time financial data lab</a:t>
            </a:r>
            <a:br/>
          </a:p>
          <a:p>
            <a:pPr lvl="1"/>
            <a:r>
              <a:rPr/>
              <a:t>Entrepreneurship incubator suite (capacity: 40 student teams)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Libraries</a:t>
            </a:r>
          </a:p>
          <a:p>
            <a:pPr lvl="0"/>
            <a:r>
              <a:rPr b="1"/>
              <a:t>Samuelson Library</a:t>
            </a:r>
            <a:br/>
            <a:r>
              <a:rPr i="1"/>
              <a:t>Size:</a:t>
            </a:r>
            <a:r>
              <a:rPr/>
              <a:t> 150,000 volumes, 23,000 sq. ft.</a:t>
            </a:r>
            <a:br/>
            <a:r>
              <a:rPr i="1"/>
              <a:t>Facilities:</a:t>
            </a:r>
          </a:p>
          <a:p>
            <a:pPr lvl="1"/>
            <a:r>
              <a:rPr/>
              <a:t>Three floors of print collections &amp; digital media rooms</a:t>
            </a:r>
          </a:p>
          <a:p>
            <a:pPr lvl="1"/>
            <a:r>
              <a:rPr/>
              <a:t>200 personal study carrels and 24 group study rooms</a:t>
            </a:r>
          </a:p>
          <a:p>
            <a:pPr lvl="1"/>
            <a:r>
              <a:rPr/>
              <a:t>Makerspace (3D printers, VR suites)</a:t>
            </a:r>
          </a:p>
          <a:p>
            <a:pPr lvl="1"/>
            <a:r>
              <a:rPr/>
              <a:t>Café and quiet reading atrium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Residential Life</a:t>
            </a:r>
          </a:p>
          <a:p>
            <a:pPr lvl="0"/>
            <a:r>
              <a:rPr b="1"/>
              <a:t>Maple Residence Hall</a:t>
            </a:r>
            <a:br/>
            <a:r>
              <a:rPr i="1"/>
              <a:t>Capacity</a:t>
            </a:r>
            <a:r>
              <a:rPr/>
              <a:t>: 385 undergraduate students</a:t>
            </a:r>
            <a:br/>
            <a:r>
              <a:rPr i="1"/>
              <a:t>Structure</a:t>
            </a:r>
            <a:r>
              <a:rPr/>
              <a:t>: Eight floors, co-ed, suite-style living with communal kitchens and lounges per level</a:t>
            </a:r>
          </a:p>
          <a:p>
            <a:pPr lvl="0"/>
            <a:r>
              <a:rPr b="1"/>
              <a:t>Sequoia Apartments</a:t>
            </a:r>
            <a:br/>
            <a:r>
              <a:rPr i="1"/>
              <a:t>Capacity</a:t>
            </a:r>
            <a:r>
              <a:rPr/>
              <a:t>: 164 postgraduates and family housing units (2- and 4-bedroom units)</a:t>
            </a:r>
            <a:br/>
            <a:r>
              <a:rPr i="1"/>
              <a:t>Amenities</a:t>
            </a:r>
            <a:r>
              <a:rPr/>
              <a:t>: Onsite laundry, daycare facility, and fitness center</a:t>
            </a:r>
          </a:p>
          <a:p>
            <a:pPr lvl="0"/>
            <a:r>
              <a:rPr b="1"/>
              <a:t>Aspen Commons</a:t>
            </a:r>
            <a:br/>
            <a:r>
              <a:rPr i="1"/>
              <a:t>Capacity</a:t>
            </a:r>
            <a:r>
              <a:rPr/>
              <a:t>: 190 first-year residents</a:t>
            </a:r>
            <a:br/>
            <a:r>
              <a:rPr i="1"/>
              <a:t>Features</a:t>
            </a:r>
            <a:r>
              <a:rPr/>
              <a:t>: Double rooms, learning communities, faculty-in-residence apartment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Dining Facilities</a:t>
            </a:r>
          </a:p>
          <a:p>
            <a:pPr lvl="0"/>
            <a:r>
              <a:rPr b="1"/>
              <a:t>The Grove Dining Hall</a:t>
            </a:r>
            <a:br/>
            <a:r>
              <a:rPr i="1"/>
              <a:t>Seating</a:t>
            </a:r>
            <a:r>
              <a:rPr/>
              <a:t>: 475</a:t>
            </a:r>
            <a:br/>
            <a:r>
              <a:rPr i="1"/>
              <a:t>Description</a:t>
            </a:r>
            <a:r>
              <a:rPr/>
              <a:t>: Central dining area offering all-day buffet, vegan and international stations, and late-night café</a:t>
            </a:r>
          </a:p>
          <a:p>
            <a:pPr lvl="0"/>
            <a:r>
              <a:rPr b="1"/>
              <a:t>Market Street Café</a:t>
            </a:r>
            <a:br/>
            <a:r>
              <a:rPr i="1"/>
              <a:t>Location</a:t>
            </a:r>
            <a:r>
              <a:rPr/>
              <a:t>: Student Center</a:t>
            </a:r>
            <a:br/>
            <a:r>
              <a:rPr i="1"/>
              <a:t>Options</a:t>
            </a:r>
            <a:r>
              <a:rPr/>
              <a:t>: Bistro fare, grab-and-go, espresso bar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Student Life &amp; Recreation</a:t>
            </a:r>
          </a:p>
          <a:p>
            <a:pPr lvl="0"/>
            <a:r>
              <a:rPr b="1"/>
              <a:t>Student Union Center</a:t>
            </a:r>
            <a:br/>
            <a:r>
              <a:rPr i="1"/>
              <a:t>Size</a:t>
            </a:r>
            <a:r>
              <a:rPr/>
              <a:t>: 48,000 sq. ft.</a:t>
            </a:r>
            <a:br/>
            <a:r>
              <a:rPr i="1"/>
              <a:t>Facilities</a:t>
            </a:r>
            <a:r>
              <a:rPr/>
              <a:t>:</a:t>
            </a:r>
          </a:p>
          <a:p>
            <a:pPr lvl="1"/>
            <a:r>
              <a:rPr/>
              <a:t>400-person auditorium</a:t>
            </a:r>
            <a:br/>
          </a:p>
          <a:p>
            <a:pPr lvl="1"/>
            <a:r>
              <a:rPr/>
              <a:t>Student organization suites</a:t>
            </a:r>
            <a:br/>
          </a:p>
          <a:p>
            <a:pPr lvl="1"/>
            <a:r>
              <a:rPr/>
              <a:t>Meeting rooms</a:t>
            </a:r>
            <a:br/>
          </a:p>
          <a:p>
            <a:pPr lvl="1"/>
            <a:r>
              <a:rPr/>
              <a:t>Student legal services</a:t>
            </a:r>
          </a:p>
          <a:p>
            <a:pPr lvl="0"/>
            <a:r>
              <a:rPr b="1"/>
              <a:t>Dalton Fitness &amp; Recreation Complex</a:t>
            </a:r>
            <a:br/>
            <a:r>
              <a:rPr i="1"/>
              <a:t>Features</a:t>
            </a:r>
            <a:r>
              <a:rPr/>
              <a:t>:</a:t>
            </a:r>
          </a:p>
          <a:p>
            <a:pPr lvl="1"/>
            <a:r>
              <a:rPr/>
              <a:t>Olympic-size swimming pool</a:t>
            </a:r>
            <a:br/>
          </a:p>
          <a:p>
            <a:pPr lvl="1"/>
            <a:r>
              <a:rPr/>
              <a:t>Indoor climbing wall</a:t>
            </a:r>
            <a:br/>
          </a:p>
          <a:p>
            <a:pPr lvl="1"/>
            <a:r>
              <a:rPr/>
              <a:t>Three multicourt gyms</a:t>
            </a:r>
            <a:br/>
          </a:p>
          <a:p>
            <a:pPr lvl="1"/>
            <a:r>
              <a:rPr/>
              <a:t>Cardio &amp; weight areas</a:t>
            </a:r>
            <a:br/>
          </a:p>
          <a:p>
            <a:pPr lvl="1"/>
            <a:r>
              <a:rPr/>
              <a:t>Fitness classrooms</a:t>
            </a:r>
            <a:br/>
          </a:p>
          <a:p>
            <a:pPr lvl="1"/>
            <a:r>
              <a:rPr/>
              <a:t>Outdoor sand volleyball courts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Arts &amp; Performance Spaces</a:t>
            </a:r>
          </a:p>
          <a:p>
            <a:pPr lvl="0"/>
            <a:r>
              <a:rPr b="1"/>
              <a:t>Elena Capri Theater</a:t>
            </a:r>
            <a:br/>
            <a:r>
              <a:rPr i="1"/>
              <a:t>Capacity</a:t>
            </a:r>
            <a:r>
              <a:rPr/>
              <a:t>: 510-seat auditorium for university and community performances</a:t>
            </a:r>
          </a:p>
          <a:p>
            <a:pPr lvl="0"/>
            <a:r>
              <a:rPr b="1"/>
              <a:t>Fine Arts Studios</a:t>
            </a:r>
            <a:br/>
            <a:r>
              <a:rPr i="1"/>
              <a:t>Facilities</a:t>
            </a:r>
            <a:r>
              <a:rPr/>
              <a:t>: Drawing, ceramics, printmaking, and digital media labs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Athletics</a:t>
            </a:r>
          </a:p>
          <a:p>
            <a:pPr lvl="0"/>
            <a:r>
              <a:rPr b="1"/>
              <a:t>Pinecrest Stadium</a:t>
            </a:r>
            <a:br/>
            <a:r>
              <a:rPr i="1"/>
              <a:t>Seating</a:t>
            </a:r>
            <a:r>
              <a:rPr/>
              <a:t>: 4,200</a:t>
            </a:r>
            <a:br/>
            <a:r>
              <a:rPr i="1"/>
              <a:t>Primary Uses</a:t>
            </a:r>
            <a:r>
              <a:rPr/>
              <a:t>: Soccer, track and field</a:t>
            </a:r>
          </a:p>
          <a:p>
            <a:pPr lvl="0"/>
            <a:r>
              <a:rPr b="1"/>
              <a:t>Varsity Sports Hall</a:t>
            </a:r>
            <a:br/>
            <a:r>
              <a:rPr i="1"/>
              <a:t>Facilities</a:t>
            </a:r>
            <a:r>
              <a:rPr/>
              <a:t>: Locker rooms, training suites, and offices for 11 varsity teams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Grounds and Outdoor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Cendara Arboretum</a:t>
            </a:r>
            <a:r>
              <a:rPr/>
              <a:t> (20 acres): Managed collection of native and exotic plants, walking trails, and an outdoor classroom amphitheater.</a:t>
            </a:r>
          </a:p>
          <a:p>
            <a:pPr lvl="0"/>
            <a:r>
              <a:rPr b="1"/>
              <a:t>East Lake</a:t>
            </a:r>
            <a:r>
              <a:rPr/>
              <a:t>: Man-made, 3-acre lake with surrounding picnic and study areas.</a:t>
            </a:r>
          </a:p>
          <a:p>
            <a:pPr lvl="0"/>
            <a:r>
              <a:rPr b="1"/>
              <a:t>Reflection Garden</a:t>
            </a:r>
            <a:r>
              <a:rPr/>
              <a:t>: Dedicated quiet zone adjacent to Samuelson Library, used for meditation and outdoor study.</a:t>
            </a:r>
          </a:p>
          <a:p>
            <a:pPr lvl="0"/>
            <a:r>
              <a:rPr b="1"/>
              <a:t>Bike &amp; Pedestrian Paths</a:t>
            </a:r>
            <a:r>
              <a:rPr/>
              <a:t>: Five miles of interconnected, ADA-accessible trails linking all campus sectors.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Infrastructure Capacity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Facility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Number/Capacity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Utilities &amp; Technologies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Halls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(60-250 seats each)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Smart boards, lecture-capture, audio systems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General Classrooms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Wi-Fi enabled; 75% have projection tech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Labs (Research &amp; Teaching)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Fume hoods, BSL-2/BSL-1 compliant, 24/7 HVAC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Library Study Seats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Power outlets, high-speed internet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Student Housing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1,095 beds 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Ethernet, laundry per hall, CCTV security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Dining Capacity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690 simultaneous diners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Food allergen monitoring, sustainability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Parking Spaces (vehicular)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1,780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 charging: 54 stations, LED-lit, patrolled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Bike Racks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990 spaces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Covered and open racks throughout campus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Wireless Access Points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420+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Dual-band, upgraded 2022 for high bandwidth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Energy:</a:t>
            </a:r>
            <a:r>
              <a:rPr/>
              <a:t> Campus-wide solar generation (18% capacity), backup diesel generators for mission-critical infrastructure.</a:t>
            </a:r>
          </a:p>
          <a:p>
            <a:pPr lvl="0" indent="0" marL="0">
              <a:buNone/>
            </a:pPr>
            <a:r>
              <a:rPr b="1"/>
              <a:t>Security:</a:t>
            </a:r>
            <a:r>
              <a:rPr/>
              <a:t> Card-access system on all exterior doors, 24/7 monitored emergency phone system, and campus police substation.</a:t>
            </a:r>
          </a:p>
          <a:p>
            <a:pPr lvl="0" indent="0" marL="0">
              <a:buNone/>
            </a:pPr>
            <a:r>
              <a:rPr b="1"/>
              <a:t>Accessibility:</a:t>
            </a:r>
            <a:r>
              <a:rPr/>
              <a:t> All academic and residential buildings are ADA-compliant; tactile maps available at key locations.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Recent and Planned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i="1"/>
              <a:t>2023</a:t>
            </a:r>
            <a:r>
              <a:rPr/>
              <a:t>: Completion of the GreenTech Building (LEED Platinum, houses Environmental Sustainability Programs)</a:t>
            </a:r>
          </a:p>
          <a:p>
            <a:pPr lvl="0"/>
            <a:r>
              <a:rPr i="1"/>
              <a:t>2024</a:t>
            </a:r>
            <a:r>
              <a:rPr/>
              <a:t>: Expansion of outdoor Wi-Fi coverage and replacement of all campus lighting with LED fixtures</a:t>
            </a:r>
          </a:p>
          <a:p>
            <a:pPr lvl="0"/>
            <a:r>
              <a:rPr i="1"/>
              <a:t>2025</a:t>
            </a:r>
            <a:r>
              <a:rPr/>
              <a:t>: Planned construction of the Dr. Maya Singh Health and Wellness Center (mental health, counseling, medical clinic)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Cendara University’s campus infrastructure supports a thriving academic and extracurricular community, prioritizing both technological advancement and sustainability in all future developments.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2025-07-29T15:04:14Z</dcterms:created>
  <dcterms:modified xsi:type="dcterms:W3CDTF">2025-07-29T15:04:14Z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