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cendara.edu/campusmap"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Cendara University Campus Map Guide</a:t>
            </a:r>
          </a:p>
        </p:txBody>
      </p:sp>
      <p:sp>
        <p:nvSpPr>
          <p:cNvPr id="3" name="Content Placeholder 2"/>
          <p:cNvSpPr>
            <a:spLocks noGrp="1"/>
          </p:cNvSpPr>
          <p:nvPr>
            <p:ph idx="1"/>
          </p:nvPr>
        </p:nvSpPr>
        <p:spPr/>
        <p:txBody>
          <a:bodyPr/>
          <a:lstStyle/>
          <a:p>
            <a:pPr lvl="0" indent="0" marL="0">
              <a:buNone/>
            </a:pPr>
            <a:r>
              <a:rPr/>
              <a:t>Welcome to Cendara University! This guide provides a detailed overview of our main campus, highlighting building locations, parking areas, emergency stations, and essential facilities. For your convenience, refer to the descriptions below to navigate and familiarize yourself with campus resources.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 Academic Buildings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Name</a:t>
                      </a:r>
                    </a:p>
                  </a:txBody>
                  <a:tcPr/>
                </a:tc>
                <a:tc>
                  <a:txBody>
                    <a:bodyPr/>
                    <a:lstStyle/>
                    <a:p>
                      <a:pPr lvl="0" indent="0" marL="0">
                        <a:buNone/>
                      </a:pPr>
                      <a:r>
                        <a:rPr/>
                        <a:t>Abbreviation</a:t>
                      </a:r>
                    </a:p>
                  </a:txBody>
                  <a:tcPr/>
                </a:tc>
                <a:tc>
                  <a:txBody>
                    <a:bodyPr/>
                    <a:lstStyle/>
                    <a:p>
                      <a:pPr lvl="0" indent="0" marL="0">
                        <a:buNone/>
                      </a:pPr>
                      <a:r>
                        <a:rPr/>
                        <a:t>Location</a:t>
                      </a:r>
                    </a:p>
                  </a:txBody>
                  <a:tcPr/>
                </a:tc>
                <a:tc>
                  <a:txBody>
                    <a:bodyPr/>
                    <a:lstStyle/>
                    <a:p>
                      <a:pPr lvl="0" indent="0" marL="0">
                        <a:buNone/>
                      </a:pPr>
                      <a:r>
                        <a:rPr/>
                        <a:t>Departments/Offices</a:t>
                      </a:r>
                    </a:p>
                  </a:txBody>
                  <a:tcPr/>
                </a:tc>
              </a:tr>
              <a:tr h="0">
                <a:tc>
                  <a:txBody>
                    <a:bodyPr/>
                    <a:lstStyle/>
                    <a:p>
                      <a:pPr lvl="0" indent="0" marL="0">
                        <a:buNone/>
                      </a:pPr>
                      <a:r>
                        <a:rPr/>
                        <a:t>Ivory Academic Hall</a:t>
                      </a:r>
                    </a:p>
                  </a:txBody>
                </a:tc>
                <a:tc>
                  <a:txBody>
                    <a:bodyPr/>
                    <a:lstStyle/>
                    <a:p>
                      <a:pPr lvl="0" indent="0" marL="0">
                        <a:buNone/>
                      </a:pPr>
                      <a:r>
                        <a:rPr/>
                        <a:t>IVH</a:t>
                      </a:r>
                    </a:p>
                  </a:txBody>
                </a:tc>
                <a:tc>
                  <a:txBody>
                    <a:bodyPr/>
                    <a:lstStyle/>
                    <a:p>
                      <a:pPr lvl="0" indent="0" marL="0">
                        <a:buNone/>
                      </a:pPr>
                      <a:r>
                        <a:rPr/>
                        <a:t>Central Quad</a:t>
                      </a:r>
                    </a:p>
                  </a:txBody>
                </a:tc>
                <a:tc>
                  <a:txBody>
                    <a:bodyPr/>
                    <a:lstStyle/>
                    <a:p>
                      <a:pPr lvl="0" indent="0" marL="0">
                        <a:buNone/>
                      </a:pPr>
                      <a:r>
                        <a:rPr/>
                        <a:t>Mathematics, Philosophy, Academic Advising</a:t>
                      </a:r>
                    </a:p>
                  </a:txBody>
                </a:tc>
              </a:tr>
              <a:tr h="0">
                <a:tc>
                  <a:txBody>
                    <a:bodyPr/>
                    <a:lstStyle/>
                    <a:p>
                      <a:pPr lvl="0" indent="0" marL="0">
                        <a:buNone/>
                      </a:pPr>
                      <a:r>
                        <a:rPr/>
                        <a:t>Harrow Science Complex</a:t>
                      </a:r>
                    </a:p>
                  </a:txBody>
                </a:tc>
                <a:tc>
                  <a:txBody>
                    <a:bodyPr/>
                    <a:lstStyle/>
                    <a:p>
                      <a:pPr lvl="0" indent="0" marL="0">
                        <a:buNone/>
                      </a:pPr>
                      <a:r>
                        <a:rPr/>
                        <a:t>HSC</a:t>
                      </a:r>
                    </a:p>
                  </a:txBody>
                </a:tc>
                <a:tc>
                  <a:txBody>
                    <a:bodyPr/>
                    <a:lstStyle/>
                    <a:p>
                      <a:pPr lvl="0" indent="0" marL="0">
                        <a:buNone/>
                      </a:pPr>
                      <a:r>
                        <a:rPr/>
                        <a:t>Science Drive</a:t>
                      </a:r>
                    </a:p>
                  </a:txBody>
                </a:tc>
                <a:tc>
                  <a:txBody>
                    <a:bodyPr/>
                    <a:lstStyle/>
                    <a:p>
                      <a:pPr lvl="0" indent="0" marL="0">
                        <a:buNone/>
                      </a:pPr>
                      <a:r>
                        <a:rPr/>
                        <a:t>Biology, Chemistry, Physics, Science Labs</a:t>
                      </a:r>
                    </a:p>
                  </a:txBody>
                </a:tc>
              </a:tr>
              <a:tr h="0">
                <a:tc>
                  <a:txBody>
                    <a:bodyPr/>
                    <a:lstStyle/>
                    <a:p>
                      <a:pPr lvl="0" indent="0" marL="0">
                        <a:buNone/>
                      </a:pPr>
                      <a:r>
                        <a:rPr/>
                        <a:t>Calderwood Engineering Center</a:t>
                      </a:r>
                    </a:p>
                  </a:txBody>
                </a:tc>
                <a:tc>
                  <a:txBody>
                    <a:bodyPr/>
                    <a:lstStyle/>
                    <a:p>
                      <a:pPr lvl="0" indent="0" marL="0">
                        <a:buNone/>
                      </a:pPr>
                      <a:r>
                        <a:rPr/>
                        <a:t>CEC</a:t>
                      </a:r>
                    </a:p>
                  </a:txBody>
                </a:tc>
                <a:tc>
                  <a:txBody>
                    <a:bodyPr/>
                    <a:lstStyle/>
                    <a:p>
                      <a:pPr lvl="0" indent="0" marL="0">
                        <a:buNone/>
                      </a:pPr>
                      <a:r>
                        <a:rPr/>
                        <a:t>West Avenue</a:t>
                      </a:r>
                    </a:p>
                  </a:txBody>
                </a:tc>
                <a:tc>
                  <a:txBody>
                    <a:bodyPr/>
                    <a:lstStyle/>
                    <a:p>
                      <a:pPr lvl="0" indent="0" marL="0">
                        <a:buNone/>
                      </a:pPr>
                      <a:r>
                        <a:rPr/>
                        <a:t>Civil, Mechanical, Electrical Engineering</a:t>
                      </a:r>
                    </a:p>
                  </a:txBody>
                </a:tc>
              </a:tr>
              <a:tr h="0">
                <a:tc>
                  <a:txBody>
                    <a:bodyPr/>
                    <a:lstStyle/>
                    <a:p>
                      <a:pPr lvl="0" indent="0" marL="0">
                        <a:buNone/>
                      </a:pPr>
                      <a:r>
                        <a:rPr/>
                        <a:t>Sylvan Library &amp; Archives</a:t>
                      </a:r>
                    </a:p>
                  </a:txBody>
                </a:tc>
                <a:tc>
                  <a:txBody>
                    <a:bodyPr/>
                    <a:lstStyle/>
                    <a:p>
                      <a:pPr lvl="0" indent="0" marL="0">
                        <a:buNone/>
                      </a:pPr>
                      <a:r>
                        <a:rPr/>
                        <a:t>SLA</a:t>
                      </a:r>
                    </a:p>
                  </a:txBody>
                </a:tc>
                <a:tc>
                  <a:txBody>
                    <a:bodyPr/>
                    <a:lstStyle/>
                    <a:p>
                      <a:pPr lvl="0" indent="0" marL="0">
                        <a:buNone/>
                      </a:pPr>
                      <a:r>
                        <a:rPr/>
                        <a:t>Library Lane</a:t>
                      </a:r>
                    </a:p>
                  </a:txBody>
                </a:tc>
                <a:tc>
                  <a:txBody>
                    <a:bodyPr/>
                    <a:lstStyle/>
                    <a:p>
                      <a:pPr lvl="0" indent="0" marL="0">
                        <a:buNone/>
                      </a:pPr>
                      <a:r>
                        <a:rPr/>
                        <a:t>Library Services, Special Collections, Study Spaces</a:t>
                      </a:r>
                    </a:p>
                  </a:txBody>
                </a:tc>
              </a:tr>
              <a:tr h="0">
                <a:tc>
                  <a:txBody>
                    <a:bodyPr/>
                    <a:lstStyle/>
                    <a:p>
                      <a:pPr lvl="0" indent="0" marL="0">
                        <a:buNone/>
                      </a:pPr>
                      <a:r>
                        <a:rPr/>
                        <a:t>Lorraine Arts &amp; Media Building</a:t>
                      </a:r>
                    </a:p>
                  </a:txBody>
                </a:tc>
                <a:tc>
                  <a:txBody>
                    <a:bodyPr/>
                    <a:lstStyle/>
                    <a:p>
                      <a:pPr lvl="0" indent="0" marL="0">
                        <a:buNone/>
                      </a:pPr>
                      <a:r>
                        <a:rPr/>
                        <a:t>LAM</a:t>
                      </a:r>
                    </a:p>
                  </a:txBody>
                </a:tc>
                <a:tc>
                  <a:txBody>
                    <a:bodyPr/>
                    <a:lstStyle/>
                    <a:p>
                      <a:pPr lvl="0" indent="0" marL="0">
                        <a:buNone/>
                      </a:pPr>
                      <a:r>
                        <a:rPr/>
                        <a:t>East Promenade</a:t>
                      </a:r>
                    </a:p>
                  </a:txBody>
                </a:tc>
                <a:tc>
                  <a:txBody>
                    <a:bodyPr/>
                    <a:lstStyle/>
                    <a:p>
                      <a:pPr lvl="0" indent="0" marL="0">
                        <a:buNone/>
                      </a:pPr>
                      <a:r>
                        <a:rPr/>
                        <a:t>Fine Arts, Media Studies, Art Galleries</a:t>
                      </a:r>
                    </a:p>
                  </a:txBody>
                </a:tc>
              </a:tr>
              <a:tr h="0">
                <a:tc>
                  <a:txBody>
                    <a:bodyPr/>
                    <a:lstStyle/>
                    <a:p>
                      <a:pPr lvl="0" indent="0" marL="0">
                        <a:buNone/>
                      </a:pPr>
                      <a:r>
                        <a:rPr/>
                        <a:t>Farrow Business Pavilion</a:t>
                      </a:r>
                    </a:p>
                  </a:txBody>
                </a:tc>
                <a:tc>
                  <a:txBody>
                    <a:bodyPr/>
                    <a:lstStyle/>
                    <a:p>
                      <a:pPr lvl="0" indent="0" marL="0">
                        <a:buNone/>
                      </a:pPr>
                      <a:r>
                        <a:rPr/>
                        <a:t>FBP</a:t>
                      </a:r>
                    </a:p>
                  </a:txBody>
                </a:tc>
                <a:tc>
                  <a:txBody>
                    <a:bodyPr/>
                    <a:lstStyle/>
                    <a:p>
                      <a:pPr lvl="0" indent="0" marL="0">
                        <a:buNone/>
                      </a:pPr>
                      <a:r>
                        <a:rPr/>
                        <a:t>Commerce Circle</a:t>
                      </a:r>
                    </a:p>
                  </a:txBody>
                </a:tc>
                <a:tc>
                  <a:txBody>
                    <a:bodyPr/>
                    <a:lstStyle/>
                    <a:p>
                      <a:pPr lvl="0" indent="0" marL="0">
                        <a:buNone/>
                      </a:pPr>
                      <a:r>
                        <a:rPr/>
                        <a:t>Business, Marketing, Finance, Student Entrepreneur Hub</a:t>
                      </a:r>
                    </a:p>
                  </a:txBody>
                </a:tc>
              </a:tr>
              <a:tr h="0">
                <a:tc>
                  <a:txBody>
                    <a:bodyPr/>
                    <a:lstStyle/>
                    <a:p>
                      <a:pPr lvl="0" indent="0" marL="0">
                        <a:buNone/>
                      </a:pPr>
                      <a:r>
                        <a:rPr/>
                        <a:t>Bramley Social Sciences Block</a:t>
                      </a:r>
                    </a:p>
                  </a:txBody>
                </a:tc>
                <a:tc>
                  <a:txBody>
                    <a:bodyPr/>
                    <a:lstStyle/>
                    <a:p>
                      <a:pPr lvl="0" indent="0" marL="0">
                        <a:buNone/>
                      </a:pPr>
                      <a:r>
                        <a:rPr/>
                        <a:t>BSS</a:t>
                      </a:r>
                    </a:p>
                  </a:txBody>
                </a:tc>
                <a:tc>
                  <a:txBody>
                    <a:bodyPr/>
                    <a:lstStyle/>
                    <a:p>
                      <a:pPr lvl="0" indent="0" marL="0">
                        <a:buNone/>
                      </a:pPr>
                      <a:r>
                        <a:rPr/>
                        <a:t>North Quad</a:t>
                      </a:r>
                    </a:p>
                  </a:txBody>
                </a:tc>
                <a:tc>
                  <a:txBody>
                    <a:bodyPr/>
                    <a:lstStyle/>
                    <a:p>
                      <a:pPr lvl="0" indent="0" marL="0">
                        <a:buNone/>
                      </a:pPr>
                      <a:r>
                        <a:rPr/>
                        <a:t>Psychology, Sociology, Political Science</a:t>
                      </a:r>
                    </a:p>
                  </a:txBody>
                </a:tc>
              </a:tr>
            </a:tbl>
          </a:graphicData>
        </a:graphic>
      </p:graphicFrame>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2. Administrative and Student Support Facilities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Name</a:t>
                      </a:r>
                    </a:p>
                  </a:txBody>
                  <a:tcPr/>
                </a:tc>
                <a:tc>
                  <a:txBody>
                    <a:bodyPr/>
                    <a:lstStyle/>
                    <a:p>
                      <a:pPr lvl="0" indent="0" marL="0">
                        <a:buNone/>
                      </a:pPr>
                      <a:r>
                        <a:rPr/>
                        <a:t>Abbreviation</a:t>
                      </a:r>
                    </a:p>
                  </a:txBody>
                  <a:tcPr/>
                </a:tc>
                <a:tc>
                  <a:txBody>
                    <a:bodyPr/>
                    <a:lstStyle/>
                    <a:p>
                      <a:pPr lvl="0" indent="0" marL="0">
                        <a:buNone/>
                      </a:pPr>
                      <a:r>
                        <a:rPr/>
                        <a:t>Location</a:t>
                      </a:r>
                    </a:p>
                  </a:txBody>
                  <a:tcPr/>
                </a:tc>
                <a:tc>
                  <a:txBody>
                    <a:bodyPr/>
                    <a:lstStyle/>
                    <a:p>
                      <a:pPr lvl="0" indent="0" marL="0">
                        <a:buNone/>
                      </a:pPr>
                      <a:r>
                        <a:rPr/>
                        <a:t>Functions</a:t>
                      </a:r>
                    </a:p>
                  </a:txBody>
                  <a:tcPr/>
                </a:tc>
              </a:tr>
              <a:tr h="0">
                <a:tc>
                  <a:txBody>
                    <a:bodyPr/>
                    <a:lstStyle/>
                    <a:p>
                      <a:pPr lvl="0" indent="0" marL="0">
                        <a:buNone/>
                      </a:pPr>
                      <a:r>
                        <a:rPr/>
                        <a:t>Walker Administration Building</a:t>
                      </a:r>
                    </a:p>
                  </a:txBody>
                </a:tc>
                <a:tc>
                  <a:txBody>
                    <a:bodyPr/>
                    <a:lstStyle/>
                    <a:p>
                      <a:pPr lvl="0" indent="0" marL="0">
                        <a:buNone/>
                      </a:pPr>
                      <a:r>
                        <a:rPr/>
                        <a:t>WAB</a:t>
                      </a:r>
                    </a:p>
                  </a:txBody>
                </a:tc>
                <a:tc>
                  <a:txBody>
                    <a:bodyPr/>
                    <a:lstStyle/>
                    <a:p>
                      <a:pPr lvl="0" indent="0" marL="0">
                        <a:buNone/>
                      </a:pPr>
                      <a:r>
                        <a:rPr/>
                        <a:t>Quad Entrance</a:t>
                      </a:r>
                    </a:p>
                  </a:txBody>
                </a:tc>
                <a:tc>
                  <a:txBody>
                    <a:bodyPr/>
                    <a:lstStyle/>
                    <a:p>
                      <a:pPr lvl="0" indent="0" marL="0">
                        <a:buNone/>
                      </a:pPr>
                      <a:r>
                        <a:rPr/>
                        <a:t>Registrar, Financial Aid, Admissions</a:t>
                      </a:r>
                    </a:p>
                  </a:txBody>
                </a:tc>
              </a:tr>
              <a:tr h="0">
                <a:tc>
                  <a:txBody>
                    <a:bodyPr/>
                    <a:lstStyle/>
                    <a:p>
                      <a:pPr lvl="0" indent="0" marL="0">
                        <a:buNone/>
                      </a:pPr>
                      <a:r>
                        <a:rPr/>
                        <a:t>Student Services Center</a:t>
                      </a:r>
                    </a:p>
                  </a:txBody>
                </a:tc>
                <a:tc>
                  <a:txBody>
                    <a:bodyPr/>
                    <a:lstStyle/>
                    <a:p>
                      <a:pPr lvl="0" indent="0" marL="0">
                        <a:buNone/>
                      </a:pPr>
                      <a:r>
                        <a:rPr/>
                        <a:t>SSC</a:t>
                      </a:r>
                    </a:p>
                  </a:txBody>
                </a:tc>
                <a:tc>
                  <a:txBody>
                    <a:bodyPr/>
                    <a:lstStyle/>
                    <a:p>
                      <a:pPr lvl="0" indent="0" marL="0">
                        <a:buNone/>
                      </a:pPr>
                      <a:r>
                        <a:rPr/>
                        <a:t>Commons Avenue</a:t>
                      </a:r>
                    </a:p>
                  </a:txBody>
                </a:tc>
                <a:tc>
                  <a:txBody>
                    <a:bodyPr/>
                    <a:lstStyle/>
                    <a:p>
                      <a:pPr lvl="0" indent="0" marL="0">
                        <a:buNone/>
                      </a:pPr>
                      <a:r>
                        <a:rPr/>
                        <a:t>Counseling, Career Center, International Office</a:t>
                      </a:r>
                    </a:p>
                  </a:txBody>
                </a:tc>
              </a:tr>
              <a:tr h="0">
                <a:tc>
                  <a:txBody>
                    <a:bodyPr/>
                    <a:lstStyle/>
                    <a:p>
                      <a:pPr lvl="0" indent="0" marL="0">
                        <a:buNone/>
                      </a:pPr>
                      <a:r>
                        <a:rPr/>
                        <a:t>Mariner Dining Hall</a:t>
                      </a:r>
                    </a:p>
                  </a:txBody>
                </a:tc>
                <a:tc>
                  <a:txBody>
                    <a:bodyPr/>
                    <a:lstStyle/>
                    <a:p>
                      <a:pPr lvl="0" indent="0" marL="0">
                        <a:buNone/>
                      </a:pPr>
                      <a:r>
                        <a:rPr/>
                        <a:t>MDH</a:t>
                      </a:r>
                    </a:p>
                  </a:txBody>
                </a:tc>
                <a:tc>
                  <a:txBody>
                    <a:bodyPr/>
                    <a:lstStyle/>
                    <a:p>
                      <a:pPr lvl="0" indent="0" marL="0">
                        <a:buNone/>
                      </a:pPr>
                      <a:r>
                        <a:rPr/>
                        <a:t>Cedar Walk</a:t>
                      </a:r>
                    </a:p>
                  </a:txBody>
                </a:tc>
                <a:tc>
                  <a:txBody>
                    <a:bodyPr/>
                    <a:lstStyle/>
                    <a:p>
                      <a:pPr lvl="0" indent="0" marL="0">
                        <a:buNone/>
                      </a:pPr>
                      <a:r>
                        <a:rPr/>
                        <a:t>Main Cafeteria, Food Court, Coffee Shop</a:t>
                      </a:r>
                    </a:p>
                  </a:txBody>
                </a:tc>
              </a:tr>
              <a:tr h="0">
                <a:tc>
                  <a:txBody>
                    <a:bodyPr/>
                    <a:lstStyle/>
                    <a:p>
                      <a:pPr lvl="0" indent="0" marL="0">
                        <a:buNone/>
                      </a:pPr>
                      <a:r>
                        <a:rPr/>
                        <a:t>Unity Student Union</a:t>
                      </a:r>
                    </a:p>
                  </a:txBody>
                </a:tc>
                <a:tc>
                  <a:txBody>
                    <a:bodyPr/>
                    <a:lstStyle/>
                    <a:p>
                      <a:pPr lvl="0" indent="0" marL="0">
                        <a:buNone/>
                      </a:pPr>
                      <a:r>
                        <a:rPr/>
                        <a:t>USU</a:t>
                      </a:r>
                    </a:p>
                  </a:txBody>
                </a:tc>
                <a:tc>
                  <a:txBody>
                    <a:bodyPr/>
                    <a:lstStyle/>
                    <a:p>
                      <a:pPr lvl="0" indent="0" marL="0">
                        <a:buNone/>
                      </a:pPr>
                      <a:r>
                        <a:rPr/>
                        <a:t>Pavilion Drive</a:t>
                      </a:r>
                    </a:p>
                  </a:txBody>
                </a:tc>
                <a:tc>
                  <a:txBody>
                    <a:bodyPr/>
                    <a:lstStyle/>
                    <a:p>
                      <a:pPr lvl="0" indent="0" marL="0">
                        <a:buNone/>
                      </a:pPr>
                      <a:r>
                        <a:rPr/>
                        <a:t>Student Government, Lounges, Event Spaces</a:t>
                      </a:r>
                    </a:p>
                  </a:txBody>
                </a:tc>
              </a:tr>
              <a:tr h="0">
                <a:tc>
                  <a:txBody>
                    <a:bodyPr/>
                    <a:lstStyle/>
                    <a:p>
                      <a:pPr lvl="0" indent="0" marL="0">
                        <a:buNone/>
                      </a:pPr>
                      <a:r>
                        <a:rPr/>
                        <a:t>Campus Bookstore</a:t>
                      </a:r>
                    </a:p>
                  </a:txBody>
                </a:tc>
                <a:tc>
                  <a:txBody>
                    <a:bodyPr/>
                    <a:lstStyle/>
                    <a:p>
                      <a:pPr lvl="0" indent="0" marL="0">
                        <a:buNone/>
                      </a:pPr>
                      <a:r>
                        <a:rPr/>
                        <a:t>CBK</a:t>
                      </a:r>
                    </a:p>
                  </a:txBody>
                </a:tc>
                <a:tc>
                  <a:txBody>
                    <a:bodyPr/>
                    <a:lstStyle/>
                    <a:p>
                      <a:pPr lvl="0" indent="0" marL="0">
                        <a:buNone/>
                      </a:pPr>
                      <a:r>
                        <a:rPr/>
                        <a:t>University Plaza</a:t>
                      </a:r>
                    </a:p>
                  </a:txBody>
                </a:tc>
                <a:tc>
                  <a:txBody>
                    <a:bodyPr/>
                    <a:lstStyle/>
                    <a:p>
                      <a:pPr lvl="0" indent="0" marL="0">
                        <a:buNone/>
                      </a:pPr>
                      <a:r>
                        <a:rPr/>
                        <a:t>Textbooks, Merchandise, Technology Desk</a:t>
                      </a:r>
                    </a:p>
                  </a:txBody>
                </a:tc>
              </a:tr>
              <a:tr h="0">
                <a:tc>
                  <a:txBody>
                    <a:bodyPr/>
                    <a:lstStyle/>
                    <a:p>
                      <a:pPr lvl="0" indent="0" marL="0">
                        <a:buNone/>
                      </a:pPr>
                      <a:r>
                        <a:rPr/>
                        <a:t>Health &amp; Wellness Clinic</a:t>
                      </a:r>
                    </a:p>
                  </a:txBody>
                </a:tc>
                <a:tc>
                  <a:txBody>
                    <a:bodyPr/>
                    <a:lstStyle/>
                    <a:p>
                      <a:pPr lvl="0" indent="0" marL="0">
                        <a:buNone/>
                      </a:pPr>
                      <a:r>
                        <a:rPr/>
                        <a:t>HWC</a:t>
                      </a:r>
                    </a:p>
                  </a:txBody>
                </a:tc>
                <a:tc>
                  <a:txBody>
                    <a:bodyPr/>
                    <a:lstStyle/>
                    <a:p>
                      <a:pPr lvl="0" indent="0" marL="0">
                        <a:buNone/>
                      </a:pPr>
                      <a:r>
                        <a:rPr/>
                        <a:t>Oak Street</a:t>
                      </a:r>
                    </a:p>
                  </a:txBody>
                </a:tc>
                <a:tc>
                  <a:txBody>
                    <a:bodyPr/>
                    <a:lstStyle/>
                    <a:p>
                      <a:pPr lvl="0" indent="0" marL="0">
                        <a:buNone/>
                      </a:pPr>
                      <a:r>
                        <a:rPr/>
                        <a:t>Medical Care, Counseling, Wellness Programs</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 Residential Halls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Name</a:t>
                      </a:r>
                    </a:p>
                  </a:txBody>
                  <a:tcPr/>
                </a:tc>
                <a:tc>
                  <a:txBody>
                    <a:bodyPr/>
                    <a:lstStyle/>
                    <a:p>
                      <a:pPr lvl="0" indent="0" marL="0">
                        <a:buNone/>
                      </a:pPr>
                      <a:r>
                        <a:rPr/>
                        <a:t>Location</a:t>
                      </a:r>
                    </a:p>
                  </a:txBody>
                  <a:tcPr/>
                </a:tc>
                <a:tc>
                  <a:txBody>
                    <a:bodyPr/>
                    <a:lstStyle/>
                    <a:p>
                      <a:pPr lvl="0" indent="0" marL="0">
                        <a:buNone/>
                      </a:pPr>
                      <a:r>
                        <a:rPr/>
                        <a:t>Capacity</a:t>
                      </a:r>
                    </a:p>
                  </a:txBody>
                  <a:tcPr/>
                </a:tc>
                <a:tc>
                  <a:txBody>
                    <a:bodyPr/>
                    <a:lstStyle/>
                    <a:p>
                      <a:pPr lvl="0" indent="0" marL="0">
                        <a:buNone/>
                      </a:pPr>
                      <a:r>
                        <a:rPr/>
                        <a:t>Features</a:t>
                      </a:r>
                    </a:p>
                  </a:txBody>
                  <a:tcPr/>
                </a:tc>
              </a:tr>
              <a:tr h="0">
                <a:tc>
                  <a:txBody>
                    <a:bodyPr/>
                    <a:lstStyle/>
                    <a:p>
                      <a:pPr lvl="0" indent="0" marL="0">
                        <a:buNone/>
                      </a:pPr>
                      <a:r>
                        <a:rPr/>
                        <a:t>Evergreen Residence Hall</a:t>
                      </a:r>
                    </a:p>
                  </a:txBody>
                </a:tc>
                <a:tc>
                  <a:txBody>
                    <a:bodyPr/>
                    <a:lstStyle/>
                    <a:p>
                      <a:pPr lvl="0" indent="0" marL="0">
                        <a:buNone/>
                      </a:pPr>
                      <a:r>
                        <a:rPr/>
                        <a:t>North Crescent</a:t>
                      </a:r>
                    </a:p>
                  </a:txBody>
                </a:tc>
                <a:tc>
                  <a:txBody>
                    <a:bodyPr/>
                    <a:lstStyle/>
                    <a:p>
                      <a:pPr lvl="0" indent="0" marL="0">
                        <a:buNone/>
                      </a:pPr>
                      <a:r>
                        <a:rPr/>
                        <a:t>400</a:t>
                      </a:r>
                    </a:p>
                  </a:txBody>
                </a:tc>
                <a:tc>
                  <a:txBody>
                    <a:bodyPr/>
                    <a:lstStyle/>
                    <a:p>
                      <a:pPr lvl="0" indent="0" marL="0">
                        <a:buNone/>
                      </a:pPr>
                      <a:r>
                        <a:rPr/>
                        <a:t>Double rooms, communal kitchen, study lounge</a:t>
                      </a:r>
                    </a:p>
                  </a:txBody>
                </a:tc>
              </a:tr>
              <a:tr h="0">
                <a:tc>
                  <a:txBody>
                    <a:bodyPr/>
                    <a:lstStyle/>
                    <a:p>
                      <a:pPr lvl="0" indent="0" marL="0">
                        <a:buNone/>
                      </a:pPr>
                      <a:r>
                        <a:rPr/>
                        <a:t>Willow Hall</a:t>
                      </a:r>
                    </a:p>
                  </a:txBody>
                </a:tc>
                <a:tc>
                  <a:txBody>
                    <a:bodyPr/>
                    <a:lstStyle/>
                    <a:p>
                      <a:pPr lvl="0" indent="0" marL="0">
                        <a:buNone/>
                      </a:pPr>
                      <a:r>
                        <a:rPr/>
                        <a:t>East Lawn</a:t>
                      </a:r>
                    </a:p>
                  </a:txBody>
                </a:tc>
                <a:tc>
                  <a:txBody>
                    <a:bodyPr/>
                    <a:lstStyle/>
                    <a:p>
                      <a:pPr lvl="0" indent="0" marL="0">
                        <a:buNone/>
                      </a:pPr>
                      <a:r>
                        <a:rPr/>
                        <a:t>350</a:t>
                      </a:r>
                    </a:p>
                  </a:txBody>
                </a:tc>
                <a:tc>
                  <a:txBody>
                    <a:bodyPr/>
                    <a:lstStyle/>
                    <a:p>
                      <a:pPr lvl="0" indent="0" marL="0">
                        <a:buNone/>
                      </a:pPr>
                      <a:r>
                        <a:rPr/>
                        <a:t>Suite-style, fitness center, laundry</a:t>
                      </a:r>
                    </a:p>
                  </a:txBody>
                </a:tc>
              </a:tr>
              <a:tr h="0">
                <a:tc>
                  <a:txBody>
                    <a:bodyPr/>
                    <a:lstStyle/>
                    <a:p>
                      <a:pPr lvl="0" indent="0" marL="0">
                        <a:buNone/>
                      </a:pPr>
                      <a:r>
                        <a:rPr/>
                        <a:t>Aspen Apartments</a:t>
                      </a:r>
                    </a:p>
                  </a:txBody>
                </a:tc>
                <a:tc>
                  <a:txBody>
                    <a:bodyPr/>
                    <a:lstStyle/>
                    <a:p>
                      <a:pPr lvl="0" indent="0" marL="0">
                        <a:buNone/>
                      </a:pPr>
                      <a:r>
                        <a:rPr/>
                        <a:t>South Grounds</a:t>
                      </a:r>
                    </a:p>
                  </a:txBody>
                </a:tc>
                <a:tc>
                  <a:txBody>
                    <a:bodyPr/>
                    <a:lstStyle/>
                    <a:p>
                      <a:pPr lvl="0" indent="0" marL="0">
                        <a:buNone/>
                      </a:pPr>
                      <a:r>
                        <a:rPr/>
                        <a:t>200</a:t>
                      </a:r>
                    </a:p>
                  </a:txBody>
                </a:tc>
                <a:tc>
                  <a:txBody>
                    <a:bodyPr/>
                    <a:lstStyle/>
                    <a:p>
                      <a:pPr lvl="0" indent="0" marL="0">
                        <a:buNone/>
                      </a:pPr>
                      <a:r>
                        <a:rPr/>
                        <a:t>Apartment-style, on-site parking, garden</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 Parking Areas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16000"/>
                <a:gridCol w="1016000"/>
                <a:gridCol w="1016000"/>
                <a:gridCol w="1016000"/>
                <a:gridCol w="1016000"/>
              </a:tblGrid>
              <a:tr h="0">
                <a:tc>
                  <a:txBody>
                    <a:bodyPr/>
                    <a:lstStyle/>
                    <a:p>
                      <a:pPr lvl="0" indent="0" marL="0">
                        <a:buNone/>
                      </a:pPr>
                      <a:r>
                        <a:rPr/>
                        <a:t>Name</a:t>
                      </a:r>
                    </a:p>
                  </a:txBody>
                  <a:tcPr/>
                </a:tc>
                <a:tc>
                  <a:txBody>
                    <a:bodyPr/>
                    <a:lstStyle/>
                    <a:p>
                      <a:pPr lvl="0" indent="0" marL="0">
                        <a:buNone/>
                      </a:pPr>
                      <a:r>
                        <a:rPr/>
                        <a:t>Location</a:t>
                      </a:r>
                    </a:p>
                  </a:txBody>
                  <a:tcPr/>
                </a:tc>
                <a:tc>
                  <a:txBody>
                    <a:bodyPr/>
                    <a:lstStyle/>
                    <a:p>
                      <a:pPr lvl="0" indent="0" marL="0">
                        <a:buNone/>
                      </a:pPr>
                      <a:r>
                        <a:rPr/>
                        <a:t>Type</a:t>
                      </a:r>
                    </a:p>
                  </a:txBody>
                  <a:tcPr/>
                </a:tc>
                <a:tc>
                  <a:txBody>
                    <a:bodyPr/>
                    <a:lstStyle/>
                    <a:p>
                      <a:pPr lvl="0" indent="0" marL="0">
                        <a:buNone/>
                      </a:pPr>
                      <a:r>
                        <a:rPr/>
                        <a:t>Capacity</a:t>
                      </a:r>
                    </a:p>
                  </a:txBody>
                  <a:tcPr/>
                </a:tc>
                <a:tc>
                  <a:txBody>
                    <a:bodyPr/>
                    <a:lstStyle/>
                    <a:p>
                      <a:pPr lvl="0" indent="0" marL="0">
                        <a:buNone/>
                      </a:pPr>
                      <a:r>
                        <a:rPr/>
                        <a:t>Nearby Buildings</a:t>
                      </a:r>
                    </a:p>
                  </a:txBody>
                  <a:tcPr/>
                </a:tc>
              </a:tr>
              <a:tr h="0">
                <a:tc>
                  <a:txBody>
                    <a:bodyPr/>
                    <a:lstStyle/>
                    <a:p>
                      <a:pPr lvl="0" indent="0" marL="0">
                        <a:buNone/>
                      </a:pPr>
                      <a:r>
                        <a:rPr/>
                        <a:t>Red Maple Lot (P1)</a:t>
                      </a:r>
                    </a:p>
                  </a:txBody>
                </a:tc>
                <a:tc>
                  <a:txBody>
                    <a:bodyPr/>
                    <a:lstStyle/>
                    <a:p>
                      <a:pPr lvl="0" indent="0" marL="0">
                        <a:buNone/>
                      </a:pPr>
                      <a:r>
                        <a:rPr/>
                        <a:t>Science Drive</a:t>
                      </a:r>
                    </a:p>
                  </a:txBody>
                </a:tc>
                <a:tc>
                  <a:txBody>
                    <a:bodyPr/>
                    <a:lstStyle/>
                    <a:p>
                      <a:pPr lvl="0" indent="0" marL="0">
                        <a:buNone/>
                      </a:pPr>
                      <a:r>
                        <a:rPr/>
                        <a:t>Student/Faculty</a:t>
                      </a:r>
                    </a:p>
                  </a:txBody>
                </a:tc>
                <a:tc>
                  <a:txBody>
                    <a:bodyPr/>
                    <a:lstStyle/>
                    <a:p>
                      <a:pPr lvl="0" indent="0" marL="0">
                        <a:buNone/>
                      </a:pPr>
                      <a:r>
                        <a:rPr/>
                        <a:t>350</a:t>
                      </a:r>
                    </a:p>
                  </a:txBody>
                </a:tc>
                <a:tc>
                  <a:txBody>
                    <a:bodyPr/>
                    <a:lstStyle/>
                    <a:p>
                      <a:pPr lvl="0" indent="0" marL="0">
                        <a:buNone/>
                      </a:pPr>
                      <a:r>
                        <a:rPr/>
                        <a:t>HSC, IVH</a:t>
                      </a:r>
                    </a:p>
                  </a:txBody>
                </a:tc>
              </a:tr>
              <a:tr h="0">
                <a:tc>
                  <a:txBody>
                    <a:bodyPr/>
                    <a:lstStyle/>
                    <a:p>
                      <a:pPr lvl="0" indent="0" marL="0">
                        <a:buNone/>
                      </a:pPr>
                      <a:r>
                        <a:rPr/>
                        <a:t>Cedar Row Parking (P2)</a:t>
                      </a:r>
                    </a:p>
                  </a:txBody>
                </a:tc>
                <a:tc>
                  <a:txBody>
                    <a:bodyPr/>
                    <a:lstStyle/>
                    <a:p>
                      <a:pPr lvl="0" indent="0" marL="0">
                        <a:buNone/>
                      </a:pPr>
                      <a:r>
                        <a:rPr/>
                        <a:t>Cedar Walk</a:t>
                      </a:r>
                    </a:p>
                  </a:txBody>
                </a:tc>
                <a:tc>
                  <a:txBody>
                    <a:bodyPr/>
                    <a:lstStyle/>
                    <a:p>
                      <a:pPr lvl="0" indent="0" marL="0">
                        <a:buNone/>
                      </a:pPr>
                      <a:r>
                        <a:rPr/>
                        <a:t>Visitor</a:t>
                      </a:r>
                    </a:p>
                  </a:txBody>
                </a:tc>
                <a:tc>
                  <a:txBody>
                    <a:bodyPr/>
                    <a:lstStyle/>
                    <a:p>
                      <a:pPr lvl="0" indent="0" marL="0">
                        <a:buNone/>
                      </a:pPr>
                      <a:r>
                        <a:rPr/>
                        <a:t>100</a:t>
                      </a:r>
                    </a:p>
                  </a:txBody>
                </a:tc>
                <a:tc>
                  <a:txBody>
                    <a:bodyPr/>
                    <a:lstStyle/>
                    <a:p>
                      <a:pPr lvl="0" indent="0" marL="0">
                        <a:buNone/>
                      </a:pPr>
                      <a:r>
                        <a:rPr/>
                        <a:t>MDH, SLA</a:t>
                      </a:r>
                    </a:p>
                  </a:txBody>
                </a:tc>
              </a:tr>
              <a:tr h="0">
                <a:tc>
                  <a:txBody>
                    <a:bodyPr/>
                    <a:lstStyle/>
                    <a:p>
                      <a:pPr lvl="0" indent="0" marL="0">
                        <a:buNone/>
                      </a:pPr>
                      <a:r>
                        <a:rPr/>
                        <a:t>South Gate Garage (P3)</a:t>
                      </a:r>
                    </a:p>
                  </a:txBody>
                </a:tc>
                <a:tc>
                  <a:txBody>
                    <a:bodyPr/>
                    <a:lstStyle/>
                    <a:p>
                      <a:pPr lvl="0" indent="0" marL="0">
                        <a:buNone/>
                      </a:pPr>
                      <a:r>
                        <a:rPr/>
                        <a:t>Main Entrance</a:t>
                      </a:r>
                    </a:p>
                  </a:txBody>
                </a:tc>
                <a:tc>
                  <a:txBody>
                    <a:bodyPr/>
                    <a:lstStyle/>
                    <a:p>
                      <a:pPr lvl="0" indent="0" marL="0">
                        <a:buNone/>
                      </a:pPr>
                      <a:r>
                        <a:rPr/>
                        <a:t>All Permit</a:t>
                      </a:r>
                    </a:p>
                  </a:txBody>
                </a:tc>
                <a:tc>
                  <a:txBody>
                    <a:bodyPr/>
                    <a:lstStyle/>
                    <a:p>
                      <a:pPr lvl="0" indent="0" marL="0">
                        <a:buNone/>
                      </a:pPr>
                      <a:r>
                        <a:rPr/>
                        <a:t>450</a:t>
                      </a:r>
                    </a:p>
                  </a:txBody>
                </a:tc>
                <a:tc>
                  <a:txBody>
                    <a:bodyPr/>
                    <a:lstStyle/>
                    <a:p>
                      <a:pPr lvl="0" indent="0" marL="0">
                        <a:buNone/>
                      </a:pPr>
                      <a:r>
                        <a:rPr/>
                        <a:t>WAB, CEC, USU</a:t>
                      </a:r>
                    </a:p>
                  </a:txBody>
                </a:tc>
              </a:tr>
              <a:tr h="0">
                <a:tc>
                  <a:txBody>
                    <a:bodyPr/>
                    <a:lstStyle/>
                    <a:p>
                      <a:pPr lvl="0" indent="0" marL="0">
                        <a:buNone/>
                      </a:pPr>
                      <a:r>
                        <a:rPr/>
                        <a:t>Residence Lot (P4)</a:t>
                      </a:r>
                    </a:p>
                  </a:txBody>
                </a:tc>
                <a:tc>
                  <a:txBody>
                    <a:bodyPr/>
                    <a:lstStyle/>
                    <a:p>
                      <a:pPr lvl="0" indent="0" marL="0">
                        <a:buNone/>
                      </a:pPr>
                      <a:r>
                        <a:rPr/>
                        <a:t>North Crescent</a:t>
                      </a:r>
                    </a:p>
                  </a:txBody>
                </a:tc>
                <a:tc>
                  <a:txBody>
                    <a:bodyPr/>
                    <a:lstStyle/>
                    <a:p>
                      <a:pPr lvl="0" indent="0" marL="0">
                        <a:buNone/>
                      </a:pPr>
                      <a:r>
                        <a:rPr/>
                        <a:t>Residents Only</a:t>
                      </a:r>
                    </a:p>
                  </a:txBody>
                </a:tc>
                <a:tc>
                  <a:txBody>
                    <a:bodyPr/>
                    <a:lstStyle/>
                    <a:p>
                      <a:pPr lvl="0" indent="0" marL="0">
                        <a:buNone/>
                      </a:pPr>
                      <a:r>
                        <a:rPr/>
                        <a:t>180</a:t>
                      </a:r>
                    </a:p>
                  </a:txBody>
                </a:tc>
                <a:tc>
                  <a:txBody>
                    <a:bodyPr/>
                    <a:lstStyle/>
                    <a:p>
                      <a:pPr lvl="0" indent="0" marL="0">
                        <a:buNone/>
                      </a:pPr>
                      <a:r>
                        <a:rPr/>
                        <a:t>Evergreen, Willow Hall</a:t>
                      </a:r>
                    </a:p>
                  </a:txBody>
                </a:tc>
              </a:tr>
              <a:tr h="0">
                <a:tc>
                  <a:txBody>
                    <a:bodyPr/>
                    <a:lstStyle/>
                    <a:p>
                      <a:pPr lvl="0" indent="0" marL="0">
                        <a:buNone/>
                      </a:pPr>
                      <a:r>
                        <a:rPr/>
                        <a:t>Commerce Deck (P5)</a:t>
                      </a:r>
                    </a:p>
                  </a:txBody>
                </a:tc>
                <a:tc>
                  <a:txBody>
                    <a:bodyPr/>
                    <a:lstStyle/>
                    <a:p>
                      <a:pPr lvl="0" indent="0" marL="0">
                        <a:buNone/>
                      </a:pPr>
                      <a:r>
                        <a:rPr/>
                        <a:t>Commerce Circle</a:t>
                      </a:r>
                    </a:p>
                  </a:txBody>
                </a:tc>
                <a:tc>
                  <a:txBody>
                    <a:bodyPr/>
                    <a:lstStyle/>
                    <a:p>
                      <a:pPr lvl="0" indent="0" marL="0">
                        <a:buNone/>
                      </a:pPr>
                      <a:r>
                        <a:rPr/>
                        <a:t>Faculty/Staff</a:t>
                      </a:r>
                    </a:p>
                  </a:txBody>
                </a:tc>
                <a:tc>
                  <a:txBody>
                    <a:bodyPr/>
                    <a:lstStyle/>
                    <a:p>
                      <a:pPr lvl="0" indent="0" marL="0">
                        <a:buNone/>
                      </a:pPr>
                      <a:r>
                        <a:rPr/>
                        <a:t>120</a:t>
                      </a:r>
                    </a:p>
                  </a:txBody>
                </a:tc>
                <a:tc>
                  <a:txBody>
                    <a:bodyPr/>
                    <a:lstStyle/>
                    <a:p>
                      <a:pPr lvl="0" indent="0" marL="0">
                        <a:buNone/>
                      </a:pPr>
                      <a:r>
                        <a:rPr/>
                        <a:t>FBP, BSS</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5. Emergency Stations</a:t>
            </a:r>
          </a:p>
          <a:p>
            <a:pPr lvl="0" indent="0" marL="0">
              <a:buNone/>
            </a:pPr>
            <a:r>
              <a:rPr/>
              <a:t>Blue Light Emergency Telephones are strategically installed across campus. Each station provides a direct line to campus security and is illuminated for night visibility.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Station ID</a:t>
                      </a:r>
                    </a:p>
                  </a:txBody>
                  <a:tcPr/>
                </a:tc>
                <a:tc>
                  <a:txBody>
                    <a:bodyPr/>
                    <a:lstStyle/>
                    <a:p>
                      <a:pPr lvl="0" indent="0" marL="0">
                        <a:buNone/>
                      </a:pPr>
                      <a:r>
                        <a:rPr/>
                        <a:t>Location</a:t>
                      </a:r>
                    </a:p>
                  </a:txBody>
                  <a:tcPr/>
                </a:tc>
                <a:tc>
                  <a:txBody>
                    <a:bodyPr/>
                    <a:lstStyle/>
                    <a:p>
                      <a:pPr lvl="0" indent="0" marL="0">
                        <a:buNone/>
                      </a:pPr>
                      <a:r>
                        <a:rPr/>
                        <a:t>Nearby Landmark</a:t>
                      </a:r>
                    </a:p>
                  </a:txBody>
                  <a:tcPr/>
                </a:tc>
              </a:tr>
              <a:tr h="0">
                <a:tc>
                  <a:txBody>
                    <a:bodyPr/>
                    <a:lstStyle/>
                    <a:p>
                      <a:pPr lvl="0" indent="0" marL="0">
                        <a:buNone/>
                      </a:pPr>
                      <a:r>
                        <a:rPr/>
                        <a:t>E-1</a:t>
                      </a:r>
                    </a:p>
                  </a:txBody>
                </a:tc>
                <a:tc>
                  <a:txBody>
                    <a:bodyPr/>
                    <a:lstStyle/>
                    <a:p>
                      <a:pPr lvl="0" indent="0" marL="0">
                        <a:buNone/>
                      </a:pPr>
                      <a:r>
                        <a:rPr/>
                        <a:t>Library Entrance</a:t>
                      </a:r>
                    </a:p>
                  </a:txBody>
                </a:tc>
                <a:tc>
                  <a:txBody>
                    <a:bodyPr/>
                    <a:lstStyle/>
                    <a:p>
                      <a:pPr lvl="0" indent="0" marL="0">
                        <a:buNone/>
                      </a:pPr>
                      <a:r>
                        <a:rPr/>
                        <a:t>SLA</a:t>
                      </a:r>
                    </a:p>
                  </a:txBody>
                </a:tc>
              </a:tr>
              <a:tr h="0">
                <a:tc>
                  <a:txBody>
                    <a:bodyPr/>
                    <a:lstStyle/>
                    <a:p>
                      <a:pPr lvl="0" indent="0" marL="0">
                        <a:buNone/>
                      </a:pPr>
                      <a:r>
                        <a:rPr/>
                        <a:t>E-2</a:t>
                      </a:r>
                    </a:p>
                  </a:txBody>
                </a:tc>
                <a:tc>
                  <a:txBody>
                    <a:bodyPr/>
                    <a:lstStyle/>
                    <a:p>
                      <a:pPr lvl="0" indent="0" marL="0">
                        <a:buNone/>
                      </a:pPr>
                      <a:r>
                        <a:rPr/>
                        <a:t>Central Quad</a:t>
                      </a:r>
                    </a:p>
                  </a:txBody>
                </a:tc>
                <a:tc>
                  <a:txBody>
                    <a:bodyPr/>
                    <a:lstStyle/>
                    <a:p>
                      <a:pPr lvl="0" indent="0" marL="0">
                        <a:buNone/>
                      </a:pPr>
                      <a:r>
                        <a:rPr/>
                        <a:t>IVH, BSS</a:t>
                      </a:r>
                    </a:p>
                  </a:txBody>
                </a:tc>
              </a:tr>
              <a:tr h="0">
                <a:tc>
                  <a:txBody>
                    <a:bodyPr/>
                    <a:lstStyle/>
                    <a:p>
                      <a:pPr lvl="0" indent="0" marL="0">
                        <a:buNone/>
                      </a:pPr>
                      <a:r>
                        <a:rPr/>
                        <a:t>E-3</a:t>
                      </a:r>
                    </a:p>
                  </a:txBody>
                </a:tc>
                <a:tc>
                  <a:txBody>
                    <a:bodyPr/>
                    <a:lstStyle/>
                    <a:p>
                      <a:pPr lvl="0" indent="0" marL="0">
                        <a:buNone/>
                      </a:pPr>
                      <a:r>
                        <a:rPr/>
                        <a:t>Science Drive</a:t>
                      </a:r>
                    </a:p>
                  </a:txBody>
                </a:tc>
                <a:tc>
                  <a:txBody>
                    <a:bodyPr/>
                    <a:lstStyle/>
                    <a:p>
                      <a:pPr lvl="0" indent="0" marL="0">
                        <a:buNone/>
                      </a:pPr>
                      <a:r>
                        <a:rPr/>
                        <a:t>HSC, Red Maple Lot</a:t>
                      </a:r>
                    </a:p>
                  </a:txBody>
                </a:tc>
              </a:tr>
              <a:tr h="0">
                <a:tc>
                  <a:txBody>
                    <a:bodyPr/>
                    <a:lstStyle/>
                    <a:p>
                      <a:pPr lvl="0" indent="0" marL="0">
                        <a:buNone/>
                      </a:pPr>
                      <a:r>
                        <a:rPr/>
                        <a:t>E-4</a:t>
                      </a:r>
                    </a:p>
                  </a:txBody>
                </a:tc>
                <a:tc>
                  <a:txBody>
                    <a:bodyPr/>
                    <a:lstStyle/>
                    <a:p>
                      <a:pPr lvl="0" indent="0" marL="0">
                        <a:buNone/>
                      </a:pPr>
                      <a:r>
                        <a:rPr/>
                        <a:t>North Crescent</a:t>
                      </a:r>
                    </a:p>
                  </a:txBody>
                </a:tc>
                <a:tc>
                  <a:txBody>
                    <a:bodyPr/>
                    <a:lstStyle/>
                    <a:p>
                      <a:pPr lvl="0" indent="0" marL="0">
                        <a:buNone/>
                      </a:pPr>
                      <a:r>
                        <a:rPr/>
                        <a:t>Evergreen Hall</a:t>
                      </a:r>
                    </a:p>
                  </a:txBody>
                </a:tc>
              </a:tr>
              <a:tr h="0">
                <a:tc>
                  <a:txBody>
                    <a:bodyPr/>
                    <a:lstStyle/>
                    <a:p>
                      <a:pPr lvl="0" indent="0" marL="0">
                        <a:buNone/>
                      </a:pPr>
                      <a:r>
                        <a:rPr/>
                        <a:t>E-5</a:t>
                      </a:r>
                    </a:p>
                  </a:txBody>
                </a:tc>
                <a:tc>
                  <a:txBody>
                    <a:bodyPr/>
                    <a:lstStyle/>
                    <a:p>
                      <a:pPr lvl="0" indent="0" marL="0">
                        <a:buNone/>
                      </a:pPr>
                      <a:r>
                        <a:rPr/>
                        <a:t>Pavilion Drive</a:t>
                      </a:r>
                    </a:p>
                  </a:txBody>
                </a:tc>
                <a:tc>
                  <a:txBody>
                    <a:bodyPr/>
                    <a:lstStyle/>
                    <a:p>
                      <a:pPr lvl="0" indent="0" marL="0">
                        <a:buNone/>
                      </a:pPr>
                      <a:r>
                        <a:rPr/>
                        <a:t>USU, FBP</a:t>
                      </a:r>
                    </a:p>
                  </a:txBody>
                </a:tc>
              </a:tr>
              <a:tr h="0">
                <a:tc>
                  <a:txBody>
                    <a:bodyPr/>
                    <a:lstStyle/>
                    <a:p>
                      <a:pPr lvl="0" indent="0" marL="0">
                        <a:buNone/>
                      </a:pPr>
                      <a:r>
                        <a:rPr/>
                        <a:t>E-6</a:t>
                      </a:r>
                    </a:p>
                  </a:txBody>
                </a:tc>
                <a:tc>
                  <a:txBody>
                    <a:bodyPr/>
                    <a:lstStyle/>
                    <a:p>
                      <a:pPr lvl="0" indent="0" marL="0">
                        <a:buNone/>
                      </a:pPr>
                      <a:r>
                        <a:rPr/>
                        <a:t>Cedar Walk</a:t>
                      </a:r>
                    </a:p>
                  </a:txBody>
                </a:tc>
                <a:tc>
                  <a:txBody>
                    <a:bodyPr/>
                    <a:lstStyle/>
                    <a:p>
                      <a:pPr lvl="0" indent="0" marL="0">
                        <a:buNone/>
                      </a:pPr>
                      <a:r>
                        <a:rPr/>
                        <a:t>MDH, Visitor Parking</a:t>
                      </a:r>
                    </a:p>
                  </a:txBody>
                </a:tc>
              </a:tr>
              <a:tr h="0">
                <a:tc>
                  <a:txBody>
                    <a:bodyPr/>
                    <a:lstStyle/>
                    <a:p>
                      <a:pPr lvl="0" indent="0" marL="0">
                        <a:buNone/>
                      </a:pPr>
                      <a:r>
                        <a:rPr/>
                        <a:t>E-7</a:t>
                      </a:r>
                    </a:p>
                  </a:txBody>
                </a:tc>
                <a:tc>
                  <a:txBody>
                    <a:bodyPr/>
                    <a:lstStyle/>
                    <a:p>
                      <a:pPr lvl="0" indent="0" marL="0">
                        <a:buNone/>
                      </a:pPr>
                      <a:r>
                        <a:rPr/>
                        <a:t>Oak Street</a:t>
                      </a:r>
                    </a:p>
                  </a:txBody>
                </a:tc>
                <a:tc>
                  <a:txBody>
                    <a:bodyPr/>
                    <a:lstStyle/>
                    <a:p>
                      <a:pPr lvl="0" indent="0" marL="0">
                        <a:buNone/>
                      </a:pPr>
                      <a:r>
                        <a:rPr/>
                        <a:t>Health &amp; Wellness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All emergency stations are checked daily by campus security.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6. Key Facilities &amp; Points of Interest</a:t>
            </a:r>
          </a:p>
          <a:p>
            <a:pPr lvl="0"/>
            <a:r>
              <a:rPr b="1"/>
              <a:t>Athletic &amp; Recreation Center (ARC)</a:t>
            </a:r>
          </a:p>
          <a:p>
            <a:pPr lvl="1"/>
            <a:r>
              <a:rPr/>
              <a:t>Location: South Grounds</a:t>
            </a:r>
          </a:p>
          <a:p>
            <a:pPr lvl="1"/>
            <a:r>
              <a:rPr/>
              <a:t>Features: Indoor pool, basketball courts, cardio/weights, group fitness studios</a:t>
            </a:r>
          </a:p>
          <a:p>
            <a:pPr lvl="0"/>
            <a:r>
              <a:rPr b="1"/>
              <a:t>Sylvan Library Rooftop Garden</a:t>
            </a:r>
          </a:p>
          <a:p>
            <a:pPr lvl="1"/>
            <a:r>
              <a:rPr/>
              <a:t>Location: SLA, 4th Floor</a:t>
            </a:r>
          </a:p>
          <a:p>
            <a:pPr lvl="1"/>
            <a:r>
              <a:rPr/>
              <a:t>Features: Outdoor study lounge, WiFi, green spaces</a:t>
            </a:r>
          </a:p>
          <a:p>
            <a:pPr lvl="0"/>
            <a:r>
              <a:rPr b="1"/>
              <a:t>Fine Arts Amphitheatre</a:t>
            </a:r>
          </a:p>
          <a:p>
            <a:pPr lvl="1"/>
            <a:r>
              <a:rPr/>
              <a:t>Location: East Promenade, behind LAM</a:t>
            </a:r>
          </a:p>
          <a:p>
            <a:pPr lvl="1"/>
            <a:r>
              <a:rPr/>
              <a:t>Capacity: 250 seats, open-air</a:t>
            </a:r>
          </a:p>
          <a:p>
            <a:pPr lvl="0"/>
            <a:r>
              <a:rPr b="1"/>
              <a:t>Reflection Lake</a:t>
            </a:r>
          </a:p>
          <a:p>
            <a:pPr lvl="1"/>
            <a:r>
              <a:rPr/>
              <a:t>Location: Central Quad</a:t>
            </a:r>
          </a:p>
          <a:p>
            <a:pPr lvl="1"/>
            <a:r>
              <a:rPr/>
              <a:t>Features: Walking paths, benches, annual Springfest site</a:t>
            </a:r>
          </a:p>
          <a:p>
            <a:pPr lvl="0"/>
            <a:r>
              <a:rPr b="1"/>
              <a:t>Campus Shuttle Stop</a:t>
            </a:r>
          </a:p>
          <a:p>
            <a:pPr lvl="1"/>
            <a:r>
              <a:rPr/>
              <a:t>Locations: Main Entrance (South Gate), North Crescent, Commerce Circle</a:t>
            </a:r>
          </a:p>
          <a:p>
            <a:pPr lvl="1"/>
            <a:r>
              <a:rPr/>
              <a:t>Service: On-campus and off-campus routes (M-F, 7am–11pm)</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7. Accessibility</a:t>
            </a:r>
          </a:p>
          <a:p>
            <a:pPr lvl="0" indent="0" marL="0">
              <a:buNone/>
            </a:pPr>
            <a:r>
              <a:rPr/>
              <a:t>All major buildings are wheelchair accessible with automatic doors and elevators. Accessible parking spaces are available in each parking lot and garage.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8. Campus Safety Resources</a:t>
            </a:r>
          </a:p>
          <a:p>
            <a:pPr lvl="0"/>
            <a:r>
              <a:rPr b="1"/>
              <a:t>24/7 Campus Security Office</a:t>
            </a:r>
            <a:r>
              <a:rPr/>
              <a:t>: Located in the Walker Administration Building, Suite 105.</a:t>
            </a:r>
          </a:p>
          <a:p>
            <a:pPr lvl="0"/>
            <a:r>
              <a:rPr b="1"/>
              <a:t>Escort Service</a:t>
            </a:r>
            <a:r>
              <a:rPr/>
              <a:t>: Available 6pm–2am daily. Call (732) 555-4488.</a:t>
            </a:r>
          </a:p>
          <a:p>
            <a:pPr lvl="0"/>
            <a:r>
              <a:rPr b="1"/>
              <a:t>Automated External Defibrillators (AEDs)</a:t>
            </a:r>
            <a:r>
              <a:rPr/>
              <a:t>: Located in all major buildings, clearly marked.</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9. Quick Reference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Facility Type</a:t>
                      </a:r>
                    </a:p>
                  </a:txBody>
                  <a:tcPr/>
                </a:tc>
                <a:tc>
                  <a:txBody>
                    <a:bodyPr/>
                    <a:lstStyle/>
                    <a:p>
                      <a:pPr lvl="0" indent="0" marL="0">
                        <a:buNone/>
                      </a:pPr>
                      <a:r>
                        <a:rPr/>
                        <a:t>Notable Locations</a:t>
                      </a:r>
                    </a:p>
                  </a:txBody>
                  <a:tcPr/>
                </a:tc>
              </a:tr>
              <a:tr h="0">
                <a:tc>
                  <a:txBody>
                    <a:bodyPr/>
                    <a:lstStyle/>
                    <a:p>
                      <a:pPr lvl="0" indent="0" marL="0">
                        <a:buNone/>
                      </a:pPr>
                      <a:r>
                        <a:rPr/>
                        <a:t>Academic Buildings</a:t>
                      </a:r>
                    </a:p>
                  </a:txBody>
                </a:tc>
                <a:tc>
                  <a:txBody>
                    <a:bodyPr/>
                    <a:lstStyle/>
                    <a:p>
                      <a:pPr lvl="0" indent="0" marL="0">
                        <a:buNone/>
                      </a:pPr>
                      <a:r>
                        <a:rPr/>
                        <a:t>IVH, HSC, CEC, LAM, BSS, FBP</a:t>
                      </a:r>
                    </a:p>
                  </a:txBody>
                </a:tc>
              </a:tr>
              <a:tr h="0">
                <a:tc>
                  <a:txBody>
                    <a:bodyPr/>
                    <a:lstStyle/>
                    <a:p>
                      <a:pPr lvl="0" indent="0" marL="0">
                        <a:buNone/>
                      </a:pPr>
                      <a:r>
                        <a:rPr/>
                        <a:t>Dining</a:t>
                      </a:r>
                    </a:p>
                  </a:txBody>
                </a:tc>
                <a:tc>
                  <a:txBody>
                    <a:bodyPr/>
                    <a:lstStyle/>
                    <a:p>
                      <a:pPr lvl="0" indent="0" marL="0">
                        <a:buNone/>
                      </a:pPr>
                      <a:r>
                        <a:rPr/>
                        <a:t>MDH, Coffee Shop @ SLA</a:t>
                      </a:r>
                    </a:p>
                  </a:txBody>
                </a:tc>
              </a:tr>
              <a:tr h="0">
                <a:tc>
                  <a:txBody>
                    <a:bodyPr/>
                    <a:lstStyle/>
                    <a:p>
                      <a:pPr lvl="0" indent="0" marL="0">
                        <a:buNone/>
                      </a:pPr>
                      <a:r>
                        <a:rPr/>
                        <a:t>Bookstore</a:t>
                      </a:r>
                    </a:p>
                  </a:txBody>
                </a:tc>
                <a:tc>
                  <a:txBody>
                    <a:bodyPr/>
                    <a:lstStyle/>
                    <a:p>
                      <a:pPr lvl="0" indent="0" marL="0">
                        <a:buNone/>
                      </a:pPr>
                      <a:r>
                        <a:rPr/>
                        <a:t>CBK</a:t>
                      </a:r>
                    </a:p>
                  </a:txBody>
                </a:tc>
              </a:tr>
              <a:tr h="0">
                <a:tc>
                  <a:txBody>
                    <a:bodyPr/>
                    <a:lstStyle/>
                    <a:p>
                      <a:pPr lvl="0" indent="0" marL="0">
                        <a:buNone/>
                      </a:pPr>
                      <a:r>
                        <a:rPr/>
                        <a:t>Student Union</a:t>
                      </a:r>
                    </a:p>
                  </a:txBody>
                </a:tc>
                <a:tc>
                  <a:txBody>
                    <a:bodyPr/>
                    <a:lstStyle/>
                    <a:p>
                      <a:pPr lvl="0" indent="0" marL="0">
                        <a:buNone/>
                      </a:pPr>
                      <a:r>
                        <a:rPr/>
                        <a:t>USU</a:t>
                      </a:r>
                    </a:p>
                  </a:txBody>
                </a:tc>
              </a:tr>
              <a:tr h="0">
                <a:tc>
                  <a:txBody>
                    <a:bodyPr/>
                    <a:lstStyle/>
                    <a:p>
                      <a:pPr lvl="0" indent="0" marL="0">
                        <a:buNone/>
                      </a:pPr>
                      <a:r>
                        <a:rPr/>
                        <a:t>Recreation</a:t>
                      </a:r>
                    </a:p>
                  </a:txBody>
                </a:tc>
                <a:tc>
                  <a:txBody>
                    <a:bodyPr/>
                    <a:lstStyle/>
                    <a:p>
                      <a:pPr lvl="0" indent="0" marL="0">
                        <a:buNone/>
                      </a:pPr>
                      <a:r>
                        <a:rPr/>
                        <a:t>ARC, Sylvan Garden</a:t>
                      </a:r>
                    </a:p>
                  </a:txBody>
                </a:tc>
              </a:tr>
              <a:tr h="0">
                <a:tc>
                  <a:txBody>
                    <a:bodyPr/>
                    <a:lstStyle/>
                    <a:p>
                      <a:pPr lvl="0" indent="0" marL="0">
                        <a:buNone/>
                      </a:pPr>
                      <a:r>
                        <a:rPr/>
                        <a:t>Parking</a:t>
                      </a:r>
                    </a:p>
                  </a:txBody>
                </a:tc>
                <a:tc>
                  <a:txBody>
                    <a:bodyPr/>
                    <a:lstStyle/>
                    <a:p>
                      <a:pPr lvl="0" indent="0" marL="0">
                        <a:buNone/>
                      </a:pPr>
                      <a:r>
                        <a:rPr/>
                        <a:t>P1–P5</a:t>
                      </a:r>
                    </a:p>
                  </a:txBody>
                </a:tc>
              </a:tr>
              <a:tr h="0">
                <a:tc>
                  <a:txBody>
                    <a:bodyPr/>
                    <a:lstStyle/>
                    <a:p>
                      <a:pPr lvl="0" indent="0" marL="0">
                        <a:buNone/>
                      </a:pPr>
                      <a:r>
                        <a:rPr/>
                        <a:t>Emergency Stations</a:t>
                      </a:r>
                    </a:p>
                  </a:txBody>
                </a:tc>
                <a:tc>
                  <a:txBody>
                    <a:bodyPr/>
                    <a:lstStyle/>
                    <a:p>
                      <a:pPr lvl="0" indent="0" marL="0">
                        <a:buNone/>
                      </a:pPr>
                      <a:r>
                        <a:rPr/>
                        <a:t>E-1 to E-7</a:t>
                      </a:r>
                    </a:p>
                  </a:txBody>
                </a:tc>
              </a:tr>
              <a:tr h="0">
                <a:tc>
                  <a:txBody>
                    <a:bodyPr/>
                    <a:lstStyle/>
                    <a:p>
                      <a:pPr lvl="0" indent="0" marL="0">
                        <a:buNone/>
                      </a:pPr>
                      <a:r>
                        <a:rPr/>
                        <a:t>Health/Wellness</a:t>
                      </a:r>
                    </a:p>
                  </a:txBody>
                </a:tc>
                <a:tc>
                  <a:txBody>
                    <a:bodyPr/>
                    <a:lstStyle/>
                    <a:p>
                      <a:pPr lvl="0" indent="0" marL="0">
                        <a:buNone/>
                      </a:pPr>
                      <a:r>
                        <a:rPr/>
                        <a:t>HWC</a:t>
                      </a:r>
                    </a:p>
                  </a:txBody>
                </a:tc>
              </a:tr>
              <a:tr h="0">
                <a:tc>
                  <a:txBody>
                    <a:bodyPr/>
                    <a:lstStyle/>
                    <a:p>
                      <a:pPr lvl="0" indent="0" marL="0">
                        <a:buNone/>
                      </a:pPr>
                      <a:r>
                        <a:rPr/>
                        <a:t>Shuttle Stops</a:t>
                      </a:r>
                    </a:p>
                  </a:txBody>
                </a:tc>
                <a:tc>
                  <a:txBody>
                    <a:bodyPr/>
                    <a:lstStyle/>
                    <a:p>
                      <a:pPr lvl="0" indent="0" marL="0">
                        <a:buNone/>
                      </a:pPr>
                      <a:r>
                        <a:rPr/>
                        <a:t>Main Entrance, North Crescent, Commerce Circle</a:t>
                      </a:r>
                    </a:p>
                  </a:txBody>
                </a:tc>
              </a:tr>
            </a:tbl>
          </a:graphicData>
        </a:graphic>
      </p:graphicFrame>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For a detailed illustrated map, printed copies are available at the Admissions Office (Walker Administration Building, Room 102), or download the interactive campus map from </a:t>
            </a:r>
            <a:r>
              <a:rPr>
                <a:hlinkClick r:id="rId2"/>
              </a:rPr>
              <a:t>www.cendara.edu/campusmap</a:t>
            </a:r>
            <a:r>
              <a:rPr/>
              <a:t>.</a:t>
            </a:r>
          </a:p>
          <a:p>
            <a:pPr lvl="0" indent="0" marL="0">
              <a:buNone/>
            </a:pPr>
            <a:r>
              <a:rPr b="1"/>
              <a:t>For emergencies, dial campus security: (732) 555-4000</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2025-07-29T15:05:42Z</dcterms:created>
  <dcterms:modified xsi:type="dcterms:W3CDTF">2025-07-29T15:05:42Z</dcterms:modified>
</cp:coreProperties>
</file>

<file path=docProps/custom.xml><?xml version="1.0" encoding="utf-8"?>
<Properties xmlns="http://schemas.openxmlformats.org/officeDocument/2006/custom-properties" xmlns:vt="http://schemas.openxmlformats.org/officeDocument/2006/docPropsVTypes"/>
</file>