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accounts.cendara.edu/handbook"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Cendara University Undergraduate and Graduate Fee Structure</a:t>
            </a:r>
          </a:p>
        </p:txBody>
      </p:sp>
      <p:sp>
        <p:nvSpPr>
          <p:cNvPr id="3" name="Content Placeholder 2"/>
          <p:cNvSpPr>
            <a:spLocks noGrp="1"/>
          </p:cNvSpPr>
          <p:nvPr>
            <p:ph idx="1"/>
          </p:nvPr>
        </p:nvSpPr>
        <p:spPr/>
        <p:txBody>
          <a:bodyPr/>
          <a:lstStyle/>
          <a:p>
            <a:pPr lvl="0" indent="0" marL="0">
              <a:buNone/>
            </a:pPr>
            <a:r>
              <a:rPr/>
              <a:t>Cendara University is committed to providing a transparent overview of the expected costs associated with enrollment. The fee ranges outlined below are for the academic year 2024–2025 and apply to both domestic and international students. Actual charges may vary based on chosen program, housing selection, dining preference, and individual course loads.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 Tuition</a:t>
            </a:r>
          </a:p>
          <a:p>
            <a:pPr lvl="0" indent="0" marL="0">
              <a:buNone/>
            </a:pPr>
            <a:r>
              <a:rPr/>
              <a:t>Tuition varies by degree level and academic program. The following ranges represent annual full-time enrollment (24–30 credits undergraduate, 18–24 credits graduate):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Program/Degree</a:t>
                      </a:r>
                    </a:p>
                  </a:txBody>
                  <a:tcPr/>
                </a:tc>
                <a:tc>
                  <a:txBody>
                    <a:bodyPr/>
                    <a:lstStyle/>
                    <a:p>
                      <a:pPr lvl="0" indent="0" marL="0">
                        <a:buNone/>
                      </a:pPr>
                      <a:r>
                        <a:rPr/>
                        <a:t>Tuition Range (Per Year)</a:t>
                      </a:r>
                    </a:p>
                  </a:txBody>
                  <a:tcPr/>
                </a:tc>
              </a:tr>
              <a:tr h="0">
                <a:tc>
                  <a:txBody>
                    <a:bodyPr/>
                    <a:lstStyle/>
                    <a:p>
                      <a:pPr lvl="0" indent="0" marL="0">
                        <a:buNone/>
                      </a:pPr>
                      <a:r>
                        <a:rPr/>
                        <a:t>Bachelor of Arts/Science/Engineering</a:t>
                      </a:r>
                    </a:p>
                  </a:txBody>
                </a:tc>
                <a:tc>
                  <a:txBody>
                    <a:bodyPr/>
                    <a:lstStyle/>
                    <a:p>
                      <a:pPr lvl="0" indent="0" marL="0">
                        <a:buNone/>
                      </a:pPr>
                      <a:r>
                        <a:rPr/>
                        <a:t>$24,000 – $29,000</a:t>
                      </a:r>
                    </a:p>
                  </a:txBody>
                </a:tc>
              </a:tr>
              <a:tr h="0">
                <a:tc>
                  <a:txBody>
                    <a:bodyPr/>
                    <a:lstStyle/>
                    <a:p>
                      <a:pPr lvl="0" indent="0" marL="0">
                        <a:buNone/>
                      </a:pPr>
                      <a:r>
                        <a:rPr/>
                        <a:t>Bachelor of Business Administration/Nursing</a:t>
                      </a:r>
                    </a:p>
                  </a:txBody>
                </a:tc>
                <a:tc>
                  <a:txBody>
                    <a:bodyPr/>
                    <a:lstStyle/>
                    <a:p>
                      <a:pPr lvl="0" indent="0" marL="0">
                        <a:buNone/>
                      </a:pPr>
                      <a:r>
                        <a:rPr/>
                        <a:t>$26,000 – $32,000</a:t>
                      </a:r>
                    </a:p>
                  </a:txBody>
                </a:tc>
              </a:tr>
              <a:tr h="0">
                <a:tc>
                  <a:txBody>
                    <a:bodyPr/>
                    <a:lstStyle/>
                    <a:p>
                      <a:pPr lvl="0" indent="0" marL="0">
                        <a:buNone/>
                      </a:pPr>
                      <a:r>
                        <a:rPr/>
                        <a:t>Bachelor of Education</a:t>
                      </a:r>
                    </a:p>
                  </a:txBody>
                </a:tc>
                <a:tc>
                  <a:txBody>
                    <a:bodyPr/>
                    <a:lstStyle/>
                    <a:p>
                      <a:pPr lvl="0" indent="0" marL="0">
                        <a:buNone/>
                      </a:pPr>
                      <a:r>
                        <a:rPr/>
                        <a:t>$23,500 – $26,500</a:t>
                      </a:r>
                    </a:p>
                  </a:txBody>
                </a:tc>
              </a:tr>
              <a:tr h="0">
                <a:tc>
                  <a:txBody>
                    <a:bodyPr/>
                    <a:lstStyle/>
                    <a:p>
                      <a:pPr lvl="0" indent="0" marL="0">
                        <a:buNone/>
                      </a:pPr>
                      <a:r>
                        <a:rPr/>
                        <a:t>Master of Arts/Science/Engineering</a:t>
                      </a:r>
                    </a:p>
                  </a:txBody>
                </a:tc>
                <a:tc>
                  <a:txBody>
                    <a:bodyPr/>
                    <a:lstStyle/>
                    <a:p>
                      <a:pPr lvl="0" indent="0" marL="0">
                        <a:buNone/>
                      </a:pPr>
                      <a:r>
                        <a:rPr/>
                        <a:t>$13,500 – $18,200</a:t>
                      </a:r>
                    </a:p>
                  </a:txBody>
                </a:tc>
              </a:tr>
              <a:tr h="0">
                <a:tc>
                  <a:txBody>
                    <a:bodyPr/>
                    <a:lstStyle/>
                    <a:p>
                      <a:pPr lvl="0" indent="0" marL="0">
                        <a:buNone/>
                      </a:pPr>
                      <a:r>
                        <a:rPr/>
                        <a:t>Master of Business Administration/Public Health</a:t>
                      </a:r>
                    </a:p>
                  </a:txBody>
                </a:tc>
                <a:tc>
                  <a:txBody>
                    <a:bodyPr/>
                    <a:lstStyle/>
                    <a:p>
                      <a:pPr lvl="0" indent="0" marL="0">
                        <a:buNone/>
                      </a:pPr>
                      <a:r>
                        <a:rPr/>
                        <a:t>$17,800 – $21,400</a:t>
                      </a:r>
                    </a:p>
                  </a:txBody>
                </a:tc>
              </a:tr>
              <a:tr h="0">
                <a:tc>
                  <a:txBody>
                    <a:bodyPr/>
                    <a:lstStyle/>
                    <a:p>
                      <a:pPr lvl="0" indent="0" marL="0">
                        <a:buNone/>
                      </a:pPr>
                      <a:r>
                        <a:rPr/>
                        <a:t>Doctor of Philosophy (Ph.D.)</a:t>
                      </a:r>
                    </a:p>
                  </a:txBody>
                </a:tc>
                <a:tc>
                  <a:txBody>
                    <a:bodyPr/>
                    <a:lstStyle/>
                    <a:p>
                      <a:pPr lvl="0" indent="0" marL="0">
                        <a:buNone/>
                      </a:pPr>
                      <a:r>
                        <a:rPr/>
                        <a:t>$16,500 – $23,000</a:t>
                      </a:r>
                    </a:p>
                  </a:txBody>
                </a:tc>
              </a:tr>
              <a:tr h="0">
                <a:tc>
                  <a:txBody>
                    <a:bodyPr/>
                    <a:lstStyle/>
                    <a:p>
                      <a:pPr lvl="0" indent="0" marL="0">
                        <a:buNone/>
                      </a:pPr>
                      <a:r>
                        <a:rPr/>
                        <a:t>Graduate Certificate Programs</a:t>
                      </a:r>
                    </a:p>
                  </a:txBody>
                </a:tc>
                <a:tc>
                  <a:txBody>
                    <a:bodyPr/>
                    <a:lstStyle/>
                    <a:p>
                      <a:pPr lvl="0" indent="0" marL="0">
                        <a:buNone/>
                      </a:pPr>
                      <a:r>
                        <a:rPr/>
                        <a:t>$9,800 – $12,500 (per certificate)</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Part-Time Tuition</a:t>
            </a:r>
            <a:r>
              <a:rPr/>
              <a:t>: Calculated per credit hour, typically $900 – $1,200/credit (undergraduate); $1,050 – $1,500/credit (graduate)</a:t>
            </a:r>
          </a:p>
          <a:p>
            <a:pPr lvl="0"/>
            <a:r>
              <a:rPr b="1"/>
              <a:t>International students</a:t>
            </a:r>
            <a:r>
              <a:rPr/>
              <a:t>: Add $2,000 – $5,000 annually for certain programs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2. Mandatory Fees</a:t>
            </a:r>
          </a:p>
          <a:p>
            <a:pPr lvl="0" indent="0" marL="0">
              <a:buNone/>
            </a:pPr>
            <a:r>
              <a:rPr/>
              <a:t>All enrolled students are assessed general fees in addition to tuition.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Fee Category</a:t>
                      </a:r>
                    </a:p>
                  </a:txBody>
                  <a:tcPr/>
                </a:tc>
                <a:tc>
                  <a:txBody>
                    <a:bodyPr/>
                    <a:lstStyle/>
                    <a:p>
                      <a:pPr lvl="0" indent="0" marL="0">
                        <a:buNone/>
                      </a:pPr>
                      <a:r>
                        <a:rPr/>
                        <a:t>Annual Range</a:t>
                      </a:r>
                    </a:p>
                  </a:txBody>
                  <a:tcPr/>
                </a:tc>
                <a:tc>
                  <a:txBody>
                    <a:bodyPr/>
                    <a:lstStyle/>
                    <a:p>
                      <a:pPr lvl="0" indent="0" marL="0">
                        <a:buNone/>
                      </a:pPr>
                      <a:r>
                        <a:rPr/>
                        <a:t>Description</a:t>
                      </a:r>
                    </a:p>
                  </a:txBody>
                  <a:tcPr/>
                </a:tc>
              </a:tr>
              <a:tr h="0">
                <a:tc>
                  <a:txBody>
                    <a:bodyPr/>
                    <a:lstStyle/>
                    <a:p>
                      <a:pPr lvl="0" indent="0" marL="0">
                        <a:buNone/>
                      </a:pPr>
                      <a:r>
                        <a:rPr/>
                        <a:t>Student Activities Fee</a:t>
                      </a:r>
                    </a:p>
                  </a:txBody>
                </a:tc>
                <a:tc>
                  <a:txBody>
                    <a:bodyPr/>
                    <a:lstStyle/>
                    <a:p>
                      <a:pPr lvl="0" indent="0" marL="0">
                        <a:buNone/>
                      </a:pPr>
                      <a:r>
                        <a:rPr/>
                        <a:t>$350 – $500</a:t>
                      </a:r>
                    </a:p>
                  </a:txBody>
                </a:tc>
                <a:tc>
                  <a:txBody>
                    <a:bodyPr/>
                    <a:lstStyle/>
                    <a:p>
                      <a:pPr lvl="0" indent="0" marL="0">
                        <a:buNone/>
                      </a:pPr>
                      <a:r>
                        <a:rPr/>
                        <a:t>Supports clubs, programming, and student government</a:t>
                      </a:r>
                    </a:p>
                  </a:txBody>
                </a:tc>
              </a:tr>
              <a:tr h="0">
                <a:tc>
                  <a:txBody>
                    <a:bodyPr/>
                    <a:lstStyle/>
                    <a:p>
                      <a:pPr lvl="0" indent="0" marL="0">
                        <a:buNone/>
                      </a:pPr>
                      <a:r>
                        <a:rPr/>
                        <a:t>Technology Fee</a:t>
                      </a:r>
                    </a:p>
                  </a:txBody>
                </a:tc>
                <a:tc>
                  <a:txBody>
                    <a:bodyPr/>
                    <a:lstStyle/>
                    <a:p>
                      <a:pPr lvl="0" indent="0" marL="0">
                        <a:buNone/>
                      </a:pPr>
                      <a:r>
                        <a:rPr/>
                        <a:t>$250 – $400</a:t>
                      </a:r>
                    </a:p>
                  </a:txBody>
                </a:tc>
                <a:tc>
                  <a:txBody>
                    <a:bodyPr/>
                    <a:lstStyle/>
                    <a:p>
                      <a:pPr lvl="0" indent="0" marL="0">
                        <a:buNone/>
                      </a:pPr>
                      <a:r>
                        <a:rPr/>
                        <a:t>Access to campus computing and online resources</a:t>
                      </a:r>
                    </a:p>
                  </a:txBody>
                </a:tc>
              </a:tr>
              <a:tr h="0">
                <a:tc>
                  <a:txBody>
                    <a:bodyPr/>
                    <a:lstStyle/>
                    <a:p>
                      <a:pPr lvl="0" indent="0" marL="0">
                        <a:buNone/>
                      </a:pPr>
                      <a:r>
                        <a:rPr/>
                        <a:t>Health Services Fee</a:t>
                      </a:r>
                    </a:p>
                  </a:txBody>
                </a:tc>
                <a:tc>
                  <a:txBody>
                    <a:bodyPr/>
                    <a:lstStyle/>
                    <a:p>
                      <a:pPr lvl="0" indent="0" marL="0">
                        <a:buNone/>
                      </a:pPr>
                      <a:r>
                        <a:rPr/>
                        <a:t>$175 – $350</a:t>
                      </a:r>
                    </a:p>
                  </a:txBody>
                </a:tc>
                <a:tc>
                  <a:txBody>
                    <a:bodyPr/>
                    <a:lstStyle/>
                    <a:p>
                      <a:pPr lvl="0" indent="0" marL="0">
                        <a:buNone/>
                      </a:pPr>
                      <a:r>
                        <a:rPr/>
                        <a:t>On-campus health clinic, mental health support</a:t>
                      </a:r>
                    </a:p>
                  </a:txBody>
                </a:tc>
              </a:tr>
              <a:tr h="0">
                <a:tc>
                  <a:txBody>
                    <a:bodyPr/>
                    <a:lstStyle/>
                    <a:p>
                      <a:pPr lvl="0" indent="0" marL="0">
                        <a:buNone/>
                      </a:pPr>
                      <a:r>
                        <a:rPr/>
                        <a:t>Library Fee</a:t>
                      </a:r>
                    </a:p>
                  </a:txBody>
                </a:tc>
                <a:tc>
                  <a:txBody>
                    <a:bodyPr/>
                    <a:lstStyle/>
                    <a:p>
                      <a:pPr lvl="0" indent="0" marL="0">
                        <a:buNone/>
                      </a:pPr>
                      <a:r>
                        <a:rPr/>
                        <a:t>$90 – $140</a:t>
                      </a:r>
                    </a:p>
                  </a:txBody>
                </a:tc>
                <a:tc>
                  <a:txBody>
                    <a:bodyPr/>
                    <a:lstStyle/>
                    <a:p>
                      <a:pPr lvl="0" indent="0" marL="0">
                        <a:buNone/>
                      </a:pPr>
                      <a:r>
                        <a:rPr/>
                        <a:t>Library resources and special collections</a:t>
                      </a:r>
                    </a:p>
                  </a:txBody>
                </a:tc>
              </a:tr>
              <a:tr h="0">
                <a:tc>
                  <a:txBody>
                    <a:bodyPr/>
                    <a:lstStyle/>
                    <a:p>
                      <a:pPr lvl="0" indent="0" marL="0">
                        <a:buNone/>
                      </a:pPr>
                      <a:r>
                        <a:rPr/>
                        <a:t>Registration Fee</a:t>
                      </a:r>
                    </a:p>
                  </a:txBody>
                </a:tc>
                <a:tc>
                  <a:txBody>
                    <a:bodyPr/>
                    <a:lstStyle/>
                    <a:p>
                      <a:pPr lvl="0" indent="0" marL="0">
                        <a:buNone/>
                      </a:pPr>
                      <a:r>
                        <a:rPr/>
                        <a:t>$70 – $120</a:t>
                      </a:r>
                    </a:p>
                  </a:txBody>
                </a:tc>
                <a:tc>
                  <a:txBody>
                    <a:bodyPr/>
                    <a:lstStyle/>
                    <a:p>
                      <a:pPr lvl="0" indent="0" marL="0">
                        <a:buNone/>
                      </a:pPr>
                      <a:r>
                        <a:rPr/>
                        <a:t>Course registration and records management</a:t>
                      </a:r>
                    </a:p>
                  </a:txBody>
                </a:tc>
              </a:tr>
              <a:tr h="0">
                <a:tc>
                  <a:txBody>
                    <a:bodyPr/>
                    <a:lstStyle/>
                    <a:p>
                      <a:pPr lvl="0" indent="0" marL="0">
                        <a:buNone/>
                      </a:pPr>
                      <a:r>
                        <a:rPr/>
                        <a:t>New Student Orientation</a:t>
                      </a:r>
                    </a:p>
                  </a:txBody>
                </a:tc>
                <a:tc>
                  <a:txBody>
                    <a:bodyPr/>
                    <a:lstStyle/>
                    <a:p>
                      <a:pPr lvl="0" indent="0" marL="0">
                        <a:buNone/>
                      </a:pPr>
                      <a:r>
                        <a:rPr/>
                        <a:t>$120 – $200</a:t>
                      </a:r>
                    </a:p>
                  </a:txBody>
                </a:tc>
                <a:tc>
                  <a:txBody>
                    <a:bodyPr/>
                    <a:lstStyle/>
                    <a:p>
                      <a:pPr lvl="0" indent="0" marL="0">
                        <a:buNone/>
                      </a:pPr>
                      <a:r>
                        <a:rPr/>
                        <a:t>One-time, for all first-time enrollees</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3. Room (Housing)</a:t>
            </a:r>
          </a:p>
          <a:p>
            <a:pPr lvl="0" indent="0" marL="0">
              <a:buNone/>
            </a:pPr>
            <a:r>
              <a:rPr/>
              <a:t>Cendara University offers several on-campus residence options. Costs vary by building, room type, and amenities.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Housing Option</a:t>
                      </a:r>
                    </a:p>
                  </a:txBody>
                  <a:tcPr/>
                </a:tc>
                <a:tc>
                  <a:txBody>
                    <a:bodyPr/>
                    <a:lstStyle/>
                    <a:p>
                      <a:pPr lvl="0" indent="0" marL="0">
                        <a:buNone/>
                      </a:pPr>
                      <a:r>
                        <a:rPr/>
                        <a:t>Annual Range</a:t>
                      </a:r>
                    </a:p>
                  </a:txBody>
                  <a:tcPr/>
                </a:tc>
                <a:tc>
                  <a:txBody>
                    <a:bodyPr/>
                    <a:lstStyle/>
                    <a:p>
                      <a:pPr lvl="0" indent="0" marL="0">
                        <a:buNone/>
                      </a:pPr>
                      <a:r>
                        <a:rPr/>
                        <a:t>Notes</a:t>
                      </a:r>
                    </a:p>
                  </a:txBody>
                  <a:tcPr/>
                </a:tc>
              </a:tr>
              <a:tr h="0">
                <a:tc>
                  <a:txBody>
                    <a:bodyPr/>
                    <a:lstStyle/>
                    <a:p>
                      <a:pPr lvl="0" indent="0" marL="0">
                        <a:buNone/>
                      </a:pPr>
                      <a:r>
                        <a:rPr/>
                        <a:t>Traditional Double</a:t>
                      </a:r>
                    </a:p>
                  </a:txBody>
                </a:tc>
                <a:tc>
                  <a:txBody>
                    <a:bodyPr/>
                    <a:lstStyle/>
                    <a:p>
                      <a:pPr lvl="0" indent="0" marL="0">
                        <a:buNone/>
                      </a:pPr>
                      <a:r>
                        <a:rPr/>
                        <a:t>$5,400 – $6,800</a:t>
                      </a:r>
                    </a:p>
                  </a:txBody>
                </a:tc>
                <a:tc>
                  <a:txBody>
                    <a:bodyPr/>
                    <a:lstStyle/>
                    <a:p>
                      <a:pPr lvl="0" indent="0" marL="0">
                        <a:buNone/>
                      </a:pPr>
                      <a:r>
                        <a:rPr/>
                        <a:t>Shared room, communal bathroom</a:t>
                      </a:r>
                    </a:p>
                  </a:txBody>
                </a:tc>
              </a:tr>
              <a:tr h="0">
                <a:tc>
                  <a:txBody>
                    <a:bodyPr/>
                    <a:lstStyle/>
                    <a:p>
                      <a:pPr lvl="0" indent="0" marL="0">
                        <a:buNone/>
                      </a:pPr>
                      <a:r>
                        <a:rPr/>
                        <a:t>Single (Private)</a:t>
                      </a:r>
                    </a:p>
                  </a:txBody>
                </a:tc>
                <a:tc>
                  <a:txBody>
                    <a:bodyPr/>
                    <a:lstStyle/>
                    <a:p>
                      <a:pPr lvl="0" indent="0" marL="0">
                        <a:buNone/>
                      </a:pPr>
                      <a:r>
                        <a:rPr/>
                        <a:t>$7,200 – $9,100</a:t>
                      </a:r>
                    </a:p>
                  </a:txBody>
                </a:tc>
                <a:tc>
                  <a:txBody>
                    <a:bodyPr/>
                    <a:lstStyle/>
                    <a:p>
                      <a:pPr lvl="0" indent="0" marL="0">
                        <a:buNone/>
                      </a:pPr>
                      <a:r>
                        <a:rPr/>
                        <a:t>Private room, shared facilities</a:t>
                      </a:r>
                    </a:p>
                  </a:txBody>
                </a:tc>
              </a:tr>
              <a:tr h="0">
                <a:tc>
                  <a:txBody>
                    <a:bodyPr/>
                    <a:lstStyle/>
                    <a:p>
                      <a:pPr lvl="0" indent="0" marL="0">
                        <a:buNone/>
                      </a:pPr>
                      <a:r>
                        <a:rPr/>
                        <a:t>Suite-Style (2–4 students)</a:t>
                      </a:r>
                    </a:p>
                  </a:txBody>
                </a:tc>
                <a:tc>
                  <a:txBody>
                    <a:bodyPr/>
                    <a:lstStyle/>
                    <a:p>
                      <a:pPr lvl="0" indent="0" marL="0">
                        <a:buNone/>
                      </a:pPr>
                      <a:r>
                        <a:rPr/>
                        <a:t>$8,600 – $10,400</a:t>
                      </a:r>
                    </a:p>
                  </a:txBody>
                </a:tc>
                <a:tc>
                  <a:txBody>
                    <a:bodyPr/>
                    <a:lstStyle/>
                    <a:p>
                      <a:pPr lvl="0" indent="0" marL="0">
                        <a:buNone/>
                      </a:pPr>
                      <a:r>
                        <a:rPr/>
                        <a:t>Shared suite, en-suite bathroom</a:t>
                      </a:r>
                    </a:p>
                  </a:txBody>
                </a:tc>
              </a:tr>
              <a:tr h="0">
                <a:tc>
                  <a:txBody>
                    <a:bodyPr/>
                    <a:lstStyle/>
                    <a:p>
                      <a:pPr lvl="0" indent="0" marL="0">
                        <a:buNone/>
                      </a:pPr>
                      <a:r>
                        <a:rPr/>
                        <a:t>Apartment (Upperclass/Grad only)</a:t>
                      </a:r>
                    </a:p>
                  </a:txBody>
                </a:tc>
                <a:tc>
                  <a:txBody>
                    <a:bodyPr/>
                    <a:lstStyle/>
                    <a:p>
                      <a:pPr lvl="0" indent="0" marL="0">
                        <a:buNone/>
                      </a:pPr>
                      <a:r>
                        <a:rPr/>
                        <a:t>$9,800 – $12,250</a:t>
                      </a:r>
                    </a:p>
                  </a:txBody>
                </a:tc>
                <a:tc>
                  <a:txBody>
                    <a:bodyPr/>
                    <a:lstStyle/>
                    <a:p>
                      <a:pPr lvl="0" indent="0" marL="0">
                        <a:buNone/>
                      </a:pPr>
                      <a:r>
                        <a:rPr/>
                        <a:t>Kitchen, living room, private BR</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Utilities and internet included in all campus housing</a:t>
            </a:r>
          </a:p>
          <a:p>
            <a:pPr lvl="0"/>
            <a:r>
              <a:rPr b="1"/>
              <a:t>Limited off-campus housing listings available ($450 – $950/month per person)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4. Board (Meal Plans)</a:t>
            </a:r>
          </a:p>
          <a:p>
            <a:pPr lvl="0" indent="0" marL="0">
              <a:buNone/>
            </a:pPr>
            <a:r>
              <a:rPr/>
              <a:t>Meal plans are required for first- and second-year residents.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Plan Type</a:t>
                      </a:r>
                    </a:p>
                  </a:txBody>
                  <a:tcPr/>
                </a:tc>
                <a:tc>
                  <a:txBody>
                    <a:bodyPr/>
                    <a:lstStyle/>
                    <a:p>
                      <a:pPr lvl="0" indent="0" marL="0">
                        <a:buNone/>
                      </a:pPr>
                      <a:r>
                        <a:rPr/>
                        <a:t>Annual Range</a:t>
                      </a:r>
                    </a:p>
                  </a:txBody>
                  <a:tcPr/>
                </a:tc>
                <a:tc>
                  <a:txBody>
                    <a:bodyPr/>
                    <a:lstStyle/>
                    <a:p>
                      <a:pPr lvl="0" indent="0" marL="0">
                        <a:buNone/>
                      </a:pPr>
                      <a:r>
                        <a:rPr/>
                        <a:t>Average Meals per Week</a:t>
                      </a:r>
                    </a:p>
                  </a:txBody>
                  <a:tcPr/>
                </a:tc>
              </a:tr>
              <a:tr h="0">
                <a:tc>
                  <a:txBody>
                    <a:bodyPr/>
                    <a:lstStyle/>
                    <a:p>
                      <a:pPr lvl="0" indent="0" marL="0">
                        <a:buNone/>
                      </a:pPr>
                      <a:r>
                        <a:rPr/>
                        <a:t>Platinum</a:t>
                      </a:r>
                    </a:p>
                  </a:txBody>
                </a:tc>
                <a:tc>
                  <a:txBody>
                    <a:bodyPr/>
                    <a:lstStyle/>
                    <a:p>
                      <a:pPr lvl="0" indent="0" marL="0">
                        <a:buNone/>
                      </a:pPr>
                      <a:r>
                        <a:rPr/>
                        <a:t>$5,200 – $5,850</a:t>
                      </a:r>
                    </a:p>
                  </a:txBody>
                </a:tc>
                <a:tc>
                  <a:txBody>
                    <a:bodyPr/>
                    <a:lstStyle/>
                    <a:p>
                      <a:pPr lvl="0" indent="0" marL="0">
                        <a:buNone/>
                      </a:pPr>
                      <a:r>
                        <a:rPr/>
                        <a:t>Unlimited dining hall + retail credit</a:t>
                      </a:r>
                    </a:p>
                  </a:txBody>
                </a:tc>
              </a:tr>
              <a:tr h="0">
                <a:tc>
                  <a:txBody>
                    <a:bodyPr/>
                    <a:lstStyle/>
                    <a:p>
                      <a:pPr lvl="0" indent="0" marL="0">
                        <a:buNone/>
                      </a:pPr>
                      <a:r>
                        <a:rPr/>
                        <a:t>Gold</a:t>
                      </a:r>
                    </a:p>
                  </a:txBody>
                </a:tc>
                <a:tc>
                  <a:txBody>
                    <a:bodyPr/>
                    <a:lstStyle/>
                    <a:p>
                      <a:pPr lvl="0" indent="0" marL="0">
                        <a:buNone/>
                      </a:pPr>
                      <a:r>
                        <a:rPr/>
                        <a:t>$4,600 – $5,100</a:t>
                      </a:r>
                    </a:p>
                  </a:txBody>
                </a:tc>
                <a:tc>
                  <a:txBody>
                    <a:bodyPr/>
                    <a:lstStyle/>
                    <a:p>
                      <a:pPr lvl="0" indent="0" marL="0">
                        <a:buNone/>
                      </a:pPr>
                      <a:r>
                        <a:rPr/>
                        <a:t>14 meals/week + snack credits</a:t>
                      </a:r>
                    </a:p>
                  </a:txBody>
                </a:tc>
              </a:tr>
              <a:tr h="0">
                <a:tc>
                  <a:txBody>
                    <a:bodyPr/>
                    <a:lstStyle/>
                    <a:p>
                      <a:pPr lvl="0" indent="0" marL="0">
                        <a:buNone/>
                      </a:pPr>
                      <a:r>
                        <a:rPr/>
                        <a:t>Silver</a:t>
                      </a:r>
                    </a:p>
                  </a:txBody>
                </a:tc>
                <a:tc>
                  <a:txBody>
                    <a:bodyPr/>
                    <a:lstStyle/>
                    <a:p>
                      <a:pPr lvl="0" indent="0" marL="0">
                        <a:buNone/>
                      </a:pPr>
                      <a:r>
                        <a:rPr/>
                        <a:t>$3,800 – $4,350</a:t>
                      </a:r>
                    </a:p>
                  </a:txBody>
                </a:tc>
                <a:tc>
                  <a:txBody>
                    <a:bodyPr/>
                    <a:lstStyle/>
                    <a:p>
                      <a:pPr lvl="0" indent="0" marL="0">
                        <a:buNone/>
                      </a:pPr>
                      <a:r>
                        <a:rPr/>
                        <a:t>10 meals/week + à la carte access</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Graduate and apartment residents may opt out or select partial plans ($700 – $2,200/year)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 Additional/Estimated Expenses</a:t>
            </a:r>
          </a:p>
          <a:p>
            <a:pPr lvl="0" indent="0" marL="0">
              <a:buNone/>
            </a:pPr>
            <a:r>
              <a:rPr/>
              <a:t>These costs are estimates and may vary by program or personal choices.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Expense Category</a:t>
                      </a:r>
                    </a:p>
                  </a:txBody>
                  <a:tcPr/>
                </a:tc>
                <a:tc>
                  <a:txBody>
                    <a:bodyPr/>
                    <a:lstStyle/>
                    <a:p>
                      <a:pPr lvl="0" indent="0" marL="0">
                        <a:buNone/>
                      </a:pPr>
                      <a:r>
                        <a:rPr/>
                        <a:t>Range (Annual)</a:t>
                      </a:r>
                    </a:p>
                  </a:txBody>
                  <a:tcPr/>
                </a:tc>
                <a:tc>
                  <a:txBody>
                    <a:bodyPr/>
                    <a:lstStyle/>
                    <a:p>
                      <a:pPr lvl="0" indent="0" marL="0">
                        <a:buNone/>
                      </a:pPr>
                      <a:r>
                        <a:rPr/>
                        <a:t>Description</a:t>
                      </a:r>
                    </a:p>
                  </a:txBody>
                  <a:tcPr/>
                </a:tc>
              </a:tr>
              <a:tr h="0">
                <a:tc>
                  <a:txBody>
                    <a:bodyPr/>
                    <a:lstStyle/>
                    <a:p>
                      <a:pPr lvl="0" indent="0" marL="0">
                        <a:buNone/>
                      </a:pPr>
                      <a:r>
                        <a:rPr/>
                        <a:t>Books &amp; Materials</a:t>
                      </a:r>
                    </a:p>
                  </a:txBody>
                </a:tc>
                <a:tc>
                  <a:txBody>
                    <a:bodyPr/>
                    <a:lstStyle/>
                    <a:p>
                      <a:pPr lvl="0" indent="0" marL="0">
                        <a:buNone/>
                      </a:pPr>
                      <a:r>
                        <a:rPr/>
                        <a:t>$950 – $1,400</a:t>
                      </a:r>
                    </a:p>
                  </a:txBody>
                </a:tc>
                <a:tc>
                  <a:txBody>
                    <a:bodyPr/>
                    <a:lstStyle/>
                    <a:p>
                      <a:pPr lvl="0" indent="0" marL="0">
                        <a:buNone/>
                      </a:pPr>
                      <a:r>
                        <a:rPr/>
                        <a:t>Varies by discipline and course load</a:t>
                      </a:r>
                    </a:p>
                  </a:txBody>
                </a:tc>
              </a:tr>
              <a:tr h="0">
                <a:tc>
                  <a:txBody>
                    <a:bodyPr/>
                    <a:lstStyle/>
                    <a:p>
                      <a:pPr lvl="0" indent="0" marL="0">
                        <a:buNone/>
                      </a:pPr>
                      <a:r>
                        <a:rPr/>
                        <a:t>Course/Lab Fees</a:t>
                      </a:r>
                    </a:p>
                  </a:txBody>
                </a:tc>
                <a:tc>
                  <a:txBody>
                    <a:bodyPr/>
                    <a:lstStyle/>
                    <a:p>
                      <a:pPr lvl="0" indent="0" marL="0">
                        <a:buNone/>
                      </a:pPr>
                      <a:r>
                        <a:rPr/>
                        <a:t>$120 – $650</a:t>
                      </a:r>
                    </a:p>
                  </a:txBody>
                </a:tc>
                <a:tc>
                  <a:txBody>
                    <a:bodyPr/>
                    <a:lstStyle/>
                    <a:p>
                      <a:pPr lvl="0" indent="0" marL="0">
                        <a:buNone/>
                      </a:pPr>
                      <a:r>
                        <a:rPr/>
                        <a:t>Charged for select courses (labs, art studios, etc.)</a:t>
                      </a:r>
                    </a:p>
                  </a:txBody>
                </a:tc>
              </a:tr>
              <a:tr h="0">
                <a:tc>
                  <a:txBody>
                    <a:bodyPr/>
                    <a:lstStyle/>
                    <a:p>
                      <a:pPr lvl="0" indent="0" marL="0">
                        <a:buNone/>
                      </a:pPr>
                      <a:r>
                        <a:rPr/>
                        <a:t>Transportation</a:t>
                      </a:r>
                    </a:p>
                  </a:txBody>
                </a:tc>
                <a:tc>
                  <a:txBody>
                    <a:bodyPr/>
                    <a:lstStyle/>
                    <a:p>
                      <a:pPr lvl="0" indent="0" marL="0">
                        <a:buNone/>
                      </a:pPr>
                      <a:r>
                        <a:rPr/>
                        <a:t>$650 – $1,200</a:t>
                      </a:r>
                    </a:p>
                  </a:txBody>
                </a:tc>
                <a:tc>
                  <a:txBody>
                    <a:bodyPr/>
                    <a:lstStyle/>
                    <a:p>
                      <a:pPr lvl="0" indent="0" marL="0">
                        <a:buNone/>
                      </a:pPr>
                      <a:r>
                        <a:rPr/>
                        <a:t>Local bus pass, occasional travel, parking if applicable</a:t>
                      </a:r>
                    </a:p>
                  </a:txBody>
                </a:tc>
              </a:tr>
              <a:tr h="0">
                <a:tc>
                  <a:txBody>
                    <a:bodyPr/>
                    <a:lstStyle/>
                    <a:p>
                      <a:pPr lvl="0" indent="0" marL="0">
                        <a:buNone/>
                      </a:pPr>
                      <a:r>
                        <a:rPr/>
                        <a:t>Personal/Miscellaneous</a:t>
                      </a:r>
                    </a:p>
                  </a:txBody>
                </a:tc>
                <a:tc>
                  <a:txBody>
                    <a:bodyPr/>
                    <a:lstStyle/>
                    <a:p>
                      <a:pPr lvl="0" indent="0" marL="0">
                        <a:buNone/>
                      </a:pPr>
                      <a:r>
                        <a:rPr/>
                        <a:t>$1,300 – $2,100</a:t>
                      </a:r>
                    </a:p>
                  </a:txBody>
                </a:tc>
                <a:tc>
                  <a:txBody>
                    <a:bodyPr/>
                    <a:lstStyle/>
                    <a:p>
                      <a:pPr lvl="0" indent="0" marL="0">
                        <a:buNone/>
                      </a:pPr>
                      <a:r>
                        <a:rPr/>
                        <a:t>Clothing, laundry, personal care, entertainment</a:t>
                      </a:r>
                    </a:p>
                  </a:txBody>
                </a:tc>
              </a:tr>
              <a:tr h="0">
                <a:tc>
                  <a:txBody>
                    <a:bodyPr/>
                    <a:lstStyle/>
                    <a:p>
                      <a:pPr lvl="0" indent="0" marL="0">
                        <a:buNone/>
                      </a:pPr>
                      <a:r>
                        <a:rPr/>
                        <a:t>Health Insurance</a:t>
                      </a:r>
                    </a:p>
                  </a:txBody>
                </a:tc>
                <a:tc>
                  <a:txBody>
                    <a:bodyPr/>
                    <a:lstStyle/>
                    <a:p>
                      <a:pPr lvl="0" indent="0" marL="0">
                        <a:buNone/>
                      </a:pPr>
                      <a:r>
                        <a:rPr/>
                        <a:t>$1,750 – $3,150</a:t>
                      </a:r>
                    </a:p>
                  </a:txBody>
                </a:tc>
                <a:tc>
                  <a:txBody>
                    <a:bodyPr/>
                    <a:lstStyle/>
                    <a:p>
                      <a:pPr lvl="0" indent="0" marL="0">
                        <a:buNone/>
                      </a:pPr>
                      <a:r>
                        <a:rPr/>
                        <a:t>Required for those without comparable coverage</a:t>
                      </a:r>
                    </a:p>
                  </a:txBody>
                </a:tc>
              </a:tr>
              <a:tr h="0">
                <a:tc>
                  <a:txBody>
                    <a:bodyPr/>
                    <a:lstStyle/>
                    <a:p>
                      <a:pPr lvl="0" indent="0" marL="0">
                        <a:buNone/>
                      </a:pPr>
                      <a:r>
                        <a:rPr/>
                        <a:t>Study Abroad Fees</a:t>
                      </a:r>
                    </a:p>
                  </a:txBody>
                </a:tc>
                <a:tc>
                  <a:txBody>
                    <a:bodyPr/>
                    <a:lstStyle/>
                    <a:p>
                      <a:pPr lvl="0" indent="0" marL="0">
                        <a:buNone/>
                      </a:pPr>
                      <a:r>
                        <a:rPr/>
                        <a:t>$1,800 – $6,900</a:t>
                      </a:r>
                    </a:p>
                  </a:txBody>
                </a:tc>
                <a:tc>
                  <a:txBody>
                    <a:bodyPr/>
                    <a:lstStyle/>
                    <a:p>
                      <a:pPr lvl="0" indent="0" marL="0">
                        <a:buNone/>
                      </a:pPr>
                      <a:r>
                        <a:rPr/>
                        <a:t>For approved global education program participants</a:t>
                      </a:r>
                    </a:p>
                  </a:txBody>
                </a:tc>
              </a:tr>
              <a:tr h="0">
                <a:tc>
                  <a:txBody>
                    <a:bodyPr/>
                    <a:lstStyle/>
                    <a:p>
                      <a:pPr lvl="0" indent="0" marL="0">
                        <a:buNone/>
                      </a:pPr>
                      <a:r>
                        <a:rPr/>
                        <a:t>Graduation Fee</a:t>
                      </a:r>
                    </a:p>
                  </a:txBody>
                </a:tc>
                <a:tc>
                  <a:txBody>
                    <a:bodyPr/>
                    <a:lstStyle/>
                    <a:p>
                      <a:pPr lvl="0" indent="0" marL="0">
                        <a:buNone/>
                      </a:pPr>
                      <a:r>
                        <a:rPr/>
                        <a:t>$90 – $200</a:t>
                      </a:r>
                    </a:p>
                  </a:txBody>
                </a:tc>
                <a:tc>
                  <a:txBody>
                    <a:bodyPr/>
                    <a:lstStyle/>
                    <a:p>
                      <a:pPr lvl="0" indent="0" marL="0">
                        <a:buNone/>
                      </a:pPr>
                      <a:r>
                        <a:rPr/>
                        <a:t>Assessed in final semester</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6. Summary Table: Sample Undergraduate Annual Budget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Category</a:t>
                      </a:r>
                    </a:p>
                  </a:txBody>
                  <a:tcPr/>
                </a:tc>
                <a:tc>
                  <a:txBody>
                    <a:bodyPr/>
                    <a:lstStyle/>
                    <a:p>
                      <a:pPr lvl="0" indent="0" marL="0">
                        <a:buNone/>
                      </a:pPr>
                      <a:r>
                        <a:rPr/>
                        <a:t>Estimated Range</a:t>
                      </a:r>
                    </a:p>
                  </a:txBody>
                  <a:tcPr/>
                </a:tc>
              </a:tr>
              <a:tr h="0">
                <a:tc>
                  <a:txBody>
                    <a:bodyPr/>
                    <a:lstStyle/>
                    <a:p>
                      <a:pPr lvl="0" indent="0" marL="0">
                        <a:buNone/>
                      </a:pPr>
                      <a:r>
                        <a:rPr/>
                        <a:t>Tuition</a:t>
                      </a:r>
                    </a:p>
                  </a:txBody>
                </a:tc>
                <a:tc>
                  <a:txBody>
                    <a:bodyPr/>
                    <a:lstStyle/>
                    <a:p>
                      <a:pPr lvl="0" indent="0" marL="0">
                        <a:buNone/>
                      </a:pPr>
                      <a:r>
                        <a:rPr/>
                        <a:t>$24,000 – $32,000</a:t>
                      </a:r>
                    </a:p>
                  </a:txBody>
                </a:tc>
              </a:tr>
              <a:tr h="0">
                <a:tc>
                  <a:txBody>
                    <a:bodyPr/>
                    <a:lstStyle/>
                    <a:p>
                      <a:pPr lvl="0" indent="0" marL="0">
                        <a:buNone/>
                      </a:pPr>
                      <a:r>
                        <a:rPr/>
                        <a:t>Mandatory Fees</a:t>
                      </a:r>
                    </a:p>
                  </a:txBody>
                </a:tc>
                <a:tc>
                  <a:txBody>
                    <a:bodyPr/>
                    <a:lstStyle/>
                    <a:p>
                      <a:pPr lvl="0" indent="0" marL="0">
                        <a:buNone/>
                      </a:pPr>
                      <a:r>
                        <a:rPr/>
                        <a:t>$935 – $1,410</a:t>
                      </a:r>
                    </a:p>
                  </a:txBody>
                </a:tc>
              </a:tr>
              <a:tr h="0">
                <a:tc>
                  <a:txBody>
                    <a:bodyPr/>
                    <a:lstStyle/>
                    <a:p>
                      <a:pPr lvl="0" indent="0" marL="0">
                        <a:buNone/>
                      </a:pPr>
                      <a:r>
                        <a:rPr/>
                        <a:t>Room (Housing)</a:t>
                      </a:r>
                    </a:p>
                  </a:txBody>
                </a:tc>
                <a:tc>
                  <a:txBody>
                    <a:bodyPr/>
                    <a:lstStyle/>
                    <a:p>
                      <a:pPr lvl="0" indent="0" marL="0">
                        <a:buNone/>
                      </a:pPr>
                      <a:r>
                        <a:rPr/>
                        <a:t>$5,400 – $12,250</a:t>
                      </a:r>
                    </a:p>
                  </a:txBody>
                </a:tc>
              </a:tr>
              <a:tr h="0">
                <a:tc>
                  <a:txBody>
                    <a:bodyPr/>
                    <a:lstStyle/>
                    <a:p>
                      <a:pPr lvl="0" indent="0" marL="0">
                        <a:buNone/>
                      </a:pPr>
                      <a:r>
                        <a:rPr/>
                        <a:t>Board (Meal Plan)</a:t>
                      </a:r>
                    </a:p>
                  </a:txBody>
                </a:tc>
                <a:tc>
                  <a:txBody>
                    <a:bodyPr/>
                    <a:lstStyle/>
                    <a:p>
                      <a:pPr lvl="0" indent="0" marL="0">
                        <a:buNone/>
                      </a:pPr>
                      <a:r>
                        <a:rPr/>
                        <a:t>$3,800 – $5,850</a:t>
                      </a:r>
                    </a:p>
                  </a:txBody>
                </a:tc>
              </a:tr>
              <a:tr h="0">
                <a:tc>
                  <a:txBody>
                    <a:bodyPr/>
                    <a:lstStyle/>
                    <a:p>
                      <a:pPr lvl="0" indent="0" marL="0">
                        <a:buNone/>
                      </a:pPr>
                      <a:r>
                        <a:rPr/>
                        <a:t>Books &amp; Supplies</a:t>
                      </a:r>
                    </a:p>
                  </a:txBody>
                </a:tc>
                <a:tc>
                  <a:txBody>
                    <a:bodyPr/>
                    <a:lstStyle/>
                    <a:p>
                      <a:pPr lvl="0" indent="0" marL="0">
                        <a:buNone/>
                      </a:pPr>
                      <a:r>
                        <a:rPr/>
                        <a:t>$950 – $1,400</a:t>
                      </a:r>
                    </a:p>
                  </a:txBody>
                </a:tc>
              </a:tr>
              <a:tr h="0">
                <a:tc>
                  <a:txBody>
                    <a:bodyPr/>
                    <a:lstStyle/>
                    <a:p>
                      <a:pPr lvl="0" indent="0" marL="0">
                        <a:buNone/>
                      </a:pPr>
                      <a:r>
                        <a:rPr/>
                        <a:t>Personal Expenses</a:t>
                      </a:r>
                    </a:p>
                  </a:txBody>
                </a:tc>
                <a:tc>
                  <a:txBody>
                    <a:bodyPr/>
                    <a:lstStyle/>
                    <a:p>
                      <a:pPr lvl="0" indent="0" marL="0">
                        <a:buNone/>
                      </a:pPr>
                      <a:r>
                        <a:rPr/>
                        <a:t>$1,300 – $2,100</a:t>
                      </a:r>
                    </a:p>
                  </a:txBody>
                </a:tc>
              </a:tr>
              <a:tr h="0">
                <a:tc>
                  <a:txBody>
                    <a:bodyPr/>
                    <a:lstStyle/>
                    <a:p>
                      <a:pPr lvl="0" indent="0" marL="0">
                        <a:buNone/>
                      </a:pPr>
                      <a:r>
                        <a:rPr/>
                        <a:t>Transportation</a:t>
                      </a:r>
                    </a:p>
                  </a:txBody>
                </a:tc>
                <a:tc>
                  <a:txBody>
                    <a:bodyPr/>
                    <a:lstStyle/>
                    <a:p>
                      <a:pPr lvl="0" indent="0" marL="0">
                        <a:buNone/>
                      </a:pPr>
                      <a:r>
                        <a:rPr/>
                        <a:t>$650 – $1,200</a:t>
                      </a:r>
                    </a:p>
                  </a:txBody>
                </a:tc>
              </a:tr>
              <a:tr h="0">
                <a:tc>
                  <a:txBody>
                    <a:bodyPr/>
                    <a:lstStyle/>
                    <a:p>
                      <a:pPr lvl="0" indent="0" marL="0">
                        <a:buNone/>
                      </a:pPr>
                      <a:r>
                        <a:rPr/>
                        <a:t>Health Insurance</a:t>
                      </a:r>
                    </a:p>
                  </a:txBody>
                </a:tc>
                <a:tc>
                  <a:txBody>
                    <a:bodyPr/>
                    <a:lstStyle/>
                    <a:p>
                      <a:pPr lvl="0" indent="0" marL="0">
                        <a:buNone/>
                      </a:pPr>
                      <a:r>
                        <a:rPr/>
                        <a:t>$1,750 – $3,150</a:t>
                      </a:r>
                    </a:p>
                  </a:txBody>
                </a:tc>
              </a:tr>
              <a:tr h="0">
                <a:tc>
                  <a:txBody>
                    <a:bodyPr/>
                    <a:lstStyle/>
                    <a:p>
                      <a:pPr lvl="0" indent="0" marL="0">
                        <a:buNone/>
                      </a:pPr>
                      <a:r>
                        <a:rPr b="1"/>
                        <a:t>Estimated Total</a:t>
                      </a:r>
                    </a:p>
                  </a:txBody>
                </a:tc>
                <a:tc>
                  <a:txBody>
                    <a:bodyPr/>
                    <a:lstStyle/>
                    <a:p>
                      <a:pPr lvl="0" indent="0" marL="0">
                        <a:buNone/>
                      </a:pPr>
                      <a:r>
                        <a:rPr b="1"/>
                        <a:t>$38,785 – $59,360</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Important Notes</a:t>
            </a:r>
          </a:p>
          <a:p>
            <a:pPr lvl="0"/>
            <a:r>
              <a:rPr b="1"/>
              <a:t>Scholarships, grants, and financial aid</a:t>
            </a:r>
            <a:r>
              <a:rPr/>
              <a:t> are available; contact the Office of Financial Assistance for eligibility.</a:t>
            </a:r>
          </a:p>
          <a:p>
            <a:pPr lvl="0"/>
            <a:r>
              <a:rPr/>
              <a:t>Some specialized programs (e.g., Nursing, Engineering, Study Abroad) may charge additional instructional or experiential fees.</a:t>
            </a:r>
          </a:p>
          <a:p>
            <a:pPr lvl="0"/>
            <a:r>
              <a:rPr/>
              <a:t>All fees are subject to annual review and adjustment by the Board of Trustees.</a:t>
            </a:r>
          </a:p>
          <a:p>
            <a:pPr lvl="0"/>
            <a:r>
              <a:rPr/>
              <a:t>Billing is conducted on a semester basis; flexible payment plans are available upon request.</a:t>
            </a:r>
          </a:p>
          <a:p>
            <a:pPr lvl="0"/>
            <a:r>
              <a:rPr/>
              <a:t>Questions about campus fees should be addressed to bursar@cendara.edu.</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complete policy details, including payment deadlines and refund schedules, please refer to the </a:t>
            </a:r>
            <a:r>
              <a:rPr>
                <a:hlinkClick r:id="rId2"/>
              </a:rPr>
              <a:t>Cendara University Student Accounts Handbook</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2025-07-29T15:05:14Z</dcterms:created>
  <dcterms:modified xsi:type="dcterms:W3CDTF">2025-07-29T15:05:14Z</dcterms:modified>
</cp:coreProperties>
</file>

<file path=docProps/custom.xml><?xml version="1.0" encoding="utf-8"?>
<Properties xmlns="http://schemas.openxmlformats.org/officeDocument/2006/custom-properties" xmlns:vt="http://schemas.openxmlformats.org/officeDocument/2006/docPropsVTypes"/>
</file>