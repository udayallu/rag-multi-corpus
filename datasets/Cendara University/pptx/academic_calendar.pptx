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3" Type="http://schemas.openxmlformats.org/officeDocument/2006/relationships/viewProps" Target="viewProps.xml" /><Relationship Id="rId12" Type="http://schemas.openxmlformats.org/officeDocument/2006/relationships/presProps" Target="presProps.xml" /><Relationship Id="rId1" Type="http://schemas.openxmlformats.org/officeDocument/2006/relationships/slideMaster" Target="slideMasters/slideMaster1.xml" /><Relationship Id="rId15" Type="http://schemas.openxmlformats.org/officeDocument/2006/relationships/tableStyles" Target="tableStyles.xml" /><Relationship Id="rId14"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Cendara University Academic Calendar 2024–2025</a:t>
            </a:r>
          </a:p>
        </p:txBody>
      </p:sp>
      <p:sp>
        <p:nvSpPr>
          <p:cNvPr id="3" name="Content Placeholder 2"/>
          <p:cNvSpPr>
            <a:spLocks noGrp="1"/>
          </p:cNvSpPr>
          <p:nvPr>
            <p:ph idx="1"/>
          </p:nvPr>
        </p:nvSpPr>
        <p:spPr/>
        <p:txBody>
          <a:bodyPr/>
          <a:lstStyle/>
          <a:p>
            <a:pPr lvl="0" indent="0" marL="0">
              <a:buNone/>
            </a:pPr>
            <a:r>
              <a:rPr/>
              <a:t>Welcome to the official Cendara University Academic Calendar for the 2024–2025 academic year. Below you will find detailed semester dates, registration periods, holidays, and important academic deadlines for undergraduate and graduate students.</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Fall Semester 2024</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Date</a:t>
                      </a:r>
                    </a:p>
                  </a:txBody>
                  <a:tcPr/>
                </a:tc>
                <a:tc>
                  <a:txBody>
                    <a:bodyPr/>
                    <a:lstStyle/>
                    <a:p>
                      <a:pPr lvl="0" indent="0" marL="0">
                        <a:buNone/>
                      </a:pPr>
                      <a:r>
                        <a:rPr/>
                        <a:t>Event</a:t>
                      </a:r>
                    </a:p>
                  </a:txBody>
                  <a:tcPr/>
                </a:tc>
              </a:tr>
              <a:tr h="0">
                <a:tc>
                  <a:txBody>
                    <a:bodyPr/>
                    <a:lstStyle/>
                    <a:p>
                      <a:pPr lvl="0" indent="0" marL="0">
                        <a:buNone/>
                      </a:pPr>
                      <a:r>
                        <a:rPr/>
                        <a:t>July 15 – August 11, 2024</a:t>
                      </a:r>
                    </a:p>
                  </a:txBody>
                </a:tc>
                <a:tc>
                  <a:txBody>
                    <a:bodyPr/>
                    <a:lstStyle/>
                    <a:p>
                      <a:pPr lvl="0" indent="0" marL="0">
                        <a:buNone/>
                      </a:pPr>
                      <a:r>
                        <a:rPr/>
                        <a:t>Online Course Registration</a:t>
                      </a:r>
                    </a:p>
                  </a:txBody>
                </a:tc>
              </a:tr>
              <a:tr h="0">
                <a:tc>
                  <a:txBody>
                    <a:bodyPr/>
                    <a:lstStyle/>
                    <a:p>
                      <a:pPr lvl="0" indent="0" marL="0">
                        <a:buNone/>
                      </a:pPr>
                      <a:r>
                        <a:rPr/>
                        <a:t>August 19, 2024</a:t>
                      </a:r>
                    </a:p>
                  </a:txBody>
                </a:tc>
                <a:tc>
                  <a:txBody>
                    <a:bodyPr/>
                    <a:lstStyle/>
                    <a:p>
                      <a:pPr lvl="0" indent="0" marL="0">
                        <a:buNone/>
                      </a:pPr>
                      <a:r>
                        <a:rPr/>
                        <a:t>Residence Halls Open</a:t>
                      </a:r>
                    </a:p>
                  </a:txBody>
                </a:tc>
              </a:tr>
              <a:tr h="0">
                <a:tc>
                  <a:txBody>
                    <a:bodyPr/>
                    <a:lstStyle/>
                    <a:p>
                      <a:pPr lvl="0" indent="0" marL="0">
                        <a:buNone/>
                      </a:pPr>
                      <a:r>
                        <a:rPr/>
                        <a:t>August 22, 2024</a:t>
                      </a:r>
                    </a:p>
                  </a:txBody>
                </a:tc>
                <a:tc>
                  <a:txBody>
                    <a:bodyPr/>
                    <a:lstStyle/>
                    <a:p>
                      <a:pPr lvl="0" indent="0" marL="0">
                        <a:buNone/>
                      </a:pPr>
                      <a:r>
                        <a:rPr/>
                        <a:t>New Student Orientation Begins</a:t>
                      </a:r>
                    </a:p>
                  </a:txBody>
                </a:tc>
              </a:tr>
              <a:tr h="0">
                <a:tc>
                  <a:txBody>
                    <a:bodyPr/>
                    <a:lstStyle/>
                    <a:p>
                      <a:pPr lvl="0" indent="0" marL="0">
                        <a:buNone/>
                      </a:pPr>
                      <a:r>
                        <a:rPr/>
                        <a:t>August 26, 2024</a:t>
                      </a:r>
                    </a:p>
                  </a:txBody>
                </a:tc>
                <a:tc>
                  <a:txBody>
                    <a:bodyPr/>
                    <a:lstStyle/>
                    <a:p>
                      <a:pPr lvl="0" indent="0" marL="0">
                        <a:buNone/>
                      </a:pPr>
                      <a:r>
                        <a:rPr/>
                        <a:t>First Day of Classes</a:t>
                      </a:r>
                    </a:p>
                  </a:txBody>
                </a:tc>
              </a:tr>
              <a:tr h="0">
                <a:tc>
                  <a:txBody>
                    <a:bodyPr/>
                    <a:lstStyle/>
                    <a:p>
                      <a:pPr lvl="0" indent="0" marL="0">
                        <a:buNone/>
                      </a:pPr>
                      <a:r>
                        <a:rPr/>
                        <a:t>September 2, 2024</a:t>
                      </a:r>
                    </a:p>
                  </a:txBody>
                </a:tc>
                <a:tc>
                  <a:txBody>
                    <a:bodyPr/>
                    <a:lstStyle/>
                    <a:p>
                      <a:pPr lvl="0" indent="0" marL="0">
                        <a:buNone/>
                      </a:pPr>
                      <a:r>
                        <a:rPr/>
                        <a:t>Last Day to Add/Drop Courses</a:t>
                      </a:r>
                    </a:p>
                  </a:txBody>
                </a:tc>
              </a:tr>
              <a:tr h="0">
                <a:tc>
                  <a:txBody>
                    <a:bodyPr/>
                    <a:lstStyle/>
                    <a:p>
                      <a:pPr lvl="0" indent="0" marL="0">
                        <a:buNone/>
                      </a:pPr>
                      <a:r>
                        <a:rPr/>
                        <a:t>September 23, 2024</a:t>
                      </a:r>
                    </a:p>
                  </a:txBody>
                </a:tc>
                <a:tc>
                  <a:txBody>
                    <a:bodyPr/>
                    <a:lstStyle/>
                    <a:p>
                      <a:pPr lvl="0" indent="0" marL="0">
                        <a:buNone/>
                      </a:pPr>
                      <a:r>
                        <a:rPr/>
                        <a:t>Census Date (Official Enrollment Confirmation)</a:t>
                      </a:r>
                    </a:p>
                  </a:txBody>
                </a:tc>
              </a:tr>
              <a:tr h="0">
                <a:tc>
                  <a:txBody>
                    <a:bodyPr/>
                    <a:lstStyle/>
                    <a:p>
                      <a:pPr lvl="0" indent="0" marL="0">
                        <a:buNone/>
                      </a:pPr>
                      <a:r>
                        <a:rPr/>
                        <a:t>October 11 – 13, 2024</a:t>
                      </a:r>
                    </a:p>
                  </a:txBody>
                </a:tc>
                <a:tc>
                  <a:txBody>
                    <a:bodyPr/>
                    <a:lstStyle/>
                    <a:p>
                      <a:pPr lvl="0" indent="0" marL="0">
                        <a:buNone/>
                      </a:pPr>
                      <a:r>
                        <a:rPr/>
                        <a:t>Midterm Break (No Classes)</a:t>
                      </a:r>
                    </a:p>
                  </a:txBody>
                </a:tc>
              </a:tr>
              <a:tr h="0">
                <a:tc>
                  <a:txBody>
                    <a:bodyPr/>
                    <a:lstStyle/>
                    <a:p>
                      <a:pPr lvl="0" indent="0" marL="0">
                        <a:buNone/>
                      </a:pPr>
                      <a:r>
                        <a:rPr/>
                        <a:t>October 17, 2024</a:t>
                      </a:r>
                    </a:p>
                  </a:txBody>
                </a:tc>
                <a:tc>
                  <a:txBody>
                    <a:bodyPr/>
                    <a:lstStyle/>
                    <a:p>
                      <a:pPr lvl="0" indent="0" marL="0">
                        <a:buNone/>
                      </a:pPr>
                      <a:r>
                        <a:rPr/>
                        <a:t>Midterm Grades Due</a:t>
                      </a:r>
                    </a:p>
                  </a:txBody>
                </a:tc>
              </a:tr>
              <a:tr h="0">
                <a:tc>
                  <a:txBody>
                    <a:bodyPr/>
                    <a:lstStyle/>
                    <a:p>
                      <a:pPr lvl="0" indent="0" marL="0">
                        <a:buNone/>
                      </a:pPr>
                      <a:r>
                        <a:rPr/>
                        <a:t>November 4, 2024</a:t>
                      </a:r>
                    </a:p>
                  </a:txBody>
                </a:tc>
                <a:tc>
                  <a:txBody>
                    <a:bodyPr/>
                    <a:lstStyle/>
                    <a:p>
                      <a:pPr lvl="0" indent="0" marL="0">
                        <a:buNone/>
                      </a:pPr>
                      <a:r>
                        <a:rPr/>
                        <a:t>Spring 2025 Registration Opens</a:t>
                      </a:r>
                    </a:p>
                  </a:txBody>
                </a:tc>
              </a:tr>
              <a:tr h="0">
                <a:tc>
                  <a:txBody>
                    <a:bodyPr/>
                    <a:lstStyle/>
                    <a:p>
                      <a:pPr lvl="0" indent="0" marL="0">
                        <a:buNone/>
                      </a:pPr>
                      <a:r>
                        <a:rPr/>
                        <a:t>November 21, 2024</a:t>
                      </a:r>
                    </a:p>
                  </a:txBody>
                </a:tc>
                <a:tc>
                  <a:txBody>
                    <a:bodyPr/>
                    <a:lstStyle/>
                    <a:p>
                      <a:pPr lvl="0" indent="0" marL="0">
                        <a:buNone/>
                      </a:pPr>
                      <a:r>
                        <a:rPr/>
                        <a:t>Last Day to Withdraw from a Course</a:t>
                      </a:r>
                    </a:p>
                  </a:txBody>
                </a:tc>
              </a:tr>
              <a:tr h="0">
                <a:tc>
                  <a:txBody>
                    <a:bodyPr/>
                    <a:lstStyle/>
                    <a:p>
                      <a:pPr lvl="0" indent="0" marL="0">
                        <a:buNone/>
                      </a:pPr>
                      <a:r>
                        <a:rPr/>
                        <a:t>November 28 – 29, 2024</a:t>
                      </a:r>
                    </a:p>
                  </a:txBody>
                </a:tc>
                <a:tc>
                  <a:txBody>
                    <a:bodyPr/>
                    <a:lstStyle/>
                    <a:p>
                      <a:pPr lvl="0" indent="0" marL="0">
                        <a:buNone/>
                      </a:pPr>
                      <a:r>
                        <a:rPr/>
                        <a:t>Thanksgiving Holiday (University Closed)</a:t>
                      </a:r>
                    </a:p>
                  </a:txBody>
                </a:tc>
              </a:tr>
              <a:tr h="0">
                <a:tc>
                  <a:txBody>
                    <a:bodyPr/>
                    <a:lstStyle/>
                    <a:p>
                      <a:pPr lvl="0" indent="0" marL="0">
                        <a:buNone/>
                      </a:pPr>
                      <a:r>
                        <a:rPr/>
                        <a:t>December 6, 2024</a:t>
                      </a:r>
                    </a:p>
                  </a:txBody>
                </a:tc>
                <a:tc>
                  <a:txBody>
                    <a:bodyPr/>
                    <a:lstStyle/>
                    <a:p>
                      <a:pPr lvl="0" indent="0" marL="0">
                        <a:buNone/>
                      </a:pPr>
                      <a:r>
                        <a:rPr/>
                        <a:t>Last Day of Classes</a:t>
                      </a:r>
                    </a:p>
                  </a:txBody>
                </a:tc>
              </a:tr>
              <a:tr h="0">
                <a:tc>
                  <a:txBody>
                    <a:bodyPr/>
                    <a:lstStyle/>
                    <a:p>
                      <a:pPr lvl="0" indent="0" marL="0">
                        <a:buNone/>
                      </a:pPr>
                      <a:r>
                        <a:rPr/>
                        <a:t>December 9 – 13, 2024</a:t>
                      </a:r>
                    </a:p>
                  </a:txBody>
                </a:tc>
                <a:tc>
                  <a:txBody>
                    <a:bodyPr/>
                    <a:lstStyle/>
                    <a:p>
                      <a:pPr lvl="0" indent="0" marL="0">
                        <a:buNone/>
                      </a:pPr>
                      <a:r>
                        <a:rPr/>
                        <a:t>Final Examinations</a:t>
                      </a:r>
                    </a:p>
                  </a:txBody>
                </a:tc>
              </a:tr>
              <a:tr h="0">
                <a:tc>
                  <a:txBody>
                    <a:bodyPr/>
                    <a:lstStyle/>
                    <a:p>
                      <a:pPr lvl="0" indent="0" marL="0">
                        <a:buNone/>
                      </a:pPr>
                      <a:r>
                        <a:rPr/>
                        <a:t>December 13, 2024</a:t>
                      </a:r>
                    </a:p>
                  </a:txBody>
                </a:tc>
                <a:tc>
                  <a:txBody>
                    <a:bodyPr/>
                    <a:lstStyle/>
                    <a:p>
                      <a:pPr lvl="0" indent="0" marL="0">
                        <a:buNone/>
                      </a:pPr>
                      <a:r>
                        <a:rPr/>
                        <a:t>End of Fall Semester / Residence Halls Close (5:00 PM)</a:t>
                      </a:r>
                    </a:p>
                  </a:txBody>
                </a:tc>
              </a:tr>
              <a:tr h="0">
                <a:tc>
                  <a:txBody>
                    <a:bodyPr/>
                    <a:lstStyle/>
                    <a:p>
                      <a:pPr lvl="0" indent="0" marL="0">
                        <a:buNone/>
                      </a:pPr>
                      <a:r>
                        <a:rPr/>
                        <a:t>December 20, 2024</a:t>
                      </a:r>
                    </a:p>
                  </a:txBody>
                </a:tc>
                <a:tc>
                  <a:txBody>
                    <a:bodyPr/>
                    <a:lstStyle/>
                    <a:p>
                      <a:pPr lvl="0" indent="0" marL="0">
                        <a:buNone/>
                      </a:pPr>
                      <a:r>
                        <a:rPr/>
                        <a:t>Final Grades Due (Faculty Submission Deadline)</a:t>
                      </a:r>
                    </a:p>
                  </a:txBody>
                </a:tc>
              </a:tr>
            </a:tbl>
          </a:graphicData>
        </a:graphic>
      </p:graphicFrame>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Winter Break</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Date</a:t>
                      </a:r>
                    </a:p>
                  </a:txBody>
                  <a:tcPr/>
                </a:tc>
                <a:tc>
                  <a:txBody>
                    <a:bodyPr/>
                    <a:lstStyle/>
                    <a:p>
                      <a:pPr lvl="0" indent="0" marL="0">
                        <a:buNone/>
                      </a:pPr>
                      <a:r>
                        <a:rPr/>
                        <a:t>Event</a:t>
                      </a:r>
                    </a:p>
                  </a:txBody>
                  <a:tcPr/>
                </a:tc>
              </a:tr>
              <a:tr h="0">
                <a:tc>
                  <a:txBody>
                    <a:bodyPr/>
                    <a:lstStyle/>
                    <a:p>
                      <a:pPr lvl="0" indent="0" marL="0">
                        <a:buNone/>
                      </a:pPr>
                      <a:r>
                        <a:rPr/>
                        <a:t>December 14, 2024 – January 5, 2025</a:t>
                      </a:r>
                    </a:p>
                  </a:txBody>
                </a:tc>
                <a:tc>
                  <a:txBody>
                    <a:bodyPr/>
                    <a:lstStyle/>
                    <a:p>
                      <a:pPr lvl="0" indent="0" marL="0">
                        <a:buNone/>
                      </a:pPr>
                      <a:r>
                        <a:rPr/>
                        <a:t>Winter Break (University Offices Closed December 21 – January 1)</a:t>
                      </a:r>
                    </a:p>
                  </a:txBody>
                </a:tc>
              </a:tr>
            </a:tbl>
          </a:graphicData>
        </a:graphic>
      </p:graphicFrame>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Spring Semester 2025</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Date</a:t>
                      </a:r>
                    </a:p>
                  </a:txBody>
                  <a:tcPr/>
                </a:tc>
                <a:tc>
                  <a:txBody>
                    <a:bodyPr/>
                    <a:lstStyle/>
                    <a:p>
                      <a:pPr lvl="0" indent="0" marL="0">
                        <a:buNone/>
                      </a:pPr>
                      <a:r>
                        <a:rPr/>
                        <a:t>Event</a:t>
                      </a:r>
                    </a:p>
                  </a:txBody>
                  <a:tcPr/>
                </a:tc>
              </a:tr>
              <a:tr h="0">
                <a:tc>
                  <a:txBody>
                    <a:bodyPr/>
                    <a:lstStyle/>
                    <a:p>
                      <a:pPr lvl="0" indent="0" marL="0">
                        <a:buNone/>
                      </a:pPr>
                      <a:r>
                        <a:rPr/>
                        <a:t>January 6, 2025</a:t>
                      </a:r>
                    </a:p>
                  </a:txBody>
                </a:tc>
                <a:tc>
                  <a:txBody>
                    <a:bodyPr/>
                    <a:lstStyle/>
                    <a:p>
                      <a:pPr lvl="0" indent="0" marL="0">
                        <a:buNone/>
                      </a:pPr>
                      <a:r>
                        <a:rPr/>
                        <a:t>Residence Halls Reopen</a:t>
                      </a:r>
                    </a:p>
                  </a:txBody>
                </a:tc>
              </a:tr>
              <a:tr h="0">
                <a:tc>
                  <a:txBody>
                    <a:bodyPr/>
                    <a:lstStyle/>
                    <a:p>
                      <a:pPr lvl="0" indent="0" marL="0">
                        <a:buNone/>
                      </a:pPr>
                      <a:r>
                        <a:rPr/>
                        <a:t>January 7, 2025</a:t>
                      </a:r>
                    </a:p>
                  </a:txBody>
                </a:tc>
                <a:tc>
                  <a:txBody>
                    <a:bodyPr/>
                    <a:lstStyle/>
                    <a:p>
                      <a:pPr lvl="0" indent="0" marL="0">
                        <a:buNone/>
                      </a:pPr>
                      <a:r>
                        <a:rPr/>
                        <a:t>New Student Orientation (Spring Entrants)</a:t>
                      </a:r>
                    </a:p>
                  </a:txBody>
                </a:tc>
              </a:tr>
              <a:tr h="0">
                <a:tc>
                  <a:txBody>
                    <a:bodyPr/>
                    <a:lstStyle/>
                    <a:p>
                      <a:pPr lvl="0" indent="0" marL="0">
                        <a:buNone/>
                      </a:pPr>
                      <a:r>
                        <a:rPr/>
                        <a:t>January 8, 2025</a:t>
                      </a:r>
                    </a:p>
                  </a:txBody>
                </a:tc>
                <a:tc>
                  <a:txBody>
                    <a:bodyPr/>
                    <a:lstStyle/>
                    <a:p>
                      <a:pPr lvl="0" indent="0" marL="0">
                        <a:buNone/>
                      </a:pPr>
                      <a:r>
                        <a:rPr/>
                        <a:t>First Day of Classes</a:t>
                      </a:r>
                    </a:p>
                  </a:txBody>
                </a:tc>
              </a:tr>
              <a:tr h="0">
                <a:tc>
                  <a:txBody>
                    <a:bodyPr/>
                    <a:lstStyle/>
                    <a:p>
                      <a:pPr lvl="0" indent="0" marL="0">
                        <a:buNone/>
                      </a:pPr>
                      <a:r>
                        <a:rPr/>
                        <a:t>January 15, 2025</a:t>
                      </a:r>
                    </a:p>
                  </a:txBody>
                </a:tc>
                <a:tc>
                  <a:txBody>
                    <a:bodyPr/>
                    <a:lstStyle/>
                    <a:p>
                      <a:pPr lvl="0" indent="0" marL="0">
                        <a:buNone/>
                      </a:pPr>
                      <a:r>
                        <a:rPr/>
                        <a:t>Last Day to Add/Drop Courses</a:t>
                      </a:r>
                    </a:p>
                  </a:txBody>
                </a:tc>
              </a:tr>
              <a:tr h="0">
                <a:tc>
                  <a:txBody>
                    <a:bodyPr/>
                    <a:lstStyle/>
                    <a:p>
                      <a:pPr lvl="0" indent="0" marL="0">
                        <a:buNone/>
                      </a:pPr>
                      <a:r>
                        <a:rPr/>
                        <a:t>January 17, 2025</a:t>
                      </a:r>
                    </a:p>
                  </a:txBody>
                </a:tc>
                <a:tc>
                  <a:txBody>
                    <a:bodyPr/>
                    <a:lstStyle/>
                    <a:p>
                      <a:pPr lvl="0" indent="0" marL="0">
                        <a:buNone/>
                      </a:pPr>
                      <a:r>
                        <a:rPr/>
                        <a:t>Last Day to Apply for Spring 2025 Graduation</a:t>
                      </a:r>
                    </a:p>
                  </a:txBody>
                </a:tc>
              </a:tr>
              <a:tr h="0">
                <a:tc>
                  <a:txBody>
                    <a:bodyPr/>
                    <a:lstStyle/>
                    <a:p>
                      <a:pPr lvl="0" indent="0" marL="0">
                        <a:buNone/>
                      </a:pPr>
                      <a:r>
                        <a:rPr/>
                        <a:t>February 3, 2025</a:t>
                      </a:r>
                    </a:p>
                  </a:txBody>
                </a:tc>
                <a:tc>
                  <a:txBody>
                    <a:bodyPr/>
                    <a:lstStyle/>
                    <a:p>
                      <a:pPr lvl="0" indent="0" marL="0">
                        <a:buNone/>
                      </a:pPr>
                      <a:r>
                        <a:rPr/>
                        <a:t>Census Date (Official Enrollment Confirmation)</a:t>
                      </a:r>
                    </a:p>
                  </a:txBody>
                </a:tc>
              </a:tr>
              <a:tr h="0">
                <a:tc>
                  <a:txBody>
                    <a:bodyPr/>
                    <a:lstStyle/>
                    <a:p>
                      <a:pPr lvl="0" indent="0" marL="0">
                        <a:buNone/>
                      </a:pPr>
                      <a:r>
                        <a:rPr/>
                        <a:t>February 17, 2025</a:t>
                      </a:r>
                    </a:p>
                  </a:txBody>
                </a:tc>
                <a:tc>
                  <a:txBody>
                    <a:bodyPr/>
                    <a:lstStyle/>
                    <a:p>
                      <a:pPr lvl="0" indent="0" marL="0">
                        <a:buNone/>
                      </a:pPr>
                      <a:r>
                        <a:rPr/>
                        <a:t>President’s Day (University Closed)</a:t>
                      </a:r>
                    </a:p>
                  </a:txBody>
                </a:tc>
              </a:tr>
              <a:tr h="0">
                <a:tc>
                  <a:txBody>
                    <a:bodyPr/>
                    <a:lstStyle/>
                    <a:p>
                      <a:pPr lvl="0" indent="0" marL="0">
                        <a:buNone/>
                      </a:pPr>
                      <a:r>
                        <a:rPr/>
                        <a:t>March 17 – 21, 2025</a:t>
                      </a:r>
                    </a:p>
                  </a:txBody>
                </a:tc>
                <a:tc>
                  <a:txBody>
                    <a:bodyPr/>
                    <a:lstStyle/>
                    <a:p>
                      <a:pPr lvl="0" indent="0" marL="0">
                        <a:buNone/>
                      </a:pPr>
                      <a:r>
                        <a:rPr/>
                        <a:t>Spring Break (No Classes, University Offices Open March 17–19)</a:t>
                      </a:r>
                    </a:p>
                  </a:txBody>
                </a:tc>
              </a:tr>
              <a:tr h="0">
                <a:tc>
                  <a:txBody>
                    <a:bodyPr/>
                    <a:lstStyle/>
                    <a:p>
                      <a:pPr lvl="0" indent="0" marL="0">
                        <a:buNone/>
                      </a:pPr>
                      <a:r>
                        <a:rPr/>
                        <a:t>March 27, 2025</a:t>
                      </a:r>
                    </a:p>
                  </a:txBody>
                </a:tc>
                <a:tc>
                  <a:txBody>
                    <a:bodyPr/>
                    <a:lstStyle/>
                    <a:p>
                      <a:pPr lvl="0" indent="0" marL="0">
                        <a:buNone/>
                      </a:pPr>
                      <a:r>
                        <a:rPr/>
                        <a:t>Midterm Grades Due</a:t>
                      </a:r>
                    </a:p>
                  </a:txBody>
                </a:tc>
              </a:tr>
              <a:tr h="0">
                <a:tc>
                  <a:txBody>
                    <a:bodyPr/>
                    <a:lstStyle/>
                    <a:p>
                      <a:pPr lvl="0" indent="0" marL="0">
                        <a:buNone/>
                      </a:pPr>
                      <a:r>
                        <a:rPr/>
                        <a:t>April 11, 2025</a:t>
                      </a:r>
                    </a:p>
                  </a:txBody>
                </a:tc>
                <a:tc>
                  <a:txBody>
                    <a:bodyPr/>
                    <a:lstStyle/>
                    <a:p>
                      <a:pPr lvl="0" indent="0" marL="0">
                        <a:buNone/>
                      </a:pPr>
                      <a:r>
                        <a:rPr/>
                        <a:t>Summer &amp; Fall 2025 Registration Opens</a:t>
                      </a:r>
                    </a:p>
                  </a:txBody>
                </a:tc>
              </a:tr>
              <a:tr h="0">
                <a:tc>
                  <a:txBody>
                    <a:bodyPr/>
                    <a:lstStyle/>
                    <a:p>
                      <a:pPr lvl="0" indent="0" marL="0">
                        <a:buNone/>
                      </a:pPr>
                      <a:r>
                        <a:rPr/>
                        <a:t>April 17, 2025</a:t>
                      </a:r>
                    </a:p>
                  </a:txBody>
                </a:tc>
                <a:tc>
                  <a:txBody>
                    <a:bodyPr/>
                    <a:lstStyle/>
                    <a:p>
                      <a:pPr lvl="0" indent="0" marL="0">
                        <a:buNone/>
                      </a:pPr>
                      <a:r>
                        <a:rPr/>
                        <a:t>Last Day to Withdraw from a Course</a:t>
                      </a:r>
                    </a:p>
                  </a:txBody>
                </a:tc>
              </a:tr>
              <a:tr h="0">
                <a:tc>
                  <a:txBody>
                    <a:bodyPr/>
                    <a:lstStyle/>
                    <a:p>
                      <a:pPr lvl="0" indent="0" marL="0">
                        <a:buNone/>
                      </a:pPr>
                      <a:r>
                        <a:rPr/>
                        <a:t>April 24, 2025</a:t>
                      </a:r>
                    </a:p>
                  </a:txBody>
                </a:tc>
                <a:tc>
                  <a:txBody>
                    <a:bodyPr/>
                    <a:lstStyle/>
                    <a:p>
                      <a:pPr lvl="0" indent="0" marL="0">
                        <a:buNone/>
                      </a:pPr>
                      <a:r>
                        <a:rPr/>
                        <a:t>Undergraduate Research Symposium</a:t>
                      </a:r>
                    </a:p>
                  </a:txBody>
                </a:tc>
              </a:tr>
              <a:tr h="0">
                <a:tc>
                  <a:txBody>
                    <a:bodyPr/>
                    <a:lstStyle/>
                    <a:p>
                      <a:pPr lvl="0" indent="0" marL="0">
                        <a:buNone/>
                      </a:pPr>
                      <a:r>
                        <a:rPr/>
                        <a:t>April 30, 2025</a:t>
                      </a:r>
                    </a:p>
                  </a:txBody>
                </a:tc>
                <a:tc>
                  <a:txBody>
                    <a:bodyPr/>
                    <a:lstStyle/>
                    <a:p>
                      <a:pPr lvl="0" indent="0" marL="0">
                        <a:buNone/>
                      </a:pPr>
                      <a:r>
                        <a:rPr/>
                        <a:t>Last Day of Classes</a:t>
                      </a:r>
                    </a:p>
                  </a:txBody>
                </a:tc>
              </a:tr>
              <a:tr h="0">
                <a:tc>
                  <a:txBody>
                    <a:bodyPr/>
                    <a:lstStyle/>
                    <a:p>
                      <a:pPr lvl="0" indent="0" marL="0">
                        <a:buNone/>
                      </a:pPr>
                      <a:r>
                        <a:rPr/>
                        <a:t>May 2 – 7, 2025</a:t>
                      </a:r>
                    </a:p>
                  </a:txBody>
                </a:tc>
                <a:tc>
                  <a:txBody>
                    <a:bodyPr/>
                    <a:lstStyle/>
                    <a:p>
                      <a:pPr lvl="0" indent="0" marL="0">
                        <a:buNone/>
                      </a:pPr>
                      <a:r>
                        <a:rPr/>
                        <a:t>Final Examinations</a:t>
                      </a:r>
                    </a:p>
                  </a:txBody>
                </a:tc>
              </a:tr>
              <a:tr h="0">
                <a:tc>
                  <a:txBody>
                    <a:bodyPr/>
                    <a:lstStyle/>
                    <a:p>
                      <a:pPr lvl="0" indent="0" marL="0">
                        <a:buNone/>
                      </a:pPr>
                      <a:r>
                        <a:rPr/>
                        <a:t>May 8, 2025</a:t>
                      </a:r>
                    </a:p>
                  </a:txBody>
                </a:tc>
                <a:tc>
                  <a:txBody>
                    <a:bodyPr/>
                    <a:lstStyle/>
                    <a:p>
                      <a:pPr lvl="0" indent="0" marL="0">
                        <a:buNone/>
                      </a:pPr>
                      <a:r>
                        <a:rPr/>
                        <a:t>Spring Semester Ends / Residence Halls Close (12:00 PM)</a:t>
                      </a:r>
                    </a:p>
                  </a:txBody>
                </a:tc>
              </a:tr>
              <a:tr h="0">
                <a:tc>
                  <a:txBody>
                    <a:bodyPr/>
                    <a:lstStyle/>
                    <a:p>
                      <a:pPr lvl="0" indent="0" marL="0">
                        <a:buNone/>
                      </a:pPr>
                      <a:r>
                        <a:rPr/>
                        <a:t>May 14, 2025</a:t>
                      </a:r>
                    </a:p>
                  </a:txBody>
                </a:tc>
                <a:tc>
                  <a:txBody>
                    <a:bodyPr/>
                    <a:lstStyle/>
                    <a:p>
                      <a:pPr lvl="0" indent="0" marL="0">
                        <a:buNone/>
                      </a:pPr>
                      <a:r>
                        <a:rPr/>
                        <a:t>Final Grades Due (Faculty Submission Deadline)</a:t>
                      </a:r>
                    </a:p>
                  </a:txBody>
                </a:tc>
              </a:tr>
              <a:tr h="0">
                <a:tc>
                  <a:txBody>
                    <a:bodyPr/>
                    <a:lstStyle/>
                    <a:p>
                      <a:pPr lvl="0" indent="0" marL="0">
                        <a:buNone/>
                      </a:pPr>
                      <a:r>
                        <a:rPr/>
                        <a:t>May 17, 2025</a:t>
                      </a:r>
                    </a:p>
                  </a:txBody>
                </a:tc>
                <a:tc>
                  <a:txBody>
                    <a:bodyPr/>
                    <a:lstStyle/>
                    <a:p>
                      <a:pPr lvl="0" indent="0" marL="0">
                        <a:buNone/>
                      </a:pPr>
                      <a:r>
                        <a:rPr/>
                        <a:t>Spring Commencement Ceremony</a:t>
                      </a:r>
                    </a:p>
                  </a:txBody>
                </a:tc>
              </a:tr>
            </a:tbl>
          </a:graphicData>
        </a:graphic>
      </p:graphicFrame>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Summer Sessions 2025</a:t>
            </a:r>
          </a:p>
          <a:p>
            <a:pPr lvl="0" indent="0" marL="0">
              <a:buNone/>
            </a:pPr>
            <a:r>
              <a:rPr b="1"/>
              <a:t>Session I</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Date</a:t>
                      </a:r>
                    </a:p>
                  </a:txBody>
                  <a:tcPr/>
                </a:tc>
                <a:tc>
                  <a:txBody>
                    <a:bodyPr/>
                    <a:lstStyle/>
                    <a:p>
                      <a:pPr lvl="0" indent="0" marL="0">
                        <a:buNone/>
                      </a:pPr>
                      <a:r>
                        <a:rPr/>
                        <a:t>Event</a:t>
                      </a:r>
                    </a:p>
                  </a:txBody>
                  <a:tcPr/>
                </a:tc>
              </a:tr>
              <a:tr h="0">
                <a:tc>
                  <a:txBody>
                    <a:bodyPr/>
                    <a:lstStyle/>
                    <a:p>
                      <a:pPr lvl="0" indent="0" marL="0">
                        <a:buNone/>
                      </a:pPr>
                      <a:r>
                        <a:rPr/>
                        <a:t>May 27, 2025</a:t>
                      </a:r>
                    </a:p>
                  </a:txBody>
                </a:tc>
                <a:tc>
                  <a:txBody>
                    <a:bodyPr/>
                    <a:lstStyle/>
                    <a:p>
                      <a:pPr lvl="0" indent="0" marL="0">
                        <a:buNone/>
                      </a:pPr>
                      <a:r>
                        <a:rPr/>
                        <a:t>Session I Begins</a:t>
                      </a:r>
                    </a:p>
                  </a:txBody>
                </a:tc>
              </a:tr>
              <a:tr h="0">
                <a:tc>
                  <a:txBody>
                    <a:bodyPr/>
                    <a:lstStyle/>
                    <a:p>
                      <a:pPr lvl="0" indent="0" marL="0">
                        <a:buNone/>
                      </a:pPr>
                      <a:r>
                        <a:rPr/>
                        <a:t>May 29, 2025</a:t>
                      </a:r>
                    </a:p>
                  </a:txBody>
                </a:tc>
                <a:tc>
                  <a:txBody>
                    <a:bodyPr/>
                    <a:lstStyle/>
                    <a:p>
                      <a:pPr lvl="0" indent="0" marL="0">
                        <a:buNone/>
                      </a:pPr>
                      <a:r>
                        <a:rPr/>
                        <a:t>Last Day to Add/Drop Courses</a:t>
                      </a:r>
                    </a:p>
                  </a:txBody>
                </a:tc>
              </a:tr>
              <a:tr h="0">
                <a:tc>
                  <a:txBody>
                    <a:bodyPr/>
                    <a:lstStyle/>
                    <a:p>
                      <a:pPr lvl="0" indent="0" marL="0">
                        <a:buNone/>
                      </a:pPr>
                      <a:r>
                        <a:rPr/>
                        <a:t>June 19, 2025</a:t>
                      </a:r>
                    </a:p>
                  </a:txBody>
                </a:tc>
                <a:tc>
                  <a:txBody>
                    <a:bodyPr/>
                    <a:lstStyle/>
                    <a:p>
                      <a:pPr lvl="0" indent="0" marL="0">
                        <a:buNone/>
                      </a:pPr>
                      <a:r>
                        <a:rPr/>
                        <a:t>Juneteenth Holiday</a:t>
                      </a:r>
                    </a:p>
                  </a:txBody>
                </a:tc>
              </a:tr>
              <a:tr h="0">
                <a:tc>
                  <a:txBody>
                    <a:bodyPr/>
                    <a:lstStyle/>
                    <a:p>
                      <a:pPr lvl="0" indent="0" marL="0">
                        <a:buNone/>
                      </a:pPr>
                      <a:r>
                        <a:rPr/>
                        <a:t>June 27, 2025</a:t>
                      </a:r>
                    </a:p>
                  </a:txBody>
                </a:tc>
                <a:tc>
                  <a:txBody>
                    <a:bodyPr/>
                    <a:lstStyle/>
                    <a:p>
                      <a:pPr lvl="0" indent="0" marL="0">
                        <a:buNone/>
                      </a:pPr>
                      <a:r>
                        <a:rPr/>
                        <a:t>Session I Ends</a:t>
                      </a:r>
                    </a:p>
                  </a:txBody>
                </a:tc>
              </a:tr>
            </a:tbl>
          </a:graphicData>
        </a:graphic>
      </p:graphicFrame>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b="1"/>
              <a:t>Session II</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Date</a:t>
                      </a:r>
                    </a:p>
                  </a:txBody>
                  <a:tcPr/>
                </a:tc>
                <a:tc>
                  <a:txBody>
                    <a:bodyPr/>
                    <a:lstStyle/>
                    <a:p>
                      <a:pPr lvl="0" indent="0" marL="0">
                        <a:buNone/>
                      </a:pPr>
                      <a:r>
                        <a:rPr/>
                        <a:t>Event</a:t>
                      </a:r>
                    </a:p>
                  </a:txBody>
                  <a:tcPr/>
                </a:tc>
              </a:tr>
              <a:tr h="0">
                <a:tc>
                  <a:txBody>
                    <a:bodyPr/>
                    <a:lstStyle/>
                    <a:p>
                      <a:pPr lvl="0" indent="0" marL="0">
                        <a:buNone/>
                      </a:pPr>
                      <a:r>
                        <a:rPr/>
                        <a:t>July 1, 2025</a:t>
                      </a:r>
                    </a:p>
                  </a:txBody>
                </a:tc>
                <a:tc>
                  <a:txBody>
                    <a:bodyPr/>
                    <a:lstStyle/>
                    <a:p>
                      <a:pPr lvl="0" indent="0" marL="0">
                        <a:buNone/>
                      </a:pPr>
                      <a:r>
                        <a:rPr/>
                        <a:t>Session II Begins</a:t>
                      </a:r>
                    </a:p>
                  </a:txBody>
                </a:tc>
              </a:tr>
              <a:tr h="0">
                <a:tc>
                  <a:txBody>
                    <a:bodyPr/>
                    <a:lstStyle/>
                    <a:p>
                      <a:pPr lvl="0" indent="0" marL="0">
                        <a:buNone/>
                      </a:pPr>
                      <a:r>
                        <a:rPr/>
                        <a:t>July 3, 2025</a:t>
                      </a:r>
                    </a:p>
                  </a:txBody>
                </a:tc>
                <a:tc>
                  <a:txBody>
                    <a:bodyPr/>
                    <a:lstStyle/>
                    <a:p>
                      <a:pPr lvl="0" indent="0" marL="0">
                        <a:buNone/>
                      </a:pPr>
                      <a:r>
                        <a:rPr/>
                        <a:t>Last Day to Add/Drop Courses</a:t>
                      </a:r>
                    </a:p>
                  </a:txBody>
                </a:tc>
              </a:tr>
              <a:tr h="0">
                <a:tc>
                  <a:txBody>
                    <a:bodyPr/>
                    <a:lstStyle/>
                    <a:p>
                      <a:pPr lvl="0" indent="0" marL="0">
                        <a:buNone/>
                      </a:pPr>
                      <a:r>
                        <a:rPr/>
                        <a:t>July 4, 2025</a:t>
                      </a:r>
                    </a:p>
                  </a:txBody>
                </a:tc>
                <a:tc>
                  <a:txBody>
                    <a:bodyPr/>
                    <a:lstStyle/>
                    <a:p>
                      <a:pPr lvl="0" indent="0" marL="0">
                        <a:buNone/>
                      </a:pPr>
                      <a:r>
                        <a:rPr/>
                        <a:t>Independence Day (Closed)</a:t>
                      </a:r>
                    </a:p>
                  </a:txBody>
                </a:tc>
              </a:tr>
              <a:tr h="0">
                <a:tc>
                  <a:txBody>
                    <a:bodyPr/>
                    <a:lstStyle/>
                    <a:p>
                      <a:pPr lvl="0" indent="0" marL="0">
                        <a:buNone/>
                      </a:pPr>
                      <a:r>
                        <a:rPr/>
                        <a:t>July 30, 2025</a:t>
                      </a:r>
                    </a:p>
                  </a:txBody>
                </a:tc>
                <a:tc>
                  <a:txBody>
                    <a:bodyPr/>
                    <a:lstStyle/>
                    <a:p>
                      <a:pPr lvl="0" indent="0" marL="0">
                        <a:buNone/>
                      </a:pPr>
                      <a:r>
                        <a:rPr/>
                        <a:t>Session II Ends</a:t>
                      </a:r>
                    </a:p>
                  </a:txBody>
                </a:tc>
              </a:tr>
            </a:tbl>
          </a:graphicData>
        </a:graphic>
      </p:graphicFrame>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Official University Holidays (2024–2025)</a:t>
            </a:r>
          </a:p>
          <a:p>
            <a:pPr lvl="0"/>
            <a:r>
              <a:rPr b="1"/>
              <a:t>Labor Day:</a:t>
            </a:r>
            <a:r>
              <a:rPr/>
              <a:t> September 2, 2024 (Closed)</a:t>
            </a:r>
          </a:p>
          <a:p>
            <a:pPr lvl="0"/>
            <a:r>
              <a:rPr b="1"/>
              <a:t>Thanksgiving:</a:t>
            </a:r>
            <a:r>
              <a:rPr/>
              <a:t> November 28–29, 2024 (Closed)</a:t>
            </a:r>
          </a:p>
          <a:p>
            <a:pPr lvl="0"/>
            <a:r>
              <a:rPr b="1"/>
              <a:t>Winter Break:</a:t>
            </a:r>
            <a:r>
              <a:rPr/>
              <a:t> December 21, 2024 – January 1, 2025 (Closed)</a:t>
            </a:r>
          </a:p>
          <a:p>
            <a:pPr lvl="0"/>
            <a:r>
              <a:rPr b="1"/>
              <a:t>Martin Luther King Jr. Day:</a:t>
            </a:r>
            <a:r>
              <a:rPr/>
              <a:t> January 20, 2025 (Closed)</a:t>
            </a:r>
          </a:p>
          <a:p>
            <a:pPr lvl="0"/>
            <a:r>
              <a:rPr b="1"/>
              <a:t>President’s Day:</a:t>
            </a:r>
            <a:r>
              <a:rPr/>
              <a:t> February 17, 2025 (Closed)</a:t>
            </a:r>
          </a:p>
          <a:p>
            <a:pPr lvl="0"/>
            <a:r>
              <a:rPr b="1"/>
              <a:t>Juneteenth:</a:t>
            </a:r>
            <a:r>
              <a:rPr/>
              <a:t> June 19, 2025 (Closed)</a:t>
            </a:r>
          </a:p>
          <a:p>
            <a:pPr lvl="0"/>
            <a:r>
              <a:rPr b="1"/>
              <a:t>Independence Day:</a:t>
            </a:r>
            <a:r>
              <a:rPr/>
              <a:t> July 4, 2025 (Closed)</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Additional Key Academic Deadlines</a:t>
            </a:r>
          </a:p>
          <a:p>
            <a:pPr lvl="0"/>
            <a:r>
              <a:rPr b="1"/>
              <a:t>Transcript Request Deadline (Fall):</a:t>
            </a:r>
            <a:r>
              <a:rPr/>
              <a:t> December 18, 2024</a:t>
            </a:r>
          </a:p>
          <a:p>
            <a:pPr lvl="0"/>
            <a:r>
              <a:rPr b="1"/>
              <a:t>Graduation Application Deadlines:</a:t>
            </a:r>
          </a:p>
          <a:p>
            <a:pPr lvl="1"/>
            <a:r>
              <a:rPr/>
              <a:t>Fall 2024: September 27, 2024</a:t>
            </a:r>
          </a:p>
          <a:p>
            <a:pPr lvl="1"/>
            <a:r>
              <a:rPr/>
              <a:t>Spring 2025: January 17, 2025</a:t>
            </a:r>
          </a:p>
          <a:p>
            <a:pPr lvl="0"/>
            <a:r>
              <a:rPr b="1"/>
              <a:t>Incomplete Grade Submission Deadline (Fall):</a:t>
            </a:r>
            <a:r>
              <a:rPr/>
              <a:t> January 13, 2025</a:t>
            </a:r>
          </a:p>
          <a:p>
            <a:pPr lvl="0"/>
            <a:r>
              <a:rPr b="1"/>
              <a:t>Course Withdrawal Deadlines:</a:t>
            </a:r>
          </a:p>
          <a:p>
            <a:pPr lvl="1"/>
            <a:r>
              <a:rPr/>
              <a:t>Fall 2024: November 21, 2024</a:t>
            </a:r>
          </a:p>
          <a:p>
            <a:pPr lvl="1"/>
            <a:r>
              <a:rPr/>
              <a:t>Spring 2025: April 17, 2025</a:t>
            </a:r>
          </a:p>
          <a:p>
            <a:pPr lvl="0"/>
            <a:r>
              <a:rPr b="1"/>
              <a:t>Degree Conferral Dates:</a:t>
            </a:r>
          </a:p>
          <a:p>
            <a:pPr lvl="1"/>
            <a:r>
              <a:rPr/>
              <a:t>Fall 2024: December 20, 2024</a:t>
            </a:r>
          </a:p>
          <a:p>
            <a:pPr lvl="1"/>
            <a:r>
              <a:rPr/>
              <a:t>Spring 2025: May 17, 2025</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Contact Information</a:t>
            </a:r>
          </a:p>
          <a:p>
            <a:pPr lvl="0" indent="0" marL="0">
              <a:buNone/>
            </a:pPr>
            <a:r>
              <a:rPr/>
              <a:t>For questions regarding the academic calendar or specific deadlines, please contact the Office of the Registrar:</a:t>
            </a:r>
          </a:p>
          <a:p>
            <a:pPr lvl="0"/>
            <a:r>
              <a:rPr b="1"/>
              <a:t>Email:</a:t>
            </a:r>
            <a:r>
              <a:rPr/>
              <a:t> registrar@cendara.edu</a:t>
            </a:r>
          </a:p>
          <a:p>
            <a:pPr lvl="0"/>
            <a:r>
              <a:rPr b="1"/>
              <a:t>Phone:</a:t>
            </a:r>
            <a:r>
              <a:rPr/>
              <a:t> (406) 555-1200</a:t>
            </a:r>
          </a:p>
          <a:p>
            <a:pPr lvl="0"/>
            <a:r>
              <a:rPr b="1"/>
              <a:t>Office Location:</a:t>
            </a:r>
            <a:r>
              <a:rPr/>
              <a:t> Wyatt Hall, Room 103</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i="1"/>
              <a:t>This calendar is subject to change. The most up-to-date information is always available on the Cendara University website or through the Office of the Registrar.</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2025-07-29T15:05:46Z</dcterms:created>
  <dcterms:modified xsi:type="dcterms:W3CDTF">2025-07-29T15:05:46Z</dcterms:modified>
</cp:coreProperties>
</file>

<file path=docProps/custom.xml><?xml version="1.0" encoding="utf-8"?>
<Properties xmlns="http://schemas.openxmlformats.org/officeDocument/2006/custom-properties" xmlns:vt="http://schemas.openxmlformats.org/officeDocument/2006/docPropsVTypes"/>
</file>