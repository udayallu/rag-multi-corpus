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atalog.cendara.edu" TargetMode="External" /><Relationship Id="rId3" Type="http://schemas.openxmlformats.org/officeDocument/2006/relationships/hyperlink" Target="https://my.cendara.edu" TargetMode="External" /><Relationship Id="rId4" Type="http://schemas.openxmlformats.org/officeDocument/2006/relationships/hyperlink" Target="https://cendara.edu/entrance-exams/schedule"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atalog.cendara.edu/graduate"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endara.edu/entrance-exams/prep" TargetMode="External" /><Relationship Id="rId3" Type="http://schemas.openxmlformats.org/officeDocument/2006/relationships/hyperlink" Target="mailto:finance@cendara.edu"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endara.edu/entrance-exam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Entrance Exam Information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Cendara University administers entrance examinations for select undergraduate and graduate academic programs to ensure a high standard of academic readiness and to appropriately place students in courses aligned with their skill levels. While most degree programs do not require a standardized university-wide entrance exam, certain competitive majors, specialized scholarship pathways, and direct-entry professional tracks require subject-based or aptitude testing.</a:t>
            </a:r>
          </a:p>
          <a:p>
            <a:pPr lvl="0" indent="0" marL="0">
              <a:buNone/>
            </a:pPr>
            <a:r>
              <a:rPr/>
              <a:t>Students are encouraged to review this section thoroughly and consult with their academic advisor or the Office of Admissions to determine whether an entrance exam applies to their intended course of study.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Entrance Exam Requirements</a:t>
            </a:r>
          </a:p>
        </p:txBody>
      </p:sp>
      <p:sp>
        <p:nvSpPr>
          <p:cNvPr id="3" name="Content Placeholder 2"/>
          <p:cNvSpPr>
            <a:spLocks noGrp="1"/>
          </p:cNvSpPr>
          <p:nvPr>
            <p:ph idx="1"/>
          </p:nvPr>
        </p:nvSpPr>
        <p:spPr/>
        <p:txBody>
          <a:bodyPr/>
          <a:lstStyle/>
          <a:p>
            <a:pPr lvl="0" indent="0" marL="0">
              <a:spcBef>
                <a:spcPts val="3000"/>
              </a:spcBef>
              <a:buNone/>
            </a:pPr>
            <a:r>
              <a:rPr b="1"/>
              <a:t>Which Programs Require Entrance Exams?</a:t>
            </a:r>
          </a:p>
          <a:p>
            <a:pPr lvl="0"/>
            <a:r>
              <a:rPr b="1"/>
              <a:t>School of Health Sciences</a:t>
            </a:r>
            <a:br/>
            <a:r>
              <a:rPr i="1"/>
              <a:t>Bachelor of Science in Nursing, Bachelor of Public Health</a:t>
            </a:r>
          </a:p>
          <a:p>
            <a:pPr lvl="1"/>
            <a:r>
              <a:rPr/>
              <a:t>Science Aptitude Exam (required for all first-time applicants)</a:t>
            </a:r>
          </a:p>
          <a:p>
            <a:pPr lvl="0"/>
            <a:r>
              <a:rPr b="1"/>
              <a:t>School of Engineering and Applied Sciences</a:t>
            </a:r>
            <a:br/>
            <a:r>
              <a:rPr i="1"/>
              <a:t>Bachelor of Engineering, Computer Science Major</a:t>
            </a:r>
          </a:p>
          <a:p>
            <a:pPr lvl="1"/>
            <a:r>
              <a:rPr/>
              <a:t>Mathematics Proficiency Exam (required for all direct-entry applicants)</a:t>
            </a:r>
          </a:p>
          <a:p>
            <a:pPr lvl="0"/>
            <a:r>
              <a:rPr b="1"/>
              <a:t>Honors College</a:t>
            </a:r>
          </a:p>
          <a:p>
            <a:pPr lvl="1"/>
            <a:r>
              <a:rPr/>
              <a:t>Critical Reasoning Essay (for applicants seeking admission to Honors College)</a:t>
            </a:r>
          </a:p>
          <a:p>
            <a:pPr lvl="0"/>
            <a:r>
              <a:rPr b="1"/>
              <a:t>Graduate School</a:t>
            </a:r>
          </a:p>
          <a:p>
            <a:pPr lvl="1"/>
            <a:r>
              <a:rPr/>
              <a:t>Program-specific subject exams as required by departmental guidelines (e.g., Psychology GRE Subject for MA in Psychology)</a:t>
            </a:r>
          </a:p>
          <a:p>
            <a:pPr lvl="0" indent="0" marL="0">
              <a:buNone/>
            </a:pPr>
            <a:r>
              <a:rPr b="1"/>
              <a:t>Note:</a:t>
            </a:r>
            <a:r>
              <a:rPr/>
              <a:t> General undergraduate admission does </a:t>
            </a:r>
            <a:r>
              <a:rPr b="1"/>
              <a:t>not</a:t>
            </a:r>
            <a:r>
              <a:rPr/>
              <a:t> require a university-wide entrance exam; most applicants are evaluated using prior academic transcripts, standardized testing (SAT/ACT), and supplemental materials.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 Registration Process</a:t>
            </a:r>
          </a:p>
        </p:txBody>
      </p:sp>
      <p:sp>
        <p:nvSpPr>
          <p:cNvPr id="3" name="Content Placeholder 2"/>
          <p:cNvSpPr>
            <a:spLocks noGrp="1"/>
          </p:cNvSpPr>
          <p:nvPr>
            <p:ph idx="1"/>
          </p:nvPr>
        </p:nvSpPr>
        <p:spPr/>
        <p:txBody>
          <a:bodyPr/>
          <a:lstStyle/>
          <a:p>
            <a:pPr lvl="0" indent="0" marL="0">
              <a:spcBef>
                <a:spcPts val="3000"/>
              </a:spcBef>
              <a:buNone/>
            </a:pPr>
            <a:r>
              <a:rPr b="1"/>
              <a:t>1. Determine Exam Eligibility</a:t>
            </a:r>
          </a:p>
          <a:p>
            <a:pPr lvl="0"/>
            <a:r>
              <a:rPr/>
              <a:t>Refer to your program page in the </a:t>
            </a:r>
            <a:r>
              <a:rPr>
                <a:hlinkClick r:id="rId2"/>
              </a:rPr>
              <a:t>Online Program Catalog</a:t>
            </a:r>
            <a:r>
              <a:rPr/>
              <a:t> or consult with your assigned admissions counselor.</a:t>
            </a:r>
          </a:p>
          <a:p>
            <a:pPr lvl="0"/>
            <a:r>
              <a:rPr/>
              <a:t>Check for exemption criteria (e.g., transfer of equivalent coursework, qualifying national/international test scores).</a:t>
            </a:r>
          </a:p>
          <a:p>
            <a:pPr lvl="0" indent="0" marL="0">
              <a:spcBef>
                <a:spcPts val="3000"/>
              </a:spcBef>
              <a:buNone/>
            </a:pPr>
            <a:r>
              <a:rPr b="1"/>
              <a:t>2. Register for the Exam</a:t>
            </a:r>
          </a:p>
          <a:p>
            <a:pPr lvl="0"/>
            <a:r>
              <a:rPr/>
              <a:t>Log in to MyCendara at </a:t>
            </a:r>
            <a:r>
              <a:rPr>
                <a:hlinkClick r:id="rId3"/>
              </a:rPr>
              <a:t>my.cendara.edu</a:t>
            </a:r>
            <a:r>
              <a:rPr/>
              <a:t>.</a:t>
            </a:r>
          </a:p>
          <a:p>
            <a:pPr lvl="0"/>
            <a:r>
              <a:rPr/>
              <a:t>Navigate to the “Entrance Exams” section under the Applicant Dashboard.</a:t>
            </a:r>
          </a:p>
          <a:p>
            <a:pPr lvl="0"/>
            <a:r>
              <a:rPr/>
              <a:t>Select your required exam(s) and preferred examination session.</a:t>
            </a:r>
          </a:p>
          <a:p>
            <a:pPr lvl="0"/>
            <a:r>
              <a:rPr/>
              <a:t>Review and confirm testing accommodations if applicable (see Accessibility Services below).</a:t>
            </a:r>
          </a:p>
          <a:p>
            <a:pPr lvl="0" indent="0" marL="0">
              <a:spcBef>
                <a:spcPts val="3000"/>
              </a:spcBef>
              <a:buNone/>
            </a:pPr>
            <a:r>
              <a:rPr b="1"/>
              <a:t>3. Confirm Exam Schedule</a:t>
            </a:r>
          </a:p>
          <a:p>
            <a:pPr lvl="0"/>
            <a:r>
              <a:rPr/>
              <a:t>Once registered, you will receive an email within 48 hours containing:</a:t>
            </a:r>
          </a:p>
          <a:p>
            <a:pPr lvl="1"/>
            <a:r>
              <a:rPr/>
              <a:t>Exam date and time</a:t>
            </a:r>
          </a:p>
          <a:p>
            <a:pPr lvl="1"/>
            <a:r>
              <a:rPr/>
              <a:t>Testing location or access link (for online proctored exams)</a:t>
            </a:r>
          </a:p>
          <a:p>
            <a:pPr lvl="1"/>
            <a:r>
              <a:rPr/>
              <a:t>Required identification and materials</a:t>
            </a:r>
          </a:p>
          <a:p>
            <a:pPr lvl="0"/>
            <a:r>
              <a:rPr/>
              <a:t>Exam schedules are published at </a:t>
            </a:r>
            <a:r>
              <a:rPr>
                <a:hlinkClick r:id="rId4"/>
              </a:rPr>
              <a:t>cendara.edu/entrance-exams/schedule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 Dates and Locations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pPr lvl="0" indent="0" marL="0">
                        <a:buNone/>
                      </a:pPr>
                      <a:r>
                        <a:rPr/>
                        <a:t>Exam Type</a:t>
                      </a:r>
                    </a:p>
                  </a:txBody>
                  <a:tcPr/>
                </a:tc>
                <a:tc>
                  <a:txBody>
                    <a:bodyPr/>
                    <a:lstStyle/>
                    <a:p>
                      <a:pPr lvl="0" indent="0" marL="0">
                        <a:buNone/>
                      </a:pPr>
                      <a:r>
                        <a:rPr/>
                        <a:t>Main Session 1</a:t>
                      </a:r>
                    </a:p>
                  </a:txBody>
                  <a:tcPr/>
                </a:tc>
                <a:tc>
                  <a:txBody>
                    <a:bodyPr/>
                    <a:lstStyle/>
                    <a:p>
                      <a:pPr lvl="0" indent="0" marL="0">
                        <a:buNone/>
                      </a:pPr>
                      <a:r>
                        <a:rPr/>
                        <a:t>Main Session 2</a:t>
                      </a:r>
                    </a:p>
                  </a:txBody>
                  <a:tcPr/>
                </a:tc>
                <a:tc>
                  <a:txBody>
                    <a:bodyPr/>
                    <a:lstStyle/>
                    <a:p>
                      <a:pPr lvl="0" indent="0" marL="0">
                        <a:buNone/>
                      </a:pPr>
                      <a:r>
                        <a:rPr/>
                        <a:t>Format</a:t>
                      </a:r>
                    </a:p>
                  </a:txBody>
                  <a:tcPr/>
                </a:tc>
                <a:tc>
                  <a:txBody>
                    <a:bodyPr/>
                    <a:lstStyle/>
                    <a:p>
                      <a:pPr lvl="0" indent="0" marL="0">
                        <a:buNone/>
                      </a:pPr>
                      <a:r>
                        <a:rPr/>
                        <a:t>Location</a:t>
                      </a:r>
                    </a:p>
                  </a:txBody>
                  <a:tcPr/>
                </a:tc>
              </a:tr>
              <a:tr h="0">
                <a:tc>
                  <a:txBody>
                    <a:bodyPr/>
                    <a:lstStyle/>
                    <a:p>
                      <a:pPr lvl="0" indent="0" marL="0">
                        <a:buNone/>
                      </a:pPr>
                      <a:r>
                        <a:rPr/>
                        <a:t>Science Aptitude Exam</a:t>
                      </a:r>
                    </a:p>
                  </a:txBody>
                </a:tc>
                <a:tc>
                  <a:txBody>
                    <a:bodyPr/>
                    <a:lstStyle/>
                    <a:p>
                      <a:pPr lvl="0" indent="0" marL="0">
                        <a:buNone/>
                      </a:pPr>
                      <a:r>
                        <a:rPr/>
                        <a:t>May 10, 2024</a:t>
                      </a:r>
                    </a:p>
                  </a:txBody>
                </a:tc>
                <a:tc>
                  <a:txBody>
                    <a:bodyPr/>
                    <a:lstStyle/>
                    <a:p>
                      <a:pPr lvl="0" indent="0" marL="0">
                        <a:buNone/>
                      </a:pPr>
                      <a:r>
                        <a:rPr/>
                        <a:t>July 6, 2024</a:t>
                      </a:r>
                    </a:p>
                  </a:txBody>
                </a:tc>
                <a:tc>
                  <a:txBody>
                    <a:bodyPr/>
                    <a:lstStyle/>
                    <a:p>
                      <a:pPr lvl="0" indent="0" marL="0">
                        <a:buNone/>
                      </a:pPr>
                      <a:r>
                        <a:rPr/>
                        <a:t>Paper-based</a:t>
                      </a:r>
                    </a:p>
                  </a:txBody>
                </a:tc>
                <a:tc>
                  <a:txBody>
                    <a:bodyPr/>
                    <a:lstStyle/>
                    <a:p>
                      <a:pPr lvl="0" indent="0" marL="0">
                        <a:buNone/>
                      </a:pPr>
                      <a:r>
                        <a:rPr/>
                        <a:t>Beckett Hall Testing Center</a:t>
                      </a:r>
                    </a:p>
                  </a:txBody>
                </a:tc>
              </a:tr>
              <a:tr h="0">
                <a:tc>
                  <a:txBody>
                    <a:bodyPr/>
                    <a:lstStyle/>
                    <a:p>
                      <a:pPr lvl="0" indent="0" marL="0">
                        <a:buNone/>
                      </a:pPr>
                      <a:r>
                        <a:rPr/>
                        <a:t>Mathematics Proficiency Exam</a:t>
                      </a:r>
                    </a:p>
                  </a:txBody>
                </a:tc>
                <a:tc>
                  <a:txBody>
                    <a:bodyPr/>
                    <a:lstStyle/>
                    <a:p>
                      <a:pPr lvl="0" indent="0" marL="0">
                        <a:buNone/>
                      </a:pPr>
                      <a:r>
                        <a:rPr/>
                        <a:t>May 17, 2024</a:t>
                      </a:r>
                    </a:p>
                  </a:txBody>
                </a:tc>
                <a:tc>
                  <a:txBody>
                    <a:bodyPr/>
                    <a:lstStyle/>
                    <a:p>
                      <a:pPr lvl="0" indent="0" marL="0">
                        <a:buNone/>
                      </a:pPr>
                      <a:r>
                        <a:rPr/>
                        <a:t>July 13, 2024</a:t>
                      </a:r>
                    </a:p>
                  </a:txBody>
                </a:tc>
                <a:tc>
                  <a:txBody>
                    <a:bodyPr/>
                    <a:lstStyle/>
                    <a:p>
                      <a:pPr lvl="0" indent="0" marL="0">
                        <a:buNone/>
                      </a:pPr>
                      <a:r>
                        <a:rPr/>
                        <a:t>Computer-based</a:t>
                      </a:r>
                    </a:p>
                  </a:txBody>
                </a:tc>
                <a:tc>
                  <a:txBody>
                    <a:bodyPr/>
                    <a:lstStyle/>
                    <a:p>
                      <a:pPr lvl="0" indent="0" marL="0">
                        <a:buNone/>
                      </a:pPr>
                      <a:r>
                        <a:rPr/>
                        <a:t>Pearson Computer Lab A</a:t>
                      </a:r>
                    </a:p>
                  </a:txBody>
                </a:tc>
              </a:tr>
              <a:tr h="0">
                <a:tc>
                  <a:txBody>
                    <a:bodyPr/>
                    <a:lstStyle/>
                    <a:p>
                      <a:pPr lvl="0" indent="0" marL="0">
                        <a:buNone/>
                      </a:pPr>
                      <a:r>
                        <a:rPr/>
                        <a:t>Critical Reasoning Essay</a:t>
                      </a:r>
                    </a:p>
                  </a:txBody>
                </a:tc>
                <a:tc>
                  <a:txBody>
                    <a:bodyPr/>
                    <a:lstStyle/>
                    <a:p>
                      <a:pPr lvl="0" indent="0" marL="0">
                        <a:buNone/>
                      </a:pPr>
                      <a:r>
                        <a:rPr/>
                        <a:t>May 24, 2024</a:t>
                      </a:r>
                    </a:p>
                  </a:txBody>
                </a:tc>
                <a:tc>
                  <a:txBody>
                    <a:bodyPr/>
                    <a:lstStyle/>
                    <a:p>
                      <a:pPr lvl="0" indent="0" marL="0">
                        <a:buNone/>
                      </a:pPr>
                      <a:r>
                        <a:rPr/>
                        <a:t>July 20, 2024</a:t>
                      </a:r>
                    </a:p>
                  </a:txBody>
                </a:tc>
                <a:tc>
                  <a:txBody>
                    <a:bodyPr/>
                    <a:lstStyle/>
                    <a:p>
                      <a:pPr lvl="0" indent="0" marL="0">
                        <a:buNone/>
                      </a:pPr>
                      <a:r>
                        <a:rPr/>
                        <a:t>Online</a:t>
                      </a:r>
                    </a:p>
                  </a:txBody>
                </a:tc>
                <a:tc>
                  <a:txBody>
                    <a:bodyPr/>
                    <a:lstStyle/>
                    <a:p>
                      <a:pPr lvl="0" indent="0" marL="0">
                        <a:buNone/>
                      </a:pPr>
                      <a:r>
                        <a:rPr/>
                        <a:t>Remote (proctored via Cendara)</a:t>
                      </a:r>
                    </a:p>
                  </a:txBody>
                </a:tc>
              </a:tr>
              <a:tr h="0">
                <a:tc>
                  <a:txBody>
                    <a:bodyPr/>
                    <a:lstStyle/>
                    <a:p>
                      <a:pPr lvl="0" indent="0" marL="0">
                        <a:buNone/>
                      </a:pPr>
                      <a:r>
                        <a:rPr/>
                        <a:t>Graduate Subject Exams</a:t>
                      </a:r>
                    </a:p>
                  </a:txBody>
                </a:tc>
                <a:tc>
                  <a:txBody>
                    <a:bodyPr/>
                    <a:lstStyle/>
                    <a:p>
                      <a:pPr lvl="0" indent="0" marL="0">
                        <a:buNone/>
                      </a:pPr>
                      <a:r>
                        <a:rPr/>
                        <a:t>By appointment</a:t>
                      </a:r>
                    </a:p>
                  </a:txBody>
                </a:tc>
                <a:tc>
                  <a:txBody>
                    <a:bodyPr/>
                    <a:lstStyle/>
                    <a:p>
                      <a:pPr lvl="0" indent="0" marL="0">
                        <a:buNone/>
                      </a:pPr>
                      <a:r>
                        <a:rPr/>
                        <a:t>By appointment</a:t>
                      </a:r>
                    </a:p>
                  </a:txBody>
                </a:tc>
                <a:tc>
                  <a:txBody>
                    <a:bodyPr/>
                    <a:lstStyle/>
                    <a:p>
                      <a:pPr lvl="0" indent="0" marL="0">
                        <a:buNone/>
                      </a:pPr>
                      <a:r>
                        <a:rPr/>
                        <a:t>Varies</a:t>
                      </a:r>
                    </a:p>
                  </a:txBody>
                </a:tc>
                <a:tc>
                  <a:txBody>
                    <a:bodyPr/>
                    <a:lstStyle/>
                    <a:p>
                      <a:pPr lvl="0" indent="0" marL="0">
                        <a:buNone/>
                      </a:pPr>
                      <a:r>
                        <a:rPr/>
                        <a:t>As per department guidelines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Late registration and make-up testing may be available for documented emergencies—contact exams@cendara.edu for assistance.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 Content and Format</a:t>
            </a:r>
          </a:p>
        </p:txBody>
      </p:sp>
      <p:sp>
        <p:nvSpPr>
          <p:cNvPr id="3" name="Content Placeholder 2"/>
          <p:cNvSpPr>
            <a:spLocks noGrp="1"/>
          </p:cNvSpPr>
          <p:nvPr>
            <p:ph idx="1"/>
          </p:nvPr>
        </p:nvSpPr>
        <p:spPr/>
        <p:txBody>
          <a:bodyPr/>
          <a:lstStyle/>
          <a:p>
            <a:pPr lvl="0" indent="0" marL="0">
              <a:spcBef>
                <a:spcPts val="3000"/>
              </a:spcBef>
              <a:buNone/>
            </a:pPr>
            <a:r>
              <a:rPr b="1"/>
              <a:t>Science Aptitude Exam</a:t>
            </a:r>
          </a:p>
          <a:p>
            <a:pPr lvl="0"/>
            <a:r>
              <a:rPr b="1"/>
              <a:t>Duration:</a:t>
            </a:r>
            <a:r>
              <a:rPr/>
              <a:t> 90 minutes</a:t>
            </a:r>
          </a:p>
          <a:p>
            <a:pPr lvl="0"/>
            <a:r>
              <a:rPr b="1"/>
              <a:t>Sections:</a:t>
            </a:r>
          </a:p>
          <a:p>
            <a:pPr lvl="1"/>
            <a:r>
              <a:rPr/>
              <a:t>Biology basics (30%)</a:t>
            </a:r>
          </a:p>
          <a:p>
            <a:pPr lvl="1"/>
            <a:r>
              <a:rPr/>
              <a:t>Chemistry fundamentals (35%)</a:t>
            </a:r>
          </a:p>
          <a:p>
            <a:pPr lvl="1"/>
            <a:r>
              <a:rPr/>
              <a:t>Quantitative reasoning (25%)</a:t>
            </a:r>
          </a:p>
          <a:p>
            <a:pPr lvl="1"/>
            <a:r>
              <a:rPr/>
              <a:t>Scientific reading comprehension (10%)</a:t>
            </a:r>
          </a:p>
          <a:p>
            <a:pPr lvl="0"/>
            <a:r>
              <a:rPr b="1"/>
              <a:t>Question Types:</a:t>
            </a:r>
            <a:r>
              <a:rPr/>
              <a:t> Multiple-choice and short answer</a:t>
            </a:r>
          </a:p>
          <a:p>
            <a:pPr lvl="0" indent="0" marL="0">
              <a:spcBef>
                <a:spcPts val="3000"/>
              </a:spcBef>
              <a:buNone/>
            </a:pPr>
            <a:r>
              <a:rPr b="1"/>
              <a:t>Mathematics Proficiency Exam</a:t>
            </a:r>
          </a:p>
          <a:p>
            <a:pPr lvl="0"/>
            <a:r>
              <a:rPr b="1"/>
              <a:t>Duration:</a:t>
            </a:r>
            <a:r>
              <a:rPr/>
              <a:t> 75 minutes</a:t>
            </a:r>
          </a:p>
          <a:p>
            <a:pPr lvl="0"/>
            <a:r>
              <a:rPr b="1"/>
              <a:t>Sections:</a:t>
            </a:r>
          </a:p>
          <a:p>
            <a:pPr lvl="1"/>
            <a:r>
              <a:rPr/>
              <a:t>Algebra and functions (40%)</a:t>
            </a:r>
          </a:p>
          <a:p>
            <a:pPr lvl="1"/>
            <a:r>
              <a:rPr/>
              <a:t>Trigonometry and geometry (30%)</a:t>
            </a:r>
          </a:p>
          <a:p>
            <a:pPr lvl="1"/>
            <a:r>
              <a:rPr/>
              <a:t>Data analysis and interpretation (30%)</a:t>
            </a:r>
          </a:p>
          <a:p>
            <a:pPr lvl="0"/>
            <a:r>
              <a:rPr b="1"/>
              <a:t>Question Types:</a:t>
            </a:r>
            <a:r>
              <a:rPr/>
              <a:t> Computer-adaptive multiple-choice</a:t>
            </a:r>
          </a:p>
          <a:p>
            <a:pPr lvl="0" indent="0" marL="0">
              <a:spcBef>
                <a:spcPts val="3000"/>
              </a:spcBef>
              <a:buNone/>
            </a:pPr>
            <a:r>
              <a:rPr b="1"/>
              <a:t>Critical Reasoning Essay</a:t>
            </a:r>
          </a:p>
          <a:p>
            <a:pPr lvl="0"/>
            <a:r>
              <a:rPr b="1"/>
              <a:t>Duration:</a:t>
            </a:r>
            <a:r>
              <a:rPr/>
              <a:t> 45 minutes</a:t>
            </a:r>
          </a:p>
          <a:p>
            <a:pPr lvl="0"/>
            <a:r>
              <a:rPr b="1"/>
              <a:t>Format:</a:t>
            </a:r>
            <a:r>
              <a:rPr/>
              <a:t> Typed essay response to one prompt</a:t>
            </a:r>
          </a:p>
          <a:p>
            <a:pPr lvl="0"/>
            <a:r>
              <a:rPr b="1"/>
              <a:t>Evaluation:</a:t>
            </a:r>
            <a:r>
              <a:rPr/>
              <a:t> Clarity of argument, logic, use of evidence, and writing mechanics</a:t>
            </a:r>
          </a:p>
          <a:p>
            <a:pPr lvl="0" indent="0" marL="0">
              <a:spcBef>
                <a:spcPts val="3000"/>
              </a:spcBef>
              <a:buNone/>
            </a:pPr>
            <a:r>
              <a:rPr b="1"/>
              <a:t>Graduate Subject Exams</a:t>
            </a:r>
          </a:p>
          <a:p>
            <a:pPr lvl="0"/>
            <a:r>
              <a:rPr b="1"/>
              <a:t>Content and format</a:t>
            </a:r>
            <a:r>
              <a:rPr/>
              <a:t> are determined by each department; see graduate program entry in the </a:t>
            </a:r>
            <a:r>
              <a:rPr>
                <a:hlinkClick r:id="rId2"/>
              </a:rPr>
              <a:t>Catalog</a:t>
            </a:r>
            <a:r>
              <a:rPr/>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Scoring and Results</a:t>
            </a:r>
          </a:p>
        </p:txBody>
      </p:sp>
      <p:sp>
        <p:nvSpPr>
          <p:cNvPr id="3" name="Content Placeholder 2"/>
          <p:cNvSpPr>
            <a:spLocks noGrp="1"/>
          </p:cNvSpPr>
          <p:nvPr>
            <p:ph idx="1"/>
          </p:nvPr>
        </p:nvSpPr>
        <p:spPr/>
        <p:txBody>
          <a:bodyPr/>
          <a:lstStyle/>
          <a:p>
            <a:pPr lvl="0"/>
            <a:r>
              <a:rPr b="1"/>
              <a:t>Exams are scored within 10 business days.</a:t>
            </a:r>
          </a:p>
          <a:p>
            <a:pPr lvl="1"/>
            <a:r>
              <a:rPr/>
              <a:t>Undergraduate exam scores are posted to your MyCendara Applicant Dashboard.</a:t>
            </a:r>
          </a:p>
          <a:p>
            <a:pPr lvl="1"/>
            <a:r>
              <a:rPr/>
              <a:t>Graduate subject exam results are communicated by program departments.</a:t>
            </a:r>
          </a:p>
          <a:p>
            <a:pPr lvl="0"/>
            <a:r>
              <a:rPr b="1"/>
              <a:t>Minimum Passing Scores:</a:t>
            </a:r>
          </a:p>
          <a:p>
            <a:pPr lvl="1"/>
            <a:r>
              <a:rPr/>
              <a:t>Science Aptitude Exam: 68% overall, no section below 55%</a:t>
            </a:r>
          </a:p>
          <a:p>
            <a:pPr lvl="1"/>
            <a:r>
              <a:rPr/>
              <a:t>Mathematics Proficiency Exam: 65%</a:t>
            </a:r>
          </a:p>
          <a:p>
            <a:pPr lvl="1"/>
            <a:r>
              <a:rPr/>
              <a:t>Critical Reasoning Essay: Score of 8/12 from faculty readers</a:t>
            </a:r>
          </a:p>
          <a:p>
            <a:pPr lvl="0"/>
            <a:r>
              <a:rPr b="1"/>
              <a:t>Retake Policy:</a:t>
            </a:r>
            <a:br/>
            <a:r>
              <a:rPr/>
              <a:t>Students who do not meet minimum scores may register for one exam retake per admission cycle. Requests for additional attempts require appeal to the Admissions Review Committee.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 Day Guidelines</a:t>
            </a:r>
          </a:p>
        </p:txBody>
      </p:sp>
      <p:sp>
        <p:nvSpPr>
          <p:cNvPr id="3" name="Content Placeholder 2"/>
          <p:cNvSpPr>
            <a:spLocks noGrp="1"/>
          </p:cNvSpPr>
          <p:nvPr>
            <p:ph idx="1"/>
          </p:nvPr>
        </p:nvSpPr>
        <p:spPr/>
        <p:txBody>
          <a:bodyPr/>
          <a:lstStyle/>
          <a:p>
            <a:pPr lvl="0"/>
            <a:r>
              <a:rPr/>
              <a:t>Arrive at least 30 minutes before your scheduled start time.</a:t>
            </a:r>
          </a:p>
          <a:p>
            <a:pPr lvl="0"/>
            <a:r>
              <a:rPr/>
              <a:t>Bring a government-issued photo ID and your CUSID exam ticket (print or digital).</a:t>
            </a:r>
          </a:p>
          <a:p>
            <a:pPr lvl="0"/>
            <a:r>
              <a:rPr/>
              <a:t>Permitted items:</a:t>
            </a:r>
          </a:p>
          <a:p>
            <a:pPr lvl="1"/>
            <a:r>
              <a:rPr/>
              <a:t>Non-programmable calculator (for Math exam)</a:t>
            </a:r>
          </a:p>
          <a:p>
            <a:pPr lvl="1"/>
            <a:r>
              <a:rPr/>
              <a:t>Pencils/pens (where applicable)</a:t>
            </a:r>
          </a:p>
          <a:p>
            <a:pPr lvl="1"/>
            <a:r>
              <a:rPr/>
              <a:t>Water in clear bottle</a:t>
            </a:r>
          </a:p>
          <a:p>
            <a:pPr lvl="0"/>
            <a:r>
              <a:rPr/>
              <a:t>Prohibited items:</a:t>
            </a:r>
          </a:p>
          <a:p>
            <a:pPr lvl="1"/>
            <a:r>
              <a:rPr/>
              <a:t>Study aids, notes, or electronic devices (other than those required for online testing)</a:t>
            </a:r>
          </a:p>
          <a:p>
            <a:pPr lvl="1"/>
            <a:r>
              <a:rPr/>
              <a:t>Wearable technology</a:t>
            </a:r>
          </a:p>
          <a:p>
            <a:pPr lvl="0" indent="0" marL="0">
              <a:buNone/>
            </a:pPr>
            <a:r>
              <a:rPr/>
              <a:t>Accommodations for students with disabilities are available. Contact accessibility@cendara.edu at least two weeks before your scheduled exam.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Frequently Asked Questions</a:t>
            </a:r>
          </a:p>
        </p:txBody>
      </p:sp>
      <p:sp>
        <p:nvSpPr>
          <p:cNvPr id="3" name="Content Placeholder 2"/>
          <p:cNvSpPr>
            <a:spLocks noGrp="1"/>
          </p:cNvSpPr>
          <p:nvPr>
            <p:ph idx="1"/>
          </p:nvPr>
        </p:nvSpPr>
        <p:spPr/>
        <p:txBody>
          <a:bodyPr/>
          <a:lstStyle/>
          <a:p>
            <a:pPr lvl="0" indent="0" marL="0">
              <a:spcBef>
                <a:spcPts val="3000"/>
              </a:spcBef>
              <a:buNone/>
            </a:pPr>
            <a:r>
              <a:rPr b="1"/>
              <a:t>Do all applicants need to take an entrance exam?</a:t>
            </a:r>
          </a:p>
          <a:p>
            <a:pPr lvl="0" indent="0" marL="0">
              <a:buNone/>
            </a:pPr>
            <a:r>
              <a:rPr/>
              <a:t>No. Only certain academic programs or tracks require an entrance exam (see above). Most applicants qualify through their prior academic record and submitted standardized scores.</a:t>
            </a:r>
          </a:p>
          <a:p>
            <a:pPr lvl="0" indent="0" marL="0">
              <a:spcBef>
                <a:spcPts val="3000"/>
              </a:spcBef>
              <a:buNone/>
            </a:pPr>
            <a:r>
              <a:rPr b="1"/>
              <a:t>What if I am unable to attend the scheduled exam date?</a:t>
            </a:r>
          </a:p>
          <a:p>
            <a:pPr lvl="0" indent="0" marL="0">
              <a:buNone/>
            </a:pPr>
            <a:r>
              <a:rPr/>
              <a:t>Contact the Office of Admissions at exams@cendara.edu as soon as possible. Make-up sessions or remote testing may be arranged for verifiable reasons such as illness, travel difficulties, or overlapping commitments.</a:t>
            </a:r>
          </a:p>
          <a:p>
            <a:pPr lvl="0" indent="0" marL="0">
              <a:spcBef>
                <a:spcPts val="3000"/>
              </a:spcBef>
              <a:buNone/>
            </a:pPr>
            <a:r>
              <a:rPr b="1"/>
              <a:t>How should I prepare for my entrance exam?</a:t>
            </a:r>
          </a:p>
          <a:p>
            <a:pPr lvl="0"/>
            <a:r>
              <a:rPr/>
              <a:t>Review the sample test materials and practice guides available at </a:t>
            </a:r>
            <a:r>
              <a:rPr>
                <a:hlinkClick r:id="rId2"/>
              </a:rPr>
              <a:t>cendara.edu/entrance-exams/prep</a:t>
            </a:r>
            <a:r>
              <a:rPr/>
              <a:t>.</a:t>
            </a:r>
          </a:p>
          <a:p>
            <a:pPr lvl="0"/>
            <a:r>
              <a:rPr/>
              <a:t>Attend an online information session or contact your department for recommended resources.</a:t>
            </a:r>
          </a:p>
          <a:p>
            <a:pPr lvl="0" indent="0" marL="0">
              <a:spcBef>
                <a:spcPts val="3000"/>
              </a:spcBef>
              <a:buNone/>
            </a:pPr>
            <a:r>
              <a:rPr b="1"/>
              <a:t>Can international students take exams online?</a:t>
            </a:r>
          </a:p>
          <a:p>
            <a:pPr lvl="0" indent="0" marL="0">
              <a:buNone/>
            </a:pPr>
            <a:r>
              <a:rPr/>
              <a:t>Yes. Online, proctored versions of all entrance exams are available for international and remote applicants. Ensure your technology meets the system requirements published on the website.</a:t>
            </a:r>
          </a:p>
          <a:p>
            <a:pPr lvl="0" indent="0" marL="0">
              <a:spcBef>
                <a:spcPts val="3000"/>
              </a:spcBef>
              <a:buNone/>
            </a:pPr>
            <a:r>
              <a:rPr b="1"/>
              <a:t>Are there exam fees?</a:t>
            </a:r>
          </a:p>
          <a:p>
            <a:pPr lvl="0" indent="0" marL="0">
              <a:buNone/>
            </a:pPr>
            <a:r>
              <a:rPr/>
              <a:t>The first sitting of any required entrance exam is included with your application. Retake or late registration fees are $45 per exam. Fee waivers are available for eligible students (see </a:t>
            </a:r>
            <a:r>
              <a:rPr>
                <a:hlinkClick r:id="rId3"/>
              </a:rPr>
              <a:t>Financial Services</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Contacts for Exam Inquiries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Office</a:t>
                      </a:r>
                    </a:p>
                  </a:txBody>
                  <a:tcPr/>
                </a:tc>
                <a:tc>
                  <a:txBody>
                    <a:bodyPr/>
                    <a:lstStyle/>
                    <a:p>
                      <a:pPr lvl="0" indent="0" marL="0">
                        <a:buNone/>
                      </a:pPr>
                      <a:r>
                        <a:rPr/>
                        <a:t>Email</a:t>
                      </a:r>
                    </a:p>
                  </a:txBody>
                  <a:tcPr/>
                </a:tc>
                <a:tc>
                  <a:txBody>
                    <a:bodyPr/>
                    <a:lstStyle/>
                    <a:p>
                      <a:pPr lvl="0" indent="0" marL="0">
                        <a:buNone/>
                      </a:pPr>
                      <a:r>
                        <a:rPr/>
                        <a:t>Phone</a:t>
                      </a:r>
                    </a:p>
                  </a:txBody>
                  <a:tcPr/>
                </a:tc>
                <a:tc>
                  <a:txBody>
                    <a:bodyPr/>
                    <a:lstStyle/>
                    <a:p>
                      <a:pPr lvl="0" indent="0" marL="0">
                        <a:buNone/>
                      </a:pPr>
                      <a:r>
                        <a:rPr/>
                        <a:t>Location</a:t>
                      </a:r>
                    </a:p>
                  </a:txBody>
                  <a:tcPr/>
                </a:tc>
              </a:tr>
              <a:tr h="0">
                <a:tc>
                  <a:txBody>
                    <a:bodyPr/>
                    <a:lstStyle/>
                    <a:p>
                      <a:pPr lvl="0" indent="0" marL="0">
                        <a:buNone/>
                      </a:pPr>
                      <a:r>
                        <a:rPr/>
                        <a:t>Entrance Exams Office</a:t>
                      </a:r>
                    </a:p>
                  </a:txBody>
                </a:tc>
                <a:tc>
                  <a:txBody>
                    <a:bodyPr/>
                    <a:lstStyle/>
                    <a:p>
                      <a:pPr lvl="0" indent="0" marL="0">
                        <a:buNone/>
                      </a:pPr>
                      <a:r>
                        <a:rPr/>
                        <a:t>exams@cendara.edu</a:t>
                      </a:r>
                    </a:p>
                  </a:txBody>
                </a:tc>
                <a:tc>
                  <a:txBody>
                    <a:bodyPr/>
                    <a:lstStyle/>
                    <a:p>
                      <a:pPr lvl="0" indent="0" marL="0">
                        <a:buNone/>
                      </a:pPr>
                      <a:r>
                        <a:rPr/>
                        <a:t>555-402-1177</a:t>
                      </a:r>
                    </a:p>
                  </a:txBody>
                </a:tc>
                <a:tc>
                  <a:txBody>
                    <a:bodyPr/>
                    <a:lstStyle/>
                    <a:p>
                      <a:pPr lvl="0" indent="0" marL="0">
                        <a:buNone/>
                      </a:pPr>
                      <a:r>
                        <a:rPr/>
                        <a:t>Beckett Hall, Room 112</a:t>
                      </a:r>
                    </a:p>
                  </a:txBody>
                </a:tc>
              </a:tr>
              <a:tr h="0">
                <a:tc>
                  <a:txBody>
                    <a:bodyPr/>
                    <a:lstStyle/>
                    <a:p>
                      <a:pPr lvl="0" indent="0" marL="0">
                        <a:buNone/>
                      </a:pPr>
                      <a:r>
                        <a:rPr/>
                        <a:t>Office of Admissions</a:t>
                      </a:r>
                    </a:p>
                  </a:txBody>
                </a:tc>
                <a:tc>
                  <a:txBody>
                    <a:bodyPr/>
                    <a:lstStyle/>
                    <a:p>
                      <a:pPr lvl="0" indent="0" marL="0">
                        <a:buNone/>
                      </a:pPr>
                      <a:r>
                        <a:rPr/>
                        <a:t>admissions@cendara.edu</a:t>
                      </a:r>
                    </a:p>
                  </a:txBody>
                </a:tc>
                <a:tc>
                  <a:txBody>
                    <a:bodyPr/>
                    <a:lstStyle/>
                    <a:p>
                      <a:pPr lvl="0" indent="0" marL="0">
                        <a:buNone/>
                      </a:pPr>
                      <a:r>
                        <a:rPr/>
                        <a:t>555-402-1021</a:t>
                      </a:r>
                    </a:p>
                  </a:txBody>
                </a:tc>
                <a:tc>
                  <a:txBody>
                    <a:bodyPr/>
                    <a:lstStyle/>
                    <a:p>
                      <a:pPr lvl="0" indent="0" marL="0">
                        <a:buNone/>
                      </a:pPr>
                      <a:r>
                        <a:rPr/>
                        <a:t>Beckett Hall, Room 101</a:t>
                      </a:r>
                    </a:p>
                  </a:txBody>
                </a:tc>
              </a:tr>
              <a:tr h="0">
                <a:tc>
                  <a:txBody>
                    <a:bodyPr/>
                    <a:lstStyle/>
                    <a:p>
                      <a:pPr lvl="0" indent="0" marL="0">
                        <a:buNone/>
                      </a:pPr>
                      <a:r>
                        <a:rPr/>
                        <a:t>Accessibility Services</a:t>
                      </a:r>
                    </a:p>
                  </a:txBody>
                </a:tc>
                <a:tc>
                  <a:txBody>
                    <a:bodyPr/>
                    <a:lstStyle/>
                    <a:p>
                      <a:pPr lvl="0" indent="0" marL="0">
                        <a:buNone/>
                      </a:pPr>
                      <a:r>
                        <a:rPr/>
                        <a:t>accessibility@cendara.edu</a:t>
                      </a:r>
                    </a:p>
                  </a:txBody>
                </a:tc>
                <a:tc>
                  <a:txBody>
                    <a:bodyPr/>
                    <a:lstStyle/>
                    <a:p>
                      <a:pPr lvl="0" indent="0" marL="0">
                        <a:buNone/>
                      </a:pPr>
                      <a:r>
                        <a:rPr/>
                        <a:t>555-402-1223</a:t>
                      </a:r>
                    </a:p>
                  </a:txBody>
                </a:tc>
                <a:tc>
                  <a:txBody>
                    <a:bodyPr/>
                    <a:lstStyle/>
                    <a:p>
                      <a:pPr lvl="0" indent="0" marL="0">
                        <a:buNone/>
                      </a:pPr>
                      <a:r>
                        <a:rPr/>
                        <a:t>Pearson Bldg, Room 9</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additional details, visit the </a:t>
            </a:r>
            <a:r>
              <a:rPr>
                <a:hlinkClick r:id="rId2"/>
              </a:rPr>
              <a:t>Entrance Exams Portal</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2025-07-29T15:05:06Z</dcterms:created>
  <dcterms:modified xsi:type="dcterms:W3CDTF">2025-07-29T15:05:06Z</dcterms:modified>
</cp:coreProperties>
</file>

<file path=docProps/custom.xml><?xml version="1.0" encoding="utf-8"?>
<Properties xmlns="http://schemas.openxmlformats.org/officeDocument/2006/custom-properties" xmlns:vt="http://schemas.openxmlformats.org/officeDocument/2006/docPropsVTypes"/>
</file>