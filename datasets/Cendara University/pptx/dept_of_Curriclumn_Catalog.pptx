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5" Type="http://schemas.openxmlformats.org/officeDocument/2006/relationships/viewProps" Target="viewProps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Cendara University Course Catalog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Department of Curriculum &amp; Instruction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Undergraduate Courses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Bachelor of Education (B.Ed.) in Elementary Education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EDUC 1101: Foundations of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Introduction to the philosophy, history, and social context of elementary education. Topics include educational theories, current issues in teaching, and the role of educators in diverse classrooms.</a:t>
            </a:r>
          </a:p>
          <a:p>
            <a:pPr lvl="0"/>
            <a:r>
              <a:rPr b="1"/>
              <a:t>Prerequisites:</a:t>
            </a:r>
            <a:r>
              <a:rPr/>
              <a:t> None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EDUC 1202: Child Development and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Examination of key physical, cognitive, and social-emotional development stages in children aged 4–12. Explores theories of learning and their application in diverse elementary classrooms.</a:t>
            </a:r>
          </a:p>
          <a:p>
            <a:pPr lvl="0"/>
            <a:r>
              <a:rPr b="1"/>
              <a:t>Prerequisites:</a:t>
            </a:r>
            <a:r>
              <a:rPr/>
              <a:t> None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EDUC 1303: Curriculum Design for Elementary Classrooms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Study of principles and models of curriculum development. Students will develop lesson plans and curricular units aligned with state and national standards.</a:t>
            </a:r>
          </a:p>
          <a:p>
            <a:pPr lvl="0"/>
            <a:r>
              <a:rPr b="1"/>
              <a:t>Prerequisites:</a:t>
            </a:r>
            <a:r>
              <a:rPr/>
              <a:t> EDUC 1101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EDUC 1404: Literacy Instruction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Approaches to teaching reading and writing from kindergarten through third grade. Emphasizes phonemic awareness, phonics, and early literacy strategies.</a:t>
            </a:r>
            <a:br/>
          </a:p>
          <a:p>
            <a:pPr lvl="0"/>
            <a:r>
              <a:rPr b="1"/>
              <a:t>Prerequisites:</a:t>
            </a:r>
            <a:r>
              <a:rPr/>
              <a:t> EDUC 1202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EDUC 1505: Mathematics for Elementary Teachers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Content and methods for effective mathematics instruction at the elementary level, including numeracy, problem-solving, and assessment techniques.</a:t>
            </a:r>
          </a:p>
          <a:p>
            <a:pPr lvl="0"/>
            <a:r>
              <a:rPr b="1"/>
              <a:t>Prerequisites:</a:t>
            </a:r>
            <a:r>
              <a:rPr/>
              <a:t> EDUC 1101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EDUC 2106: Classroom Assessment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Principles and practices of student assessment, including formative, summative, and alternative forms. Focus on data-driven instruction to improve student outcomes.</a:t>
            </a:r>
          </a:p>
          <a:p>
            <a:pPr lvl="0"/>
            <a:r>
              <a:rPr b="1"/>
              <a:t>Prerequisites:</a:t>
            </a:r>
            <a:r>
              <a:rPr/>
              <a:t> EDUC 1303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EDUC 2207: Literacy Instruction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Strategies for reading comprehension and writing instruction, grades 4–6. Focuses also on differentiated instruction for students with varying abilities.</a:t>
            </a:r>
          </a:p>
          <a:p>
            <a:pPr lvl="0"/>
            <a:r>
              <a:rPr b="1"/>
              <a:t>Prerequisites:</a:t>
            </a:r>
            <a:r>
              <a:rPr/>
              <a:t> EDUC 1404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EDUC 2308: Science and Social Studies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Integration of science and social studies content and pedagogy, with an emphasis on inquiry-based learning and interdisciplinary instruction.</a:t>
            </a:r>
          </a:p>
          <a:p>
            <a:pPr lvl="0"/>
            <a:r>
              <a:rPr b="1"/>
              <a:t>Prerequisites:</a:t>
            </a:r>
            <a:r>
              <a:rPr/>
              <a:t> EDUC 1303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EDUC 3109: Inclusive Classrooms and Special Needs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Methods for supporting diverse learners, including those with exceptionalities and English language learners. Legal and ethical aspects of inclusion addressed.</a:t>
            </a:r>
          </a:p>
          <a:p>
            <a:pPr lvl="0"/>
            <a:r>
              <a:rPr b="1"/>
              <a:t>Prerequisites:</a:t>
            </a:r>
            <a:r>
              <a:rPr/>
              <a:t> EDUC 2106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EDUC 3110: Classroom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Techniques for creating positive learning environments, managing student behavior, and implementing preventative strategies.</a:t>
            </a:r>
          </a:p>
          <a:p>
            <a:pPr lvl="0"/>
            <a:r>
              <a:rPr b="1"/>
              <a:t>Prerequisites:</a:t>
            </a:r>
            <a:r>
              <a:rPr/>
              <a:t> EDUC 2106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EDUC 4201: Student Teaching Seminar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Capstone seminar to support students completing their student teaching experience. Emphasizes reflective practice, professional development, and portfolio creation.</a:t>
            </a:r>
          </a:p>
          <a:p>
            <a:pPr lvl="0"/>
            <a:r>
              <a:rPr b="1"/>
              <a:t>Prerequisites:</a:t>
            </a:r>
            <a:r>
              <a:rPr/>
              <a:t> Completion of all prior B.Ed. coursework; approval of Department Chair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EDUC 4202: Student Teaching Practicum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Supervised full-time teaching placement in a local elementary school. Students apply pedagogical theories in real-world settings.</a:t>
            </a:r>
          </a:p>
          <a:p>
            <a:pPr lvl="0"/>
            <a:r>
              <a:rPr b="1"/>
              <a:t>Prerequisites:</a:t>
            </a:r>
            <a:r>
              <a:rPr/>
              <a:t> EDUC 4201</a:t>
            </a:r>
            <a:br/>
          </a:p>
          <a:p>
            <a:pPr lvl="0"/>
            <a:r>
              <a:rPr b="1"/>
              <a:t>Credit Hours:</a:t>
            </a:r>
            <a:r>
              <a:rPr/>
              <a:t> 6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Graduate Courses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Master of Education (M.Ed.) in Curriculum &amp; Instruction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EDCI 5001: Contemporary Issues in Curriculum &amp; Instruction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Exploration of current trends, reform movements, and policy debates influencing curriculum and instructional practice in K-12 education.</a:t>
            </a:r>
          </a:p>
          <a:p>
            <a:pPr lvl="0"/>
            <a:r>
              <a:rPr b="1"/>
              <a:t>Prerequisites:</a:t>
            </a:r>
            <a:r>
              <a:rPr/>
              <a:t> Admission to M.Ed. program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EDCI 5102: Advanced Instructional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In-depth analysis of learning theories, instructional models, and evidence-based practices for enhancing student achievement across grade levels.</a:t>
            </a:r>
          </a:p>
          <a:p>
            <a:pPr lvl="0"/>
            <a:r>
              <a:rPr b="1"/>
              <a:t>Prerequisites:</a:t>
            </a:r>
            <a:r>
              <a:rPr/>
              <a:t> EDCI 5001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EDCI 5203: Curriculum Development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Study of systematic approaches to designing, implementing, and assessing curricula using quantitative and qualitative methods.</a:t>
            </a:r>
          </a:p>
          <a:p>
            <a:pPr lvl="0"/>
            <a:r>
              <a:rPr b="1"/>
              <a:t>Prerequisites:</a:t>
            </a:r>
            <a:r>
              <a:rPr/>
              <a:t> EDCI 5001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EDCI 5304: Educational Research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Introduction to qualitative and quantitative educational research methodologies, including data collection, analysis, and interpretation for classroom settings.</a:t>
            </a:r>
          </a:p>
          <a:p>
            <a:pPr lvl="0"/>
            <a:r>
              <a:rPr b="1"/>
              <a:t>Prerequisites:</a:t>
            </a:r>
            <a:r>
              <a:rPr/>
              <a:t> None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EDCI 5405: Technology Integration in the Classroom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Strategies for selecting and implementing digital tools and resources to enhance teaching and learning. Includes evaluation of emerging educational technologies.</a:t>
            </a:r>
          </a:p>
          <a:p>
            <a:pPr lvl="0"/>
            <a:r>
              <a:rPr b="1"/>
              <a:t>Prerequisites:</a:t>
            </a:r>
            <a:r>
              <a:rPr/>
              <a:t> None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EDCI 6106: Cultural Competence and Equity in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Examination of approaches to fostering inclusive and equitable learning environments. Topics include anti-bias education and culturally responsive pedagogy.</a:t>
            </a:r>
          </a:p>
          <a:p>
            <a:pPr lvl="0"/>
            <a:r>
              <a:rPr b="1"/>
              <a:t>Prerequisites:</a:t>
            </a:r>
            <a:r>
              <a:rPr/>
              <a:t> EDCI 5001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EDCI 6207: Leadership in Curriculum &amp; Instruction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Training in instructional leadership, including supervision, mentoring, and professional development for teachers.</a:t>
            </a:r>
          </a:p>
          <a:p>
            <a:pPr lvl="0"/>
            <a:r>
              <a:rPr b="1"/>
              <a:t>Prerequisites:</a:t>
            </a:r>
            <a:r>
              <a:rPr/>
              <a:t> EDCI 5203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EDCI 6308: Thesis Seminar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Guided support for developing and completing a scholarly research thesis in the field of curriculum and instruction.</a:t>
            </a:r>
          </a:p>
          <a:p>
            <a:pPr lvl="0"/>
            <a:r>
              <a:rPr b="1"/>
              <a:t>Prerequisites:</a:t>
            </a:r>
            <a:r>
              <a:rPr/>
              <a:t> EDCI 5304; approval of Thesis Advisor</a:t>
            </a:r>
            <a:br/>
          </a:p>
          <a:p>
            <a:pPr lvl="0"/>
            <a:r>
              <a:rPr b="1"/>
              <a:t>Credit Hours:</a:t>
            </a:r>
            <a:r>
              <a:rPr/>
              <a:t> 6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EDCI 6309: Capstone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Applied research project addressing a practical problem in curriculum and instruction. Students present findings to faculty and peers.</a:t>
            </a:r>
          </a:p>
          <a:p>
            <a:pPr lvl="0"/>
            <a:r>
              <a:rPr b="1"/>
              <a:t>Prerequisites:</a:t>
            </a:r>
            <a:r>
              <a:rPr/>
              <a:t> EDCI 5304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Elective Courses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EDCI 6501: Differentiated Instruction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Methods for tailoring instruction to meet the needs of diverse learners, including gifted students and those with learning differences.</a:t>
            </a:r>
          </a:p>
          <a:p>
            <a:pPr lvl="0"/>
            <a:r>
              <a:rPr b="1"/>
              <a:t>Prerequisites:</a:t>
            </a:r>
            <a:r>
              <a:rPr/>
              <a:t> For B.Ed.: EDUC 3109; For M.Ed.: None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EDCI 6502: Assessment Tools and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Advanced techniques for designing, administering, and interpreting classroom assessments, with an emphasis on data-driven instructional decision-making.</a:t>
            </a:r>
          </a:p>
          <a:p>
            <a:pPr lvl="0"/>
            <a:r>
              <a:rPr b="1"/>
              <a:t>Prerequisites:</a:t>
            </a:r>
            <a:r>
              <a:rPr/>
              <a:t> EDUC 2106 or EDCI 5304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EDCI 6503: Global Perspectives in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Comparative analysis of international education systems, policies, and practices. Focus on global challenges and innovations in curriculum.</a:t>
            </a:r>
          </a:p>
          <a:p>
            <a:pPr lvl="0"/>
            <a:r>
              <a:rPr b="1"/>
              <a:t>Prerequisites:</a:t>
            </a:r>
            <a:r>
              <a:rPr/>
              <a:t> None</a:t>
            </a:r>
            <a:br/>
          </a:p>
          <a:p>
            <a:pPr lvl="0"/>
            <a:r>
              <a:rPr b="1"/>
              <a:t>Credit Hours:</a:t>
            </a:r>
            <a:r>
              <a:rPr/>
              <a:t> 3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of Department of Curriculum &amp; Instruction course listings.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2025-07-29T15:05:10Z</dcterms:created>
  <dcterms:modified xsi:type="dcterms:W3CDTF">2025-07-29T15:05:10Z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