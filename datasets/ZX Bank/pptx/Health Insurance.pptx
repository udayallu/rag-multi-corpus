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6" Type="http://schemas.openxmlformats.org/officeDocument/2006/relationships/viewProps" Target="viewProps.xml" /><Relationship Id="rId5" Type="http://schemas.openxmlformats.org/officeDocument/2006/relationships/presProps" Target="presProps.xml" /><Relationship Id="rId1" Type="http://schemas.openxmlformats.org/officeDocument/2006/relationships/slideMaster" Target="slideMasters/slideMaster1.xml" /><Relationship Id="rId8" Type="http://schemas.openxmlformats.org/officeDocument/2006/relationships/tableStyles" Target="tableStyles.xml" /><Relationship Id="rId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irdai.gov.in" TargetMode="External" /><Relationship Id="rId3" Type="http://schemas.openxmlformats.org/officeDocument/2006/relationships/hyperlink" Target="https://www.who.int/health-topics/health-financing" TargetMode="External" /><Relationship Id="rId4" Type="http://schemas.openxmlformats.org/officeDocument/2006/relationships/hyperlink" Target="https://www.nhp.gov.in/"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Health Insurance</a:t>
            </a:r>
          </a:p>
        </p:txBody>
      </p:sp>
      <p:sp>
        <p:nvSpPr>
          <p:cNvPr id="4" name="Text Placeholder 3"/>
          <p:cNvSpPr>
            <a:spLocks noGrp="1"/>
          </p:cNvSpPr>
          <p:nvPr>
            <p:ph idx="2" sz="half" type="body"/>
          </p:nvPr>
        </p:nvSpPr>
        <p:spPr/>
        <p:txBody>
          <a:bodyPr/>
          <a:lstStyle/>
          <a:p>
            <a:pPr lvl="0" indent="0" marL="0">
              <a:buNone/>
            </a:pPr>
            <a:r>
              <a:rPr/>
              <a:t>Health insurance is a type of insurance coverage that pays for medical and surgical expenses incurred by the insured. It is designed to protect individuals and families from high healthcare costs and offer access to quality medical services.</a:t>
            </a:r>
          </a:p>
          <a:p>
            <a:pPr lvl="0" indent="0" marL="0">
              <a:spcBef>
                <a:spcPts val="3000"/>
              </a:spcBef>
              <a:buNone/>
            </a:pPr>
            <a:r>
              <a:rPr b="1"/>
              <a:t>Key Features</a:t>
            </a:r>
          </a:p>
          <a:p>
            <a:pPr lvl="0"/>
            <a:r>
              <a:rPr b="1"/>
              <a:t>Coverage for Medical Expenses:</a:t>
            </a:r>
            <a:r>
              <a:rPr/>
              <a:t> Includes hospitalization, surgeries, outpatient care, prescription drugs, diagnostics, and preventive services.</a:t>
            </a:r>
          </a:p>
          <a:p>
            <a:pPr lvl="0"/>
            <a:r>
              <a:rPr b="1"/>
              <a:t>Cashless Treatment:</a:t>
            </a:r>
            <a:r>
              <a:rPr/>
              <a:t> Many insurers offer cashless claim settlement at network hospitals, eliminating upfront payments by the policyholder.</a:t>
            </a:r>
          </a:p>
          <a:p>
            <a:pPr lvl="0"/>
            <a:r>
              <a:rPr b="1"/>
              <a:t>Pre- and Post-Hospitalization:</a:t>
            </a:r>
            <a:r>
              <a:rPr/>
              <a:t> Expenses incurred before and after hospitalization are often covered.</a:t>
            </a:r>
          </a:p>
          <a:p>
            <a:pPr lvl="0"/>
            <a:r>
              <a:rPr b="1"/>
              <a:t>Family Floater Plans:</a:t>
            </a:r>
            <a:r>
              <a:rPr/>
              <a:t> A single policy that covers the entire family under one sum insured.</a:t>
            </a:r>
          </a:p>
          <a:p>
            <a:pPr lvl="0"/>
            <a:r>
              <a:rPr b="1"/>
              <a:t>Optional Add-ons:</a:t>
            </a:r>
            <a:r>
              <a:rPr/>
              <a:t> Critical illness cover, maternity benefits, accidental benefits, and top-ups for enhanced protection.</a:t>
            </a:r>
          </a:p>
          <a:p>
            <a:pPr lvl="0" indent="0" marL="0">
              <a:spcBef>
                <a:spcPts val="3000"/>
              </a:spcBef>
              <a:buNone/>
            </a:pPr>
            <a:r>
              <a:rPr b="1"/>
              <a:t>Types of Health Insurance</a:t>
            </a:r>
          </a:p>
          <a:p>
            <a:pPr lvl="0"/>
            <a:r>
              <a:rPr b="1"/>
              <a:t>Individual Health Insurance:</a:t>
            </a:r>
            <a:r>
              <a:rPr/>
              <a:t> Covers a single person.</a:t>
            </a:r>
          </a:p>
          <a:p>
            <a:pPr lvl="0"/>
            <a:r>
              <a:rPr b="1"/>
              <a:t>Family Floater Health Insurance:</a:t>
            </a:r>
            <a:r>
              <a:rPr/>
              <a:t> Covers the entire family under one policy.</a:t>
            </a:r>
          </a:p>
          <a:p>
            <a:pPr lvl="0"/>
            <a:r>
              <a:rPr b="1"/>
              <a:t>Senior Citizen Health Insurance:</a:t>
            </a:r>
            <a:r>
              <a:rPr/>
              <a:t> Customized for individuals above a certain age (typically 60+).</a:t>
            </a:r>
          </a:p>
          <a:p>
            <a:pPr lvl="0"/>
            <a:r>
              <a:rPr b="1"/>
              <a:t>Critical Illness Insurance:</a:t>
            </a:r>
            <a:r>
              <a:rPr/>
              <a:t> Lump sum payout on diagnosis of specific illnesses like cancer, heart attack, etc.</a:t>
            </a:r>
          </a:p>
          <a:p>
            <a:pPr lvl="0"/>
            <a:r>
              <a:rPr b="1"/>
              <a:t>Group Health Insurance:</a:t>
            </a:r>
            <a:r>
              <a:rPr/>
              <a:t> Provided by employers for their employees.</a:t>
            </a:r>
          </a:p>
          <a:p>
            <a:pPr lvl="0" indent="0" marL="0">
              <a:spcBef>
                <a:spcPts val="3000"/>
              </a:spcBef>
              <a:buNone/>
            </a:pPr>
            <a:r>
              <a:rPr b="1"/>
              <a:t>Benefits</a:t>
            </a:r>
          </a:p>
          <a:p>
            <a:pPr lvl="0"/>
            <a:r>
              <a:rPr b="1"/>
              <a:t>Financial Protection:</a:t>
            </a:r>
            <a:r>
              <a:rPr/>
              <a:t> Shields against expensive medical treatments.</a:t>
            </a:r>
          </a:p>
          <a:p>
            <a:pPr lvl="0"/>
            <a:r>
              <a:rPr b="1"/>
              <a:t>Access to Quality Healthcare:</a:t>
            </a:r>
            <a:r>
              <a:rPr/>
              <a:t> Facilitates timely and quality healthcare services.</a:t>
            </a:r>
          </a:p>
          <a:p>
            <a:pPr lvl="0"/>
            <a:r>
              <a:rPr b="1"/>
              <a:t>Tax Benefits:</a:t>
            </a:r>
            <a:r>
              <a:rPr/>
              <a:t> Premiums paid are eligible for tax deductions (e.g., under Section 80D in India).</a:t>
            </a:r>
          </a:p>
          <a:p>
            <a:pPr lvl="0"/>
            <a:r>
              <a:rPr b="1"/>
              <a:t>Peace of Mind:</a:t>
            </a:r>
            <a:r>
              <a:rPr/>
              <a:t> Reduces the stress of unexpected medical emergencies.</a:t>
            </a:r>
          </a:p>
          <a:p>
            <a:pPr lvl="0" indent="0" marL="0">
              <a:spcBef>
                <a:spcPts val="3000"/>
              </a:spcBef>
              <a:buNone/>
            </a:pPr>
            <a:r>
              <a:rPr b="1"/>
              <a:t>Important Terms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Term</a:t>
                      </a:r>
                    </a:p>
                  </a:txBody>
                  <a:tcPr/>
                </a:tc>
                <a:tc>
                  <a:txBody>
                    <a:bodyPr/>
                    <a:lstStyle/>
                    <a:p>
                      <a:pPr lvl="0" indent="0" marL="0">
                        <a:buNone/>
                      </a:pPr>
                      <a:r>
                        <a:rPr/>
                        <a:t>Description</a:t>
                      </a:r>
                    </a:p>
                  </a:txBody>
                  <a:tcPr/>
                </a:tc>
              </a:tr>
              <a:tr h="0">
                <a:tc>
                  <a:txBody>
                    <a:bodyPr/>
                    <a:lstStyle/>
                    <a:p>
                      <a:pPr lvl="0" indent="0" marL="0">
                        <a:buNone/>
                      </a:pPr>
                      <a:r>
                        <a:rPr b="1"/>
                        <a:t>Premium</a:t>
                      </a:r>
                    </a:p>
                  </a:txBody>
                </a:tc>
                <a:tc>
                  <a:txBody>
                    <a:bodyPr/>
                    <a:lstStyle/>
                    <a:p>
                      <a:pPr lvl="0" indent="0" marL="0">
                        <a:buNone/>
                      </a:pPr>
                      <a:r>
                        <a:rPr/>
                        <a:t>Amount paid periodically for the policy</a:t>
                      </a:r>
                    </a:p>
                  </a:txBody>
                </a:tc>
              </a:tr>
              <a:tr h="0">
                <a:tc>
                  <a:txBody>
                    <a:bodyPr/>
                    <a:lstStyle/>
                    <a:p>
                      <a:pPr lvl="0" indent="0" marL="0">
                        <a:buNone/>
                      </a:pPr>
                      <a:r>
                        <a:rPr b="1"/>
                        <a:t>Sum Insured</a:t>
                      </a:r>
                    </a:p>
                  </a:txBody>
                </a:tc>
                <a:tc>
                  <a:txBody>
                    <a:bodyPr/>
                    <a:lstStyle/>
                    <a:p>
                      <a:pPr lvl="0" indent="0" marL="0">
                        <a:buNone/>
                      </a:pPr>
                      <a:r>
                        <a:rPr/>
                        <a:t>Maximum amount insurance will cover</a:t>
                      </a:r>
                    </a:p>
                  </a:txBody>
                </a:tc>
              </a:tr>
              <a:tr h="0">
                <a:tc>
                  <a:txBody>
                    <a:bodyPr/>
                    <a:lstStyle/>
                    <a:p>
                      <a:pPr lvl="0" indent="0" marL="0">
                        <a:buNone/>
                      </a:pPr>
                      <a:r>
                        <a:rPr b="1"/>
                        <a:t>Pre-existing Diseases</a:t>
                      </a:r>
                    </a:p>
                  </a:txBody>
                </a:tc>
                <a:tc>
                  <a:txBody>
                    <a:bodyPr/>
                    <a:lstStyle/>
                    <a:p>
                      <a:pPr lvl="0" indent="0" marL="0">
                        <a:buNone/>
                      </a:pPr>
                      <a:r>
                        <a:rPr/>
                        <a:t>Illnesses already present before buying</a:t>
                      </a:r>
                    </a:p>
                  </a:txBody>
                </a:tc>
              </a:tr>
              <a:tr h="0">
                <a:tc>
                  <a:txBody>
                    <a:bodyPr/>
                    <a:lstStyle/>
                    <a:p>
                      <a:pPr lvl="0" indent="0" marL="0">
                        <a:buNone/>
                      </a:pPr>
                      <a:r>
                        <a:rPr b="1"/>
                        <a:t>Waiting Period</a:t>
                      </a:r>
                    </a:p>
                  </a:txBody>
                </a:tc>
                <a:tc>
                  <a:txBody>
                    <a:bodyPr/>
                    <a:lstStyle/>
                    <a:p>
                      <a:pPr lvl="0" indent="0" marL="0">
                        <a:buNone/>
                      </a:pPr>
                      <a:r>
                        <a:rPr/>
                        <a:t>Tenure before certain benefits activate</a:t>
                      </a:r>
                    </a:p>
                  </a:txBody>
                </a:tc>
              </a:tr>
              <a:tr h="0">
                <a:tc>
                  <a:txBody>
                    <a:bodyPr/>
                    <a:lstStyle/>
                    <a:p>
                      <a:pPr lvl="0" indent="0" marL="0">
                        <a:buNone/>
                      </a:pPr>
                      <a:r>
                        <a:rPr b="1"/>
                        <a:t>Co-payment</a:t>
                      </a:r>
                    </a:p>
                  </a:txBody>
                </a:tc>
                <a:tc>
                  <a:txBody>
                    <a:bodyPr/>
                    <a:lstStyle/>
                    <a:p>
                      <a:pPr lvl="0" indent="0" marL="0">
                        <a:buNone/>
                      </a:pPr>
                      <a:r>
                        <a:rPr/>
                        <a:t>Part of claim paid by the insured</a:t>
                      </a:r>
                    </a:p>
                  </a:txBody>
                </a:tc>
              </a:tr>
              <a:tr h="0">
                <a:tc>
                  <a:txBody>
                    <a:bodyPr/>
                    <a:lstStyle/>
                    <a:p>
                      <a:pPr lvl="0" indent="0" marL="0">
                        <a:buNone/>
                      </a:pPr>
                      <a:r>
                        <a:rPr b="1"/>
                        <a:t>Network Hospitals</a:t>
                      </a:r>
                    </a:p>
                  </a:txBody>
                </a:tc>
                <a:tc>
                  <a:txBody>
                    <a:bodyPr/>
                    <a:lstStyle/>
                    <a:p>
                      <a:pPr lvl="0" indent="0" marL="0">
                        <a:buNone/>
                      </a:pPr>
                      <a:r>
                        <a:rPr/>
                        <a:t>Hospitals with direct cashless tie-ups</a:t>
                      </a:r>
                    </a:p>
                  </a:txBody>
                </a:tc>
              </a:tr>
            </a:tbl>
          </a:graphicData>
        </a:graphic>
      </p:graphicFrame>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How to Choose a Health Insurance Plan</a:t>
            </a:r>
          </a:p>
          <a:p>
            <a:pPr lvl="0" indent="-342900" marL="342900">
              <a:buAutoNum type="arabicPeriod"/>
            </a:pPr>
            <a:r>
              <a:rPr b="1"/>
              <a:t>Assess Your Needs:</a:t>
            </a:r>
            <a:r>
              <a:rPr/>
              <a:t> Consider age, family size, health conditions.</a:t>
            </a:r>
          </a:p>
          <a:p>
            <a:pPr lvl="0" indent="-342900" marL="342900">
              <a:buAutoNum type="arabicPeriod"/>
            </a:pPr>
            <a:r>
              <a:rPr b="1"/>
              <a:t>Compare Plans:</a:t>
            </a:r>
            <a:r>
              <a:rPr/>
              <a:t> Look for coverage, exclusions, claim process, and premium.</a:t>
            </a:r>
          </a:p>
          <a:p>
            <a:pPr lvl="0" indent="-342900" marL="342900">
              <a:buAutoNum type="arabicPeriod"/>
            </a:pPr>
            <a:r>
              <a:rPr b="1"/>
              <a:t>Check Network Hospitals:</a:t>
            </a:r>
            <a:r>
              <a:rPr/>
              <a:t> Wide network ensures better access.</a:t>
            </a:r>
          </a:p>
          <a:p>
            <a:pPr lvl="0" indent="-342900" marL="342900">
              <a:buAutoNum type="arabicPeriod"/>
            </a:pPr>
            <a:r>
              <a:rPr b="1"/>
              <a:t>Understand Exclusions:</a:t>
            </a:r>
            <a:r>
              <a:rPr/>
              <a:t> Know what isn’t covered.</a:t>
            </a:r>
          </a:p>
          <a:p>
            <a:pPr lvl="0" indent="-342900" marL="342900">
              <a:buAutoNum type="arabicPeriod"/>
            </a:pPr>
            <a:r>
              <a:rPr b="1"/>
              <a:t>Look for Add-ons:</a:t>
            </a:r>
            <a:r>
              <a:rPr/>
              <a:t> Customize the policy for better protection.</a:t>
            </a:r>
          </a:p>
          <a:p>
            <a:pPr lvl="0" indent="-342900" marL="342900">
              <a:buAutoNum type="arabicPeriod"/>
            </a:pPr>
            <a:r>
              <a:rPr b="1"/>
              <a:t>Review Claim Settlement Ratio:</a:t>
            </a:r>
            <a:r>
              <a:rPr/>
              <a:t> Indicates reliability of insurer.</a:t>
            </a:r>
          </a:p>
          <a:p>
            <a:pPr lvl="0" indent="0" marL="0">
              <a:spcBef>
                <a:spcPts val="3000"/>
              </a:spcBef>
              <a:buNone/>
            </a:pPr>
            <a:r>
              <a:rPr b="1"/>
              <a:t>Common Exclusions</a:t>
            </a:r>
          </a:p>
          <a:p>
            <a:pPr lvl="0"/>
            <a:r>
              <a:rPr/>
              <a:t>Pre-existing diseases (during waiting period)</a:t>
            </a:r>
          </a:p>
          <a:p>
            <a:pPr lvl="0"/>
            <a:r>
              <a:rPr/>
              <a:t>Cosmetic treatments</a:t>
            </a:r>
          </a:p>
          <a:p>
            <a:pPr lvl="0"/>
            <a:r>
              <a:rPr/>
              <a:t>Dental and vision (unless specified)</a:t>
            </a:r>
          </a:p>
          <a:p>
            <a:pPr lvl="0"/>
            <a:r>
              <a:rPr/>
              <a:t>Self-inflicted injuries</a:t>
            </a:r>
          </a:p>
          <a:p>
            <a:pPr lvl="0"/>
            <a:r>
              <a:rPr/>
              <a:t>Non-allopathic treatments</a:t>
            </a:r>
          </a:p>
          <a:p>
            <a:pPr lvl="0" indent="0" marL="0">
              <a:spcBef>
                <a:spcPts val="3000"/>
              </a:spcBef>
              <a:buNone/>
            </a:pPr>
            <a:r>
              <a:rPr b="1"/>
              <a:t>Frequently Asked Questions</a:t>
            </a:r>
          </a:p>
          <a:p>
            <a:pPr lvl="0" indent="0" marL="0">
              <a:buNone/>
            </a:pPr>
            <a:r>
              <a:rPr b="1"/>
              <a:t>Q: Is health insurance mandatory?</a:t>
            </a:r>
            <a:br/>
            <a:r>
              <a:rPr/>
              <a:t>A: Not in most countries, but highly recommended due to rising healthcare costs.</a:t>
            </a:r>
          </a:p>
          <a:p>
            <a:pPr lvl="0" indent="0" marL="0">
              <a:buNone/>
            </a:pPr>
            <a:r>
              <a:rPr b="1"/>
              <a:t>Q: What happens if a claim is denied?</a:t>
            </a:r>
            <a:br/>
            <a:r>
              <a:rPr/>
              <a:t>A: Review the reason, appeal to the insurer, or approach a regulatory authority.</a:t>
            </a:r>
          </a:p>
          <a:p>
            <a:pPr lvl="0" indent="0" marL="0">
              <a:buNone/>
            </a:pPr>
            <a:r>
              <a:rPr b="1"/>
              <a:t>Q: Can I port my health policy to another insurer?</a:t>
            </a:r>
            <a:br/>
            <a:r>
              <a:rPr/>
              <a:t>A: Yes, most countries allow portability after certain conditions are met.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Useful Resources</a:t>
            </a:r>
          </a:p>
          <a:p>
            <a:pPr lvl="0"/>
            <a:r>
              <a:rPr>
                <a:hlinkClick r:id="rId2"/>
              </a:rPr>
              <a:t>IRDAI (India’s Insurance Regulator)</a:t>
            </a:r>
          </a:p>
          <a:p>
            <a:pPr lvl="0"/>
            <a:r>
              <a:rPr>
                <a:hlinkClick r:id="rId3"/>
              </a:rPr>
              <a:t>World Health Organization – Health Financing</a:t>
            </a:r>
          </a:p>
          <a:p>
            <a:pPr lvl="0"/>
            <a:r>
              <a:rPr>
                <a:hlinkClick r:id="rId4"/>
              </a:rPr>
              <a:t>National Health Portal, India</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2025-07-30T07:49:19Z</dcterms:created>
  <dcterms:modified xsi:type="dcterms:W3CDTF">2025-07-30T07:49:19Z</dcterms:modified>
</cp:coreProperties>
</file>

<file path=docProps/custom.xml><?xml version="1.0" encoding="utf-8"?>
<Properties xmlns="http://schemas.openxmlformats.org/officeDocument/2006/custom-properties" xmlns:vt="http://schemas.openxmlformats.org/officeDocument/2006/docPropsVTypes"/>
</file>