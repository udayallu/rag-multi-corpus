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app" TargetMode="External" /><Relationship Id="rId3" Type="http://schemas.openxmlformats.org/officeDocument/2006/relationships/hyperlink" Target="https://www.zxbank.asia/netbanking" TargetMode="External" /><Relationship Id="rId4" Type="http://schemas.openxmlformats.org/officeDocument/2006/relationships/hyperlink" Target="https://www.zxbank.asia/personal-loan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– Personal Loan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offers flexible Personal Loans designed to meet your financial needs—whether it’s for weddings, education, travel, medical emergencies, or personal projects—with competitive rates and simple documentation.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Features &amp; Benefits</a:t>
            </a:r>
          </a:p>
          <a:p>
            <a:pPr lvl="0"/>
            <a:r>
              <a:rPr b="1"/>
              <a:t>Loan Amount:</a:t>
            </a:r>
            <a:r>
              <a:rPr/>
              <a:t> Up to ₹30,00,000 (INR) or equivalent in local currency</a:t>
            </a:r>
            <a:br/>
          </a:p>
          <a:p>
            <a:pPr lvl="0"/>
            <a:r>
              <a:rPr b="1"/>
              <a:t>Flexible Tenure:</a:t>
            </a:r>
            <a:r>
              <a:rPr/>
              <a:t> 12 to 60 months</a:t>
            </a:r>
            <a:br/>
          </a:p>
          <a:p>
            <a:pPr lvl="0"/>
            <a:r>
              <a:rPr b="1"/>
              <a:t>Quick Approval:</a:t>
            </a:r>
            <a:r>
              <a:rPr/>
              <a:t> Instant eligibility check &amp; digital application</a:t>
            </a:r>
            <a:br/>
          </a:p>
          <a:p>
            <a:pPr lvl="0"/>
            <a:r>
              <a:rPr b="1"/>
              <a:t>Zero Collateral:</a:t>
            </a:r>
            <a:r>
              <a:rPr/>
              <a:t> No need for security or guarantor</a:t>
            </a:r>
            <a:br/>
          </a:p>
          <a:p>
            <a:pPr lvl="0"/>
            <a:r>
              <a:rPr b="1"/>
              <a:t>Part-Payment &amp; Foreclosure:</a:t>
            </a:r>
            <a:r>
              <a:rPr/>
              <a:t> Convenient repayment options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Interest Rate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Interest Rate (per annum)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Salaried (India, Sri Lanka)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11.75% – 17.99%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Self-Employed (India, Sri Lanka)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13.25% – 19.99%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Bangladesh, Bhutan, Nepal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13.50% – 21.00%*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*Subject to local market review and may vary by branch/country.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 Required</a:t>
            </a:r>
          </a:p>
          <a:p>
            <a:pPr lvl="0" indent="0" marL="0">
              <a:buNone/>
            </a:pPr>
            <a:r>
              <a:rPr b="1"/>
              <a:t>For Salaried Individuals:</a:t>
            </a:r>
          </a:p>
          <a:p>
            <a:pPr lvl="0"/>
            <a:r>
              <a:rPr/>
              <a:t>Completed Personal Loan Application Form</a:t>
            </a:r>
          </a:p>
          <a:p>
            <a:pPr lvl="0"/>
            <a:r>
              <a:rPr/>
              <a:t>Photo Identity Proof (Aadhaar Card, Passport, Voter ID, etc.)</a:t>
            </a:r>
          </a:p>
          <a:p>
            <a:pPr lvl="0"/>
            <a:r>
              <a:rPr/>
              <a:t>Address Proof (Utility bill, Passport, Aadhar, etc.)</a:t>
            </a:r>
          </a:p>
          <a:p>
            <a:pPr lvl="0"/>
            <a:r>
              <a:rPr/>
              <a:t>Latest 3 months’ Salary Slips</a:t>
            </a:r>
          </a:p>
          <a:p>
            <a:pPr lvl="0"/>
            <a:r>
              <a:rPr/>
              <a:t>Last 6 months’ Bank Statements</a:t>
            </a:r>
          </a:p>
          <a:p>
            <a:pPr lvl="0"/>
            <a:r>
              <a:rPr/>
              <a:t>1 Passport-size Photograph</a:t>
            </a:r>
          </a:p>
          <a:p>
            <a:pPr lvl="0"/>
            <a:r>
              <a:rPr/>
              <a:t>PAN Card (for Indian applicants)</a:t>
            </a:r>
          </a:p>
          <a:p>
            <a:pPr lvl="0" indent="0" marL="0">
              <a:buNone/>
            </a:pPr>
            <a:r>
              <a:rPr b="1"/>
              <a:t>For Self-Employed Individuals:</a:t>
            </a:r>
          </a:p>
          <a:p>
            <a:pPr lvl="0"/>
            <a:r>
              <a:rPr/>
              <a:t>Completed Application Form</a:t>
            </a:r>
          </a:p>
          <a:p>
            <a:pPr lvl="0"/>
            <a:r>
              <a:rPr/>
              <a:t>Photo Identity &amp; Address Proof</a:t>
            </a:r>
          </a:p>
          <a:p>
            <a:pPr lvl="0"/>
            <a:r>
              <a:rPr/>
              <a:t>Last 2 years’ Income Tax Returns</a:t>
            </a:r>
          </a:p>
          <a:p>
            <a:pPr lvl="0"/>
            <a:r>
              <a:rPr/>
              <a:t>Business Continuity Proof (Trade license, GST certificate, etc.)</a:t>
            </a:r>
          </a:p>
          <a:p>
            <a:pPr lvl="0"/>
            <a:r>
              <a:rPr/>
              <a:t>Last 6 months’ Bank Statements</a:t>
            </a:r>
          </a:p>
          <a:p>
            <a:pPr lvl="0"/>
            <a:r>
              <a:rPr/>
              <a:t>PAN Card (for Indian applicants)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Maximum Loan Amount</a:t>
            </a:r>
          </a:p>
          <a:p>
            <a:pPr lvl="0"/>
            <a:r>
              <a:rPr b="1"/>
              <a:t>India:</a:t>
            </a:r>
            <a:r>
              <a:rPr/>
              <a:t> Up to ₹30,00,000</a:t>
            </a:r>
          </a:p>
          <a:p>
            <a:pPr lvl="0"/>
            <a:r>
              <a:rPr b="1"/>
              <a:t>Sri Lanka:</a:t>
            </a:r>
            <a:r>
              <a:rPr/>
              <a:t> Up to LKR 60,00,000</a:t>
            </a:r>
          </a:p>
          <a:p>
            <a:pPr lvl="0"/>
            <a:r>
              <a:rPr b="1"/>
              <a:t>Bangladesh:</a:t>
            </a:r>
            <a:r>
              <a:rPr/>
              <a:t> Up to BDT 35,00,000</a:t>
            </a:r>
          </a:p>
          <a:p>
            <a:pPr lvl="0"/>
            <a:r>
              <a:rPr b="1"/>
              <a:t>Bhutan:</a:t>
            </a:r>
            <a:r>
              <a:rPr/>
              <a:t> Up to BTN 15,00,000</a:t>
            </a:r>
          </a:p>
          <a:p>
            <a:pPr lvl="0"/>
            <a:r>
              <a:rPr b="1"/>
              <a:t>Nepal:</a:t>
            </a:r>
            <a:r>
              <a:rPr/>
              <a:t> Up to NPR 40,00,000</a:t>
            </a:r>
          </a:p>
          <a:p>
            <a:pPr lvl="0" indent="0" marL="0">
              <a:buNone/>
            </a:pPr>
            <a:r>
              <a:rPr i="1"/>
              <a:t>Note: Final loan amount and eligibility are subject to bank policy, applicant profile, and credit assessment.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</a:t>
            </a:r>
          </a:p>
          <a:p>
            <a:pPr lvl="0" indent="-342900" marL="342900">
              <a:buAutoNum type="arabicPeriod"/>
            </a:pPr>
            <a:r>
              <a:rPr b="1"/>
              <a:t>Visit:</a:t>
            </a:r>
            <a:r>
              <a:rPr/>
              <a:t> Any ZX Bank branch in your country</a:t>
            </a:r>
          </a:p>
          <a:p>
            <a:pPr lvl="0" indent="-342900" marL="342900">
              <a:buAutoNum type="arabicPeriod"/>
            </a:pPr>
            <a:r>
              <a:rPr b="1"/>
              <a:t>Online:</a:t>
            </a:r>
            <a:r>
              <a:rPr/>
              <a:t> Through </a:t>
            </a:r>
            <a:r>
              <a:rPr>
                <a:hlinkClick r:id="rId2"/>
              </a:rPr>
              <a:t>ZX Bank Asia Mobile App</a:t>
            </a:r>
            <a:r>
              <a:rPr/>
              <a:t> or </a:t>
            </a:r>
            <a:r>
              <a:rPr>
                <a:hlinkClick r:id="rId3"/>
              </a:rPr>
              <a:t>NetBanking</a:t>
            </a:r>
          </a:p>
          <a:p>
            <a:pPr lvl="0" indent="-342900" marL="342900">
              <a:buAutoNum type="arabicPeriod"/>
            </a:pPr>
            <a:r>
              <a:rPr b="1"/>
              <a:t>Call:</a:t>
            </a:r>
            <a:r>
              <a:rPr/>
              <a:t> 24x7 Customer Care or use AI Assistant “Zia” on the app</a:t>
            </a:r>
          </a:p>
          <a:p>
            <a:pPr lvl="0" indent="0" marL="0">
              <a:buNone/>
            </a:pPr>
            <a:r>
              <a:rPr/>
              <a:t>For more details, visit </a:t>
            </a:r>
            <a:r>
              <a:rPr>
                <a:hlinkClick r:id="rId4"/>
              </a:rPr>
              <a:t>www.zxbank.asia/personal-loan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Interest rates, documentation and product features are subject to change as per regulatory guidelines and at the discretion of ZX Bank Ltd.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2025-07-30T07:49:39Z</dcterms:created>
  <dcterms:modified xsi:type="dcterms:W3CDTF">2025-07-30T07:49:39Z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