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1" Type="http://schemas.openxmlformats.org/officeDocument/2006/relationships/viewProps" Target="viewProps.xml" /><Relationship Id="rId1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3" Type="http://schemas.openxmlformats.org/officeDocument/2006/relationships/tableStyles" Target="tableStyles.xml" /><Relationship Id="rId1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zxbank.asia" TargetMode="Externa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ZX Bank Ltd.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Headquarters:</a:t>
            </a:r>
            <a:r>
              <a:rPr/>
              <a:t> Mumbai, Maharashtra, India</a:t>
            </a:r>
            <a:br/>
            <a:r>
              <a:rPr b="1"/>
              <a:t>Founded:</a:t>
            </a:r>
            <a:r>
              <a:rPr/>
              <a:t> 1998</a:t>
            </a:r>
            <a:br/>
            <a:r>
              <a:rPr b="1"/>
              <a:t>Bank Type:</a:t>
            </a:r>
            <a:r>
              <a:rPr/>
              <a:t> Private Sector, Commercial Banking</a:t>
            </a:r>
            <a:br/>
            <a:r>
              <a:rPr b="1"/>
              <a:t>SWIFT Code:</a:t>
            </a:r>
            <a:r>
              <a:rPr/>
              <a:t> ZXININBB</a:t>
            </a:r>
            <a:br/>
            <a:r>
              <a:rPr b="1"/>
              <a:t>IFSC Example:</a:t>
            </a:r>
            <a:r>
              <a:rPr/>
              <a:t> ZXIN0000123</a:t>
            </a:r>
            <a:br/>
            <a:r>
              <a:rPr b="1"/>
              <a:t>Website:</a:t>
            </a:r>
            <a:r>
              <a:rPr/>
              <a:t> </a:t>
            </a:r>
            <a:r>
              <a:rPr>
                <a:hlinkClick r:id="rId2"/>
              </a:rPr>
              <a:t>www.zxbank.asia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Operating Countries</a:t>
            </a:r>
          </a:p>
          <a:p>
            <a:pPr lvl="0"/>
            <a:r>
              <a:rPr b="1"/>
              <a:t>India</a:t>
            </a:r>
          </a:p>
          <a:p>
            <a:pPr lvl="1"/>
            <a:r>
              <a:rPr/>
              <a:t>Full-service operations: retail, corporate, and digital banking.</a:t>
            </a:r>
          </a:p>
          <a:p>
            <a:pPr lvl="0"/>
            <a:r>
              <a:rPr b="1"/>
              <a:t>Sri Lanka</a:t>
            </a:r>
          </a:p>
          <a:p>
            <a:pPr lvl="1"/>
            <a:r>
              <a:rPr/>
              <a:t>25+ branches focused on SME, personal banking, and remittance corridors.</a:t>
            </a:r>
          </a:p>
          <a:p>
            <a:pPr lvl="0"/>
            <a:r>
              <a:rPr b="1"/>
              <a:t>Bangladesh</a:t>
            </a:r>
          </a:p>
          <a:p>
            <a:pPr lvl="1"/>
            <a:r>
              <a:rPr/>
              <a:t>Regional partner for mobile banking services and microfinance.</a:t>
            </a:r>
          </a:p>
          <a:p>
            <a:pPr lvl="0"/>
            <a:r>
              <a:rPr b="1"/>
              <a:t>Bhutan</a:t>
            </a:r>
          </a:p>
          <a:p>
            <a:pPr lvl="1"/>
            <a:r>
              <a:rPr/>
              <a:t>Cross-border banking, digital onboarding, and NRI support.</a:t>
            </a:r>
          </a:p>
          <a:p>
            <a:pPr lvl="0"/>
            <a:r>
              <a:rPr b="1"/>
              <a:t>Nepal</a:t>
            </a:r>
          </a:p>
          <a:p>
            <a:pPr lvl="1"/>
            <a:r>
              <a:rPr/>
              <a:t>Strategic presence via digital kiosks and remittance services.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Services Offered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Retail Banking</a:t>
            </a:r>
          </a:p>
          <a:p>
            <a:pPr lvl="0"/>
            <a:r>
              <a:rPr/>
              <a:t>Savings &amp; Current Accounts</a:t>
            </a:r>
          </a:p>
          <a:p>
            <a:pPr lvl="0"/>
            <a:r>
              <a:rPr/>
              <a:t>Personal &amp; Home Loans</a:t>
            </a:r>
          </a:p>
          <a:p>
            <a:pPr lvl="0"/>
            <a:r>
              <a:rPr/>
              <a:t>Credit Cards</a:t>
            </a:r>
          </a:p>
          <a:p>
            <a:pPr lvl="0"/>
            <a:r>
              <a:rPr/>
              <a:t>Fixed Deposits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Corporate Banking</a:t>
            </a:r>
          </a:p>
          <a:p>
            <a:pPr lvl="0"/>
            <a:r>
              <a:rPr/>
              <a:t>Business Loans</a:t>
            </a:r>
          </a:p>
          <a:p>
            <a:pPr lvl="0"/>
            <a:r>
              <a:rPr/>
              <a:t>Trade Finance</a:t>
            </a:r>
          </a:p>
          <a:p>
            <a:pPr lvl="0"/>
            <a:r>
              <a:rPr/>
              <a:t>Treasury Solutions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Digital Banking</a:t>
            </a:r>
          </a:p>
          <a:p>
            <a:pPr lvl="0"/>
            <a:r>
              <a:rPr/>
              <a:t>Mobile App (Android &amp; iOS)</a:t>
            </a:r>
          </a:p>
          <a:p>
            <a:pPr lvl="0"/>
            <a:r>
              <a:rPr/>
              <a:t>NetBanking &amp; UPI</a:t>
            </a:r>
          </a:p>
          <a:p>
            <a:pPr lvl="0"/>
            <a:r>
              <a:rPr/>
              <a:t>e-KYC</a:t>
            </a:r>
          </a:p>
          <a:p>
            <a:pPr lvl="0"/>
            <a:r>
              <a:rPr/>
              <a:t>AI Chatbot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Remittances</a:t>
            </a:r>
          </a:p>
          <a:p>
            <a:pPr lvl="0"/>
            <a:r>
              <a:rPr/>
              <a:t>Rapid cross-border payments (India, Sri Lanka, Nepal, Bhutan)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Wealth Management</a:t>
            </a:r>
          </a:p>
          <a:p>
            <a:pPr lvl="0"/>
            <a:r>
              <a:rPr/>
              <a:t>Investment Advisory</a:t>
            </a:r>
          </a:p>
          <a:p>
            <a:pPr lvl="0"/>
            <a:r>
              <a:rPr/>
              <a:t>Mutual Funds</a:t>
            </a:r>
          </a:p>
          <a:p>
            <a:pPr lvl="0"/>
            <a:r>
              <a:rPr/>
              <a:t>NRI Services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Branch &amp; ATM Network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Branches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ATMs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India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560+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1,200+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Sri Lanka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Bangladesh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Bhutan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Nepal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35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Key Management</a:t>
            </a:r>
          </a:p>
          <a:p>
            <a:pPr lvl="0"/>
            <a:r>
              <a:rPr b="1"/>
              <a:t>CEO:</a:t>
            </a:r>
            <a:r>
              <a:rPr/>
              <a:t> Anjali Deshmukh</a:t>
            </a:r>
          </a:p>
          <a:p>
            <a:pPr lvl="0"/>
            <a:r>
              <a:rPr b="1"/>
              <a:t>CFO:</a:t>
            </a:r>
            <a:r>
              <a:rPr/>
              <a:t> Rajiv Senanayake</a:t>
            </a:r>
          </a:p>
          <a:p>
            <a:pPr lvl="0"/>
            <a:r>
              <a:rPr b="1"/>
              <a:t>CTO:</a:t>
            </a:r>
            <a:r>
              <a:rPr/>
              <a:t> Dipendra Khadka</a:t>
            </a:r>
          </a:p>
          <a:p>
            <a:pPr lvl="0"/>
            <a:r>
              <a:rPr b="1"/>
              <a:t>Regional Director (South Asia):</a:t>
            </a:r>
            <a:r>
              <a:rPr/>
              <a:t> Meera Liyanage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Mobile App: ZX Bank Asia</a:t>
            </a:r>
          </a:p>
          <a:p>
            <a:pPr lvl="0"/>
            <a:r>
              <a:rPr b="1"/>
              <a:t>Available on:</a:t>
            </a:r>
            <a:r>
              <a:rPr/>
              <a:t> Android, iOS</a:t>
            </a:r>
          </a:p>
          <a:p>
            <a:pPr lvl="0"/>
            <a:r>
              <a:rPr b="1"/>
              <a:t>Key Features:</a:t>
            </a:r>
          </a:p>
          <a:p>
            <a:pPr lvl="1"/>
            <a:r>
              <a:rPr/>
              <a:t>Balance check &amp; fund transfer</a:t>
            </a:r>
          </a:p>
          <a:p>
            <a:pPr lvl="1"/>
            <a:r>
              <a:rPr/>
              <a:t>Bill payments &amp; loan tracking</a:t>
            </a:r>
          </a:p>
          <a:p>
            <a:pPr lvl="1"/>
            <a:r>
              <a:rPr/>
              <a:t>Biometric login &amp; QR scan pay</a:t>
            </a:r>
          </a:p>
          <a:p>
            <a:pPr lvl="1"/>
            <a:r>
              <a:rPr/>
              <a:t>AI-based financial assistant: </a:t>
            </a:r>
            <a:r>
              <a:rPr b="1"/>
              <a:t>Zia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CSR &amp; ESG Focus</a:t>
            </a:r>
          </a:p>
          <a:p>
            <a:pPr lvl="0"/>
            <a:r>
              <a:rPr b="1"/>
              <a:t>Green Finance Projects</a:t>
            </a:r>
          </a:p>
          <a:p>
            <a:pPr lvl="1"/>
            <a:r>
              <a:rPr/>
              <a:t>Partnering with Bhutan hydropower &amp; Nepal solar ventures</a:t>
            </a:r>
          </a:p>
          <a:p>
            <a:pPr lvl="0"/>
            <a:r>
              <a:rPr b="1"/>
              <a:t>Financial Literacy Campaigns</a:t>
            </a:r>
          </a:p>
          <a:p>
            <a:pPr lvl="1"/>
            <a:r>
              <a:rPr/>
              <a:t>Grassroots programs in rural India &amp; Bangladesh</a:t>
            </a:r>
          </a:p>
          <a:p>
            <a:pPr lvl="0"/>
            <a:r>
              <a:rPr b="1"/>
              <a:t>Women Empowerment Loans</a:t>
            </a:r>
          </a:p>
          <a:p>
            <a:pPr lvl="1"/>
            <a:r>
              <a:rPr/>
              <a:t>Micro-loans for women-led businesses across South Asia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ZX Bank</a:t>
            </a:r>
            <a:r>
              <a:rPr sz="2000"/>
              <a:t> – Shaping tomorrow’s banking across South Asia 🌏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2025-07-30T07:52:38Z</dcterms:created>
  <dcterms:modified xsi:type="dcterms:W3CDTF">2025-07-30T07:52:38Z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