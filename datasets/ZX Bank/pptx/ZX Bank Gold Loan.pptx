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1" Type="http://schemas.openxmlformats.org/officeDocument/2006/relationships/viewProps" Target="viewProps.xml" /><Relationship Id="rId10" Type="http://schemas.openxmlformats.org/officeDocument/2006/relationships/presProps" Target="presProps.xml" /><Relationship Id="rId1" Type="http://schemas.openxmlformats.org/officeDocument/2006/relationships/slideMaster" Target="slideMasters/slideMaster1.xml" /><Relationship Id="rId13" Type="http://schemas.openxmlformats.org/officeDocument/2006/relationships/tableStyles" Target="tableStyles.xml" /><Relationship Id="rId12"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zxbank.asia" TargetMode="Externa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ZX Bank Gold Loan</a:t>
            </a:r>
          </a:p>
        </p:txBody>
      </p:sp>
      <p:sp>
        <p:nvSpPr>
          <p:cNvPr id="3" name="Content Placeholder 2"/>
          <p:cNvSpPr>
            <a:spLocks noGrp="1"/>
          </p:cNvSpPr>
          <p:nvPr>
            <p:ph idx="1"/>
          </p:nvPr>
        </p:nvSpPr>
        <p:spPr/>
        <p:txBody>
          <a:bodyPr/>
          <a:lstStyle/>
          <a:p>
            <a:pPr lvl="0" indent="0" marL="0">
              <a:buNone/>
            </a:pPr>
            <a:r>
              <a:rPr/>
              <a:t>ZX Bank offers flexible Gold Loans, providing customers with quick access to funds using their gold jewelry as collateral. Our Gold Loan products are designed for individuals seeking instant liquidity for business needs, emergencies, education, or any personal requirement.</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Features of ZX Bank Gold Loan</a:t>
            </a:r>
          </a:p>
          <a:p>
            <a:pPr lvl="0"/>
            <a:r>
              <a:rPr b="1"/>
              <a:t>Fast Processing:</a:t>
            </a:r>
            <a:r>
              <a:rPr/>
              <a:t> Walk-in disbursal, minimal paperwork, and instant approval.</a:t>
            </a:r>
          </a:p>
          <a:p>
            <a:pPr lvl="0"/>
            <a:r>
              <a:rPr b="1"/>
              <a:t>Secure Storage:</a:t>
            </a:r>
            <a:r>
              <a:rPr/>
              <a:t> Your gold jewelry is stored securely in bank vaults.</a:t>
            </a:r>
          </a:p>
          <a:p>
            <a:pPr lvl="0"/>
            <a:r>
              <a:rPr b="1"/>
              <a:t>Flexible Repayment:</a:t>
            </a:r>
            <a:r>
              <a:rPr/>
              <a:t> Choice of tenure and repayment options.</a:t>
            </a:r>
          </a:p>
          <a:p>
            <a:pPr lvl="0"/>
            <a:r>
              <a:rPr b="1"/>
              <a:t>Digital Tracking:</a:t>
            </a:r>
            <a:r>
              <a:rPr/>
              <a:t> Manage and repay your loan via the ZX Bank Asia Mobile App.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Interest Rate</a:t>
            </a:r>
          </a:p>
          <a:p>
            <a:pPr lvl="0"/>
            <a:r>
              <a:rPr b="1"/>
              <a:t>Starting Rate:</a:t>
            </a:r>
            <a:r>
              <a:rPr/>
              <a:t> </a:t>
            </a:r>
            <a:r>
              <a:rPr b="1" i="1"/>
              <a:t>9.5% per annum</a:t>
            </a:r>
            <a:r>
              <a:rPr/>
              <a:t> (floating, subject to change as per prevailing bank rates and loan tenure)</a:t>
            </a:r>
          </a:p>
          <a:p>
            <a:pPr lvl="0"/>
            <a:r>
              <a:rPr b="1"/>
              <a:t>Processing Fee:</a:t>
            </a:r>
            <a:r>
              <a:rPr/>
              <a:t> </a:t>
            </a:r>
            <a:r>
              <a:rPr i="1"/>
              <a:t>0.25% of the loan amount or ₹250 (whichever is higher)</a:t>
            </a:r>
          </a:p>
          <a:p>
            <a:pPr lvl="0" indent="0" marL="0">
              <a:buNone/>
            </a:pPr>
            <a:r>
              <a:rPr b="1"/>
              <a:t>Note:</a:t>
            </a:r>
            <a:r>
              <a:rPr/>
              <a:t> Actual interest rate may vary based on gold purity, market rates, and loan amount.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Maximum Loan Amount</a:t>
            </a:r>
          </a:p>
          <a:p>
            <a:pPr lvl="0"/>
            <a:r>
              <a:rPr b="1"/>
              <a:t>Up to ₹50 lakhs (India)</a:t>
            </a:r>
          </a:p>
          <a:p>
            <a:pPr lvl="0"/>
            <a:r>
              <a:rPr/>
              <a:t>Other countries (Sri Lanka, Nepal, Bhutan, Bangladesh): Equivalent local currency up to bank specified regulatory maximum</a:t>
            </a:r>
          </a:p>
          <a:p>
            <a:pPr lvl="0"/>
            <a:r>
              <a:rPr b="1"/>
              <a:t>Loan-to-Value (LTV):</a:t>
            </a:r>
            <a:r>
              <a:rPr/>
              <a:t> Up to 75% of the gold’s market value, as per RBI regulations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Documents Required</a:t>
            </a:r>
          </a:p>
          <a:p>
            <a:pPr lvl="0" indent="-342900" marL="342900">
              <a:buAutoNum type="arabicPeriod"/>
            </a:pPr>
            <a:r>
              <a:rPr b="1"/>
              <a:t>Identity Proof</a:t>
            </a:r>
            <a:r>
              <a:rPr/>
              <a:t> </a:t>
            </a:r>
            <a:r>
              <a:rPr i="1"/>
              <a:t>(any one of the following):</a:t>
            </a:r>
          </a:p>
          <a:p>
            <a:pPr lvl="1"/>
            <a:r>
              <a:rPr/>
              <a:t>Aadhaar Card</a:t>
            </a:r>
          </a:p>
          <a:p>
            <a:pPr lvl="1"/>
            <a:r>
              <a:rPr/>
              <a:t>Passport</a:t>
            </a:r>
          </a:p>
          <a:p>
            <a:pPr lvl="1"/>
            <a:r>
              <a:rPr/>
              <a:t>Voter ID</a:t>
            </a:r>
          </a:p>
          <a:p>
            <a:pPr lvl="1"/>
            <a:r>
              <a:rPr/>
              <a:t>Driving License</a:t>
            </a:r>
          </a:p>
          <a:p>
            <a:pPr lvl="0" indent="-342900" marL="342900">
              <a:buAutoNum type="arabicPeriod"/>
            </a:pPr>
            <a:r>
              <a:rPr b="1"/>
              <a:t>Address Proof</a:t>
            </a:r>
            <a:r>
              <a:rPr/>
              <a:t> </a:t>
            </a:r>
            <a:r>
              <a:rPr i="1"/>
              <a:t>(any one of the following):</a:t>
            </a:r>
          </a:p>
          <a:p>
            <a:pPr lvl="1"/>
            <a:r>
              <a:rPr/>
              <a:t>Aadhaar Card</a:t>
            </a:r>
          </a:p>
          <a:p>
            <a:pPr lvl="1"/>
            <a:r>
              <a:rPr/>
              <a:t>Utility Bill (not older than 3 months)</a:t>
            </a:r>
          </a:p>
          <a:p>
            <a:pPr lvl="1"/>
            <a:r>
              <a:rPr/>
              <a:t>Passport</a:t>
            </a:r>
          </a:p>
          <a:p>
            <a:pPr lvl="0" indent="-342900" marL="342900">
              <a:buAutoNum type="arabicPeriod"/>
            </a:pPr>
            <a:r>
              <a:rPr b="1"/>
              <a:t>Recent Passport-sized Photograph</a:t>
            </a:r>
          </a:p>
          <a:p>
            <a:pPr lvl="0" indent="-342900" marL="342900">
              <a:buAutoNum type="arabicPeriod"/>
            </a:pPr>
            <a:r>
              <a:rPr b="1"/>
              <a:t>Gold/Ornament to be pledged</a:t>
            </a:r>
            <a:r>
              <a:rPr/>
              <a:t> (hallmarked/jewelry only)</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Apply</a:t>
            </a:r>
          </a:p>
          <a:p>
            <a:pPr lvl="0"/>
            <a:r>
              <a:rPr b="1"/>
              <a:t>Visit</a:t>
            </a:r>
            <a:r>
              <a:rPr/>
              <a:t>: Any ZX Bank branch with your gold ornaments and required documents</a:t>
            </a:r>
          </a:p>
          <a:p>
            <a:pPr lvl="0"/>
            <a:r>
              <a:rPr b="1"/>
              <a:t>Online Application</a:t>
            </a:r>
            <a:r>
              <a:rPr/>
              <a:t>: Apply via ZX Bank Asia Mobile App for a digital pre-approval &amp; appointment</a:t>
            </a:r>
          </a:p>
          <a:p>
            <a:pPr lvl="0"/>
            <a:r>
              <a:rPr b="1"/>
              <a:t>Quick Disbursal</a:t>
            </a:r>
            <a:r>
              <a:rPr/>
              <a:t>: Loan amount credited to your account in minutes after gold valuation and documentation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Contact Us</a:t>
            </a:r>
          </a:p>
          <a:p>
            <a:pPr lvl="0" indent="0" marL="0">
              <a:buNone/>
            </a:pPr>
            <a:r>
              <a:rPr/>
              <a:t>For more information, visit </a:t>
            </a:r>
            <a:r>
              <a:rPr>
                <a:hlinkClick r:id="rId2"/>
              </a:rPr>
              <a:t>www.zxbank.asia</a:t>
            </a:r>
            <a:r>
              <a:rPr/>
              <a:t> or use the ZX Bank Asia mobile app to chat with our AI assistant </a:t>
            </a:r>
            <a:r>
              <a:rPr b="1"/>
              <a:t>“Zia”</a:t>
            </a:r>
            <a:r>
              <a:rPr/>
              <a:t>.</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Terms and conditions apply. Loan approval at the sole discretion of ZX Bank Ltd. Subject to gold assay, purity, and documentation verification.</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2025-07-30T07:51:14Z</dcterms:created>
  <dcterms:modified xsi:type="dcterms:W3CDTF">2025-07-30T07:51:14Z</dcterms:modified>
</cp:coreProperties>
</file>

<file path=docProps/custom.xml><?xml version="1.0" encoding="utf-8"?>
<Properties xmlns="http://schemas.openxmlformats.org/officeDocument/2006/custom-properties" xmlns:vt="http://schemas.openxmlformats.org/officeDocument/2006/docPropsVTypes"/>
</file>