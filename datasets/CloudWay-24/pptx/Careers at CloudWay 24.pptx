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careers"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loudway24.com/careers"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Careers at CloudWay 24</a:t>
            </a:r>
          </a:p>
        </p:txBody>
      </p:sp>
      <p:sp>
        <p:nvSpPr>
          <p:cNvPr id="3" name="Content Placeholder 2"/>
          <p:cNvSpPr>
            <a:spLocks noGrp="1"/>
          </p:cNvSpPr>
          <p:nvPr>
            <p:ph idx="1"/>
          </p:nvPr>
        </p:nvSpPr>
        <p:spPr/>
        <p:txBody>
          <a:bodyPr/>
          <a:lstStyle/>
          <a:p>
            <a:pPr lvl="0" indent="0" marL="0">
              <a:buNone/>
            </a:pPr>
            <a:r>
              <a:rPr/>
              <a:t>Welcome to </a:t>
            </a:r>
            <a:r>
              <a:rPr b="1"/>
              <a:t>CloudWay 24 Careers</a:t>
            </a:r>
            <a:r>
              <a:rPr/>
              <a:t>—where your journey takes off!</a:t>
            </a:r>
            <a:br/>
            <a:r>
              <a:rPr/>
              <a:t>Join one of India’s fastest-growing international airlines and help us redefine the skies with innovation, dedication, and world-class service.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Join CloudWay 24?</a:t>
            </a:r>
          </a:p>
          <a:p>
            <a:pPr lvl="0" indent="0" marL="0">
              <a:buNone/>
            </a:pPr>
            <a:r>
              <a:rPr/>
              <a:t>CloudWay 24 isn’t just an airline; it’s a global family that believes in connecting people, cultures, and opportunities through seamless travel experiences. We aspire to excellence in everything we do—whether in the air or on the ground. At CloudWay 24, your career can soar as high as our Dreamliners!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Life at CloudWay 24</a:t>
            </a:r>
          </a:p>
          <a:p>
            <a:pPr lvl="0" indent="0" marL="0">
              <a:spcBef>
                <a:spcPts val="3000"/>
              </a:spcBef>
              <a:buNone/>
            </a:pPr>
            <a:r>
              <a:rPr b="1"/>
              <a:t>Our Culture</a:t>
            </a:r>
          </a:p>
          <a:p>
            <a:pPr lvl="0"/>
            <a:r>
              <a:rPr b="1"/>
              <a:t>Inclusive &amp; Diverse:</a:t>
            </a:r>
            <a:r>
              <a:rPr/>
              <a:t> We celebrate diversity and believe every team member contributes to our collective success.</a:t>
            </a:r>
          </a:p>
          <a:p>
            <a:pPr lvl="0"/>
            <a:r>
              <a:rPr b="1"/>
              <a:t>Customer-Focused:</a:t>
            </a:r>
            <a:r>
              <a:rPr/>
              <a:t> Delivering memorable experiences is at the heart of our mission.</a:t>
            </a:r>
          </a:p>
          <a:p>
            <a:pPr lvl="0"/>
            <a:r>
              <a:rPr b="1"/>
              <a:t>Innovation-Driven:</a:t>
            </a:r>
            <a:r>
              <a:rPr/>
              <a:t> Encourage new ideas and provide opportunities to redefine air travel.</a:t>
            </a:r>
          </a:p>
          <a:p>
            <a:pPr lvl="0"/>
            <a:r>
              <a:rPr b="1"/>
              <a:t>Team Spirit:</a:t>
            </a:r>
            <a:r>
              <a:rPr/>
              <a:t> Strong collaboration between cockpit, cabin crew, ground staff, engineers, and corporate teams.</a:t>
            </a:r>
          </a:p>
          <a:p>
            <a:pPr lvl="0" indent="0" marL="0">
              <a:spcBef>
                <a:spcPts val="3000"/>
              </a:spcBef>
              <a:buNone/>
            </a:pPr>
            <a:r>
              <a:rPr b="1"/>
              <a:t>Employee Benefits</a:t>
            </a:r>
          </a:p>
          <a:p>
            <a:pPr lvl="0"/>
            <a:r>
              <a:rPr b="1"/>
              <a:t>Competitive Compensation</a:t>
            </a:r>
            <a:br/>
          </a:p>
          <a:p>
            <a:pPr lvl="0"/>
            <a:r>
              <a:rPr b="1"/>
              <a:t>Medical &amp; Wellness Programs</a:t>
            </a:r>
            <a:br/>
          </a:p>
          <a:p>
            <a:pPr lvl="0"/>
            <a:r>
              <a:rPr b="1"/>
              <a:t>Travel Benefits (for you &amp; family)</a:t>
            </a:r>
            <a:br/>
          </a:p>
          <a:p>
            <a:pPr lvl="0"/>
            <a:r>
              <a:rPr b="1"/>
              <a:t>SkyPoints 24 membership perks</a:t>
            </a:r>
            <a:br/>
          </a:p>
          <a:p>
            <a:pPr lvl="0"/>
            <a:r>
              <a:rPr b="1"/>
              <a:t>Learning &amp; Development Programs</a:t>
            </a:r>
            <a:br/>
          </a:p>
          <a:p>
            <a:pPr lvl="0"/>
            <a:r>
              <a:rPr b="1"/>
              <a:t>Performance Bonuses &amp; Rewards</a:t>
            </a:r>
            <a:br/>
          </a:p>
          <a:p>
            <a:pPr lvl="0"/>
            <a:r>
              <a:rPr b="1"/>
              <a:t>Flexible Schedules &amp; Remote Work Opportunities (selected roles)</a:t>
            </a:r>
            <a:br/>
          </a:p>
          <a:p>
            <a:pPr lvl="0"/>
            <a:r>
              <a:rPr b="1"/>
              <a:t>Employee Assistance Programs</a:t>
            </a:r>
          </a:p>
          <a:p>
            <a:pPr lvl="0" indent="0" marL="0">
              <a:spcBef>
                <a:spcPts val="3000"/>
              </a:spcBef>
              <a:buNone/>
            </a:pPr>
            <a:r>
              <a:rPr b="1"/>
              <a:t>Work Environment</a:t>
            </a:r>
          </a:p>
          <a:p>
            <a:pPr lvl="0"/>
            <a:r>
              <a:rPr/>
              <a:t>Modern offices at our Mumbai HQ and airport hubs</a:t>
            </a:r>
          </a:p>
          <a:p>
            <a:pPr lvl="0"/>
            <a:r>
              <a:rPr/>
              <a:t>Open communication &amp; transparent leadership</a:t>
            </a:r>
          </a:p>
          <a:p>
            <a:pPr lvl="0"/>
            <a:r>
              <a:rPr/>
              <a:t>A culture of recognition and respect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Current Opportunities</a:t>
            </a:r>
          </a:p>
          <a:p>
            <a:pPr lvl="0" indent="0" marL="0">
              <a:buNone/>
            </a:pPr>
            <a:r>
              <a:rPr/>
              <a:t>We’re always searching for passionate professionals in:</a:t>
            </a:r>
          </a:p>
          <a:p>
            <a:pPr lvl="0"/>
            <a:r>
              <a:rPr b="1"/>
              <a:t>Cabin Crew (Flight Attendants)</a:t>
            </a:r>
          </a:p>
          <a:p>
            <a:pPr lvl="0"/>
            <a:r>
              <a:rPr b="1"/>
              <a:t>Pilots (Wide-body &amp; Narrow-body)</a:t>
            </a:r>
          </a:p>
          <a:p>
            <a:pPr lvl="0"/>
            <a:r>
              <a:rPr b="1"/>
              <a:t>Ground Operations</a:t>
            </a:r>
          </a:p>
          <a:p>
            <a:pPr lvl="0"/>
            <a:r>
              <a:rPr b="1"/>
              <a:t>Customer Service &amp; Call Center</a:t>
            </a:r>
          </a:p>
          <a:p>
            <a:pPr lvl="0"/>
            <a:r>
              <a:rPr b="1"/>
              <a:t>Engineering &amp; Maintenance</a:t>
            </a:r>
          </a:p>
          <a:p>
            <a:pPr lvl="0"/>
            <a:r>
              <a:rPr b="1"/>
              <a:t>IT &amp; Digital Solutions</a:t>
            </a:r>
          </a:p>
          <a:p>
            <a:pPr lvl="0"/>
            <a:r>
              <a:rPr b="1"/>
              <a:t>Sales &amp; Marketing</a:t>
            </a:r>
          </a:p>
          <a:p>
            <a:pPr lvl="0"/>
            <a:r>
              <a:rPr b="1"/>
              <a:t>Finance &amp; Human Resources</a:t>
            </a:r>
          </a:p>
          <a:p>
            <a:pPr lvl="0"/>
            <a:r>
              <a:rPr b="1"/>
              <a:t>Airport Lounge Staff</a:t>
            </a:r>
          </a:p>
          <a:p>
            <a:pPr lvl="0" indent="0" marL="0">
              <a:buNone/>
            </a:pPr>
            <a:r>
              <a:rPr b="1">
                <a:hlinkClick r:id="rId2"/>
              </a:rPr>
              <a:t>Explore Latest Openings →</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Global Exposure</a:t>
            </a:r>
          </a:p>
          <a:p>
            <a:pPr lvl="0" indent="0" marL="0">
              <a:buNone/>
            </a:pPr>
            <a:r>
              <a:rPr/>
              <a:t>With operations spanning Asia, Europe, North America, and the Middle East, every role at CloudWay 24 offers global exposure and the chance to be part of something extraordinary.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Hear From Our Team</a:t>
            </a:r>
          </a:p>
          <a:p>
            <a:pPr lvl="0" indent="0" marL="1270000">
              <a:buNone/>
            </a:pPr>
            <a:r>
              <a:rPr sz="2000"/>
              <a:t>“CloudWay 24 is about growth, learning, and making meaningful connections. Every day brings new challenges, and I love being part of a team that supports each other.”</a:t>
            </a:r>
            <a:br/>
            <a:r>
              <a:rPr sz="2000"/>
              <a:t>— Meera S., Senior Cabin Crew</a:t>
            </a:r>
          </a:p>
          <a:p>
            <a:pPr lvl="0" indent="0" marL="1270000">
              <a:buNone/>
            </a:pPr>
            <a:r>
              <a:rPr sz="2000"/>
              <a:t>“From day one, the SkyPoints 24 program and travel perks made me feel I was part of a global community.”</a:t>
            </a:r>
            <a:br/>
            <a:r>
              <a:rPr sz="2000"/>
              <a:t>— Arjun N., IT &amp; Innovation Lead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Apply</a:t>
            </a:r>
          </a:p>
          <a:p>
            <a:pPr lvl="0" indent="0" marL="0">
              <a:buNone/>
            </a:pPr>
            <a:r>
              <a:rPr/>
              <a:t>It’s simple:</a:t>
            </a:r>
          </a:p>
          <a:p>
            <a:pPr lvl="0" indent="-342900" marL="342900">
              <a:buAutoNum type="arabicPeriod"/>
            </a:pPr>
            <a:r>
              <a:rPr b="1"/>
              <a:t>Visit:</a:t>
            </a:r>
            <a:r>
              <a:rPr/>
              <a:t> </a:t>
            </a:r>
            <a:r>
              <a:rPr>
                <a:hlinkClick r:id="rId2"/>
              </a:rPr>
              <a:t>CloudWay24.com/careers</a:t>
            </a:r>
          </a:p>
          <a:p>
            <a:pPr lvl="0" indent="-342900" marL="342900">
              <a:buAutoNum type="arabicPeriod"/>
            </a:pPr>
            <a:r>
              <a:rPr b="1"/>
              <a:t>Sign up</a:t>
            </a:r>
            <a:r>
              <a:rPr/>
              <a:t> with your email or mobile.</a:t>
            </a:r>
          </a:p>
          <a:p>
            <a:pPr lvl="0" indent="-342900" marL="342900">
              <a:buAutoNum type="arabicPeriod"/>
            </a:pPr>
            <a:r>
              <a:rPr b="1"/>
              <a:t>Browse</a:t>
            </a:r>
            <a:r>
              <a:rPr/>
              <a:t> open positions, upload your CV, and submit your application.</a:t>
            </a:r>
          </a:p>
          <a:p>
            <a:pPr lvl="0" indent="0" marL="0">
              <a:buNone/>
            </a:pPr>
            <a:r>
              <a:rPr/>
              <a:t>⚡ </a:t>
            </a:r>
            <a:r>
              <a:rPr i="1"/>
              <a:t>Start your journey with CloudWay 24—where the sky is never the limit!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Connect with Us:</a:t>
            </a:r>
            <a:br/>
            <a:r>
              <a:rPr/>
              <a:t>LinkedIn | Twitter | Instagram</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Careers: Administration Department</a:t>
            </a:r>
          </a:p>
        </p:txBody>
      </p:sp>
      <p:sp>
        <p:nvSpPr>
          <p:cNvPr id="3" name="Content Placeholder 2"/>
          <p:cNvSpPr>
            <a:spLocks noGrp="1"/>
          </p:cNvSpPr>
          <p:nvPr>
            <p:ph idx="1"/>
          </p:nvPr>
        </p:nvSpPr>
        <p:spPr/>
        <p:txBody>
          <a:bodyPr/>
          <a:lstStyle/>
          <a:p>
            <a:pPr lvl="0" indent="0" marL="0">
              <a:buNone/>
            </a:pPr>
            <a:r>
              <a:rPr/>
              <a:t>Welcome to CloudWay 24 – where your career takes flight! Join our Administration Department to shape the backbone of a leading international airline. We’re seeking dedicated professionals eager to ensure seamless operations, continuous growth, and ultimate customer satisfaction.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Open Positions in Administration</a:t>
            </a:r>
          </a:p>
          <a:p>
            <a:pPr lvl="0" indent="0" marL="0">
              <a:spcBef>
                <a:spcPts val="3000"/>
              </a:spcBef>
              <a:buNone/>
            </a:pPr>
            <a:r>
              <a:rPr b="1"/>
              <a:t>1. Senior Manager – Administration</a:t>
            </a:r>
          </a:p>
          <a:p>
            <a:pPr lvl="0"/>
            <a:r>
              <a:rPr b="1"/>
              <a:t>Location:</a:t>
            </a:r>
            <a:r>
              <a:rPr/>
              <a:t> Mumbai (Head Office)</a:t>
            </a:r>
          </a:p>
          <a:p>
            <a:pPr lvl="0"/>
            <a:r>
              <a:rPr b="1"/>
              <a:t>Working Hours:</a:t>
            </a:r>
            <a:r>
              <a:rPr/>
              <a:t> Full-Time (Mon–Fri, 9:00 AM–6:00 PM) + Occasional weekends during peak operational periods</a:t>
            </a:r>
          </a:p>
          <a:p>
            <a:pPr lvl="0"/>
            <a:r>
              <a:rPr b="1"/>
              <a:t>Educational Qualifications:</a:t>
            </a:r>
          </a:p>
          <a:p>
            <a:pPr lvl="1"/>
            <a:r>
              <a:rPr/>
              <a:t>MBA or Master’s in Business Administration/Public Administration or equivalent</a:t>
            </a:r>
          </a:p>
          <a:p>
            <a:pPr lvl="1"/>
            <a:r>
              <a:rPr/>
              <a:t>Minimum 7–10 years’ experience in administration, preferably in the aviation or transport sector</a:t>
            </a:r>
          </a:p>
          <a:p>
            <a:pPr lvl="0"/>
            <a:r>
              <a:rPr b="1"/>
              <a:t>Package:</a:t>
            </a:r>
            <a:r>
              <a:rPr/>
              <a:t> ₹30–40 LPA (based on experience) + Performance Bonus + Benefits</a:t>
            </a:r>
          </a:p>
          <a:p>
            <a:pPr lvl="0"/>
            <a:r>
              <a:rPr b="1"/>
              <a:t>Roles &amp; Responsibilities:</a:t>
            </a:r>
          </a:p>
          <a:p>
            <a:pPr lvl="1"/>
            <a:r>
              <a:rPr/>
              <a:t>Oversee daily administrative operations across all departments</a:t>
            </a:r>
          </a:p>
          <a:p>
            <a:pPr lvl="1"/>
            <a:r>
              <a:rPr/>
              <a:t>Develop and implement policies for office management, procurement, and compliance</a:t>
            </a:r>
          </a:p>
          <a:p>
            <a:pPr lvl="1"/>
            <a:r>
              <a:rPr/>
              <a:t>Coordinate with airport authorities and regulatory bodies</a:t>
            </a:r>
          </a:p>
          <a:p>
            <a:pPr lvl="1"/>
            <a:r>
              <a:rPr/>
              <a:t>Lead a team of junior managers and executives</a:t>
            </a:r>
          </a:p>
          <a:p>
            <a:pPr lvl="1"/>
            <a:r>
              <a:rPr/>
              <a:t>Streamline processes for cost efficiency and operational excellence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Junior Manager – Administration</a:t>
            </a:r>
          </a:p>
          <a:p>
            <a:pPr lvl="0"/>
            <a:r>
              <a:rPr b="1"/>
              <a:t>Location:</a:t>
            </a:r>
            <a:r>
              <a:rPr/>
              <a:t> New Delhi / Bengaluru</a:t>
            </a:r>
          </a:p>
          <a:p>
            <a:pPr lvl="0"/>
            <a:r>
              <a:rPr b="1"/>
              <a:t>Working Hours:</a:t>
            </a:r>
            <a:r>
              <a:rPr/>
              <a:t> Full-Time (Mon–Fri, 9:00 AM–6:00 PM)</a:t>
            </a:r>
          </a:p>
          <a:p>
            <a:pPr lvl="0"/>
            <a:r>
              <a:rPr b="1"/>
              <a:t>Educational Qualifications:</a:t>
            </a:r>
          </a:p>
          <a:p>
            <a:pPr lvl="1"/>
            <a:r>
              <a:rPr/>
              <a:t>Bachelor’s/Master’s in Business Administration or related field</a:t>
            </a:r>
          </a:p>
          <a:p>
            <a:pPr lvl="1"/>
            <a:r>
              <a:rPr/>
              <a:t>2–5 years’ experience in administration/office management</a:t>
            </a:r>
          </a:p>
          <a:p>
            <a:pPr lvl="0"/>
            <a:r>
              <a:rPr b="1"/>
              <a:t>Package:</a:t>
            </a:r>
            <a:r>
              <a:rPr/>
              <a:t> ₹12–18 LPA + Benefits</a:t>
            </a:r>
          </a:p>
          <a:p>
            <a:pPr lvl="0"/>
            <a:r>
              <a:rPr b="1"/>
              <a:t>Roles &amp; Responsibilities:</a:t>
            </a:r>
          </a:p>
          <a:p>
            <a:pPr lvl="1"/>
            <a:r>
              <a:rPr/>
              <a:t>Support the Senior Manager in day-to-day administrative tasks</a:t>
            </a:r>
          </a:p>
          <a:p>
            <a:pPr lvl="1"/>
            <a:r>
              <a:rPr/>
              <a:t>Manage documentation, facilities, and office supplies</a:t>
            </a:r>
          </a:p>
          <a:p>
            <a:pPr lvl="1"/>
            <a:r>
              <a:rPr/>
              <a:t>Liaise between staff and management for smooth workflows</a:t>
            </a:r>
          </a:p>
          <a:p>
            <a:pPr lvl="1"/>
            <a:r>
              <a:rPr/>
              <a:t>Assist in organizing meetings, reports, and logistics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Entry-level Administration Manager</a:t>
            </a:r>
          </a:p>
          <a:p>
            <a:pPr lvl="0"/>
            <a:r>
              <a:rPr b="1"/>
              <a:t>Location:</a:t>
            </a:r>
            <a:r>
              <a:rPr/>
              <a:t> Mumbai / Bengaluru / New Delhi</a:t>
            </a:r>
          </a:p>
          <a:p>
            <a:pPr lvl="0"/>
            <a:r>
              <a:rPr b="1"/>
              <a:t>Working Hours:</a:t>
            </a:r>
            <a:r>
              <a:rPr/>
              <a:t> Full-Time (Mon–Sat, 9:00 AM–5:30 PM)</a:t>
            </a:r>
          </a:p>
          <a:p>
            <a:pPr lvl="0"/>
            <a:r>
              <a:rPr b="1"/>
              <a:t>Educational Qualifications:</a:t>
            </a:r>
          </a:p>
          <a:p>
            <a:pPr lvl="1"/>
            <a:r>
              <a:rPr/>
              <a:t>Bachelor’s degree in Business Administration / Commerce / Arts</a:t>
            </a:r>
          </a:p>
          <a:p>
            <a:pPr lvl="1"/>
            <a:r>
              <a:rPr/>
              <a:t>Freshers or candidates with up to 2 years’ relevant experience</a:t>
            </a:r>
          </a:p>
          <a:p>
            <a:pPr lvl="0"/>
            <a:r>
              <a:rPr b="1"/>
              <a:t>Package:</a:t>
            </a:r>
            <a:r>
              <a:rPr/>
              <a:t> ₹6–9 LPA + Benefits</a:t>
            </a:r>
          </a:p>
          <a:p>
            <a:pPr lvl="0"/>
            <a:r>
              <a:rPr b="1"/>
              <a:t>Roles &amp; Responsibilities:</a:t>
            </a:r>
          </a:p>
          <a:p>
            <a:pPr lvl="1"/>
            <a:r>
              <a:rPr/>
              <a:t>Handle office coordination, record-keeping, and basic administrative support</a:t>
            </a:r>
          </a:p>
          <a:p>
            <a:pPr lvl="1"/>
            <a:r>
              <a:rPr/>
              <a:t>Assist in vendor management, travel bookings, and reimbursements</a:t>
            </a:r>
          </a:p>
          <a:p>
            <a:pPr lvl="1"/>
            <a:r>
              <a:rPr/>
              <a:t>Maintain administrative databases and prepare standard reports</a:t>
            </a:r>
          </a:p>
          <a:p>
            <a:pPr lvl="1"/>
            <a:r>
              <a:rPr/>
              <a:t>Provide general support to visitors and staff</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Fleet Administration Engineer</a:t>
            </a:r>
          </a:p>
          <a:p>
            <a:pPr lvl="0"/>
            <a:r>
              <a:rPr b="1"/>
              <a:t>Location:</a:t>
            </a:r>
            <a:r>
              <a:rPr/>
              <a:t> Mumbai (Primary), with periodic travel to Delhi / Bengaluru</a:t>
            </a:r>
          </a:p>
          <a:p>
            <a:pPr lvl="0"/>
            <a:r>
              <a:rPr b="1"/>
              <a:t>Working Hours:</a:t>
            </a:r>
            <a:r>
              <a:rPr/>
              <a:t> Full-Time (Shift basis; flexible, including weekends in case of urgent needs)</a:t>
            </a:r>
          </a:p>
          <a:p>
            <a:pPr lvl="0"/>
            <a:r>
              <a:rPr b="1"/>
              <a:t>Educational Qualifications:</a:t>
            </a:r>
          </a:p>
          <a:p>
            <a:pPr lvl="1"/>
            <a:r>
              <a:rPr/>
              <a:t>Bachelor’s in Engineering (Mechanical / Aeronautical / Electrical)</a:t>
            </a:r>
          </a:p>
          <a:p>
            <a:pPr lvl="1"/>
            <a:r>
              <a:rPr/>
              <a:t>1–3 years of experience in airline fleet or asset management preferred</a:t>
            </a:r>
          </a:p>
          <a:p>
            <a:pPr lvl="0"/>
            <a:r>
              <a:rPr b="1"/>
              <a:t>Package:</a:t>
            </a:r>
            <a:r>
              <a:rPr/>
              <a:t> ₹10–15 LPA + Allowances</a:t>
            </a:r>
          </a:p>
          <a:p>
            <a:pPr lvl="0"/>
            <a:r>
              <a:rPr b="1"/>
              <a:t>Roles &amp; Responsibilities:</a:t>
            </a:r>
          </a:p>
          <a:p>
            <a:pPr lvl="1"/>
            <a:r>
              <a:rPr/>
              <a:t>Coordinate with Maintenance and Technical teams for fleet scheduling</a:t>
            </a:r>
          </a:p>
          <a:p>
            <a:pPr lvl="1"/>
            <a:r>
              <a:rPr/>
              <a:t>Maintain comprehensive records of fleet usage, service, and compliance</a:t>
            </a:r>
          </a:p>
          <a:p>
            <a:pPr lvl="1"/>
            <a:r>
              <a:rPr/>
              <a:t>Support procurement and inventory of spare parts and consumables</a:t>
            </a:r>
          </a:p>
          <a:p>
            <a:pPr lvl="1"/>
            <a:r>
              <a:rPr/>
              <a:t>Generate reports on fleet performance and cost analysis for management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Current Openings: Flight Operations</a:t>
            </a:r>
          </a:p>
          <a:p>
            <a:pPr lvl="0" indent="0" marL="0">
              <a:spcBef>
                <a:spcPts val="3000"/>
              </a:spcBef>
              <a:buNone/>
            </a:pPr>
            <a:r>
              <a:rPr b="1"/>
              <a:t>1. Trainee Pilot</a:t>
            </a:r>
          </a:p>
          <a:p>
            <a:pPr lvl="0"/>
            <a:r>
              <a:rPr b="1"/>
              <a:t>Working Hours:</a:t>
            </a:r>
            <a:r>
              <a:rPr/>
              <a:t> As per flying roster; typically, flight duty periods with adequate rest per DGCA/EASA/FAA regulations.</a:t>
            </a:r>
          </a:p>
          <a:p>
            <a:pPr lvl="0"/>
            <a:r>
              <a:rPr b="1"/>
              <a:t>Location:</a:t>
            </a:r>
            <a:r>
              <a:rPr/>
              <a:t> Mumbai, Delhi, Bengaluru (assigned base after selection)</a:t>
            </a:r>
          </a:p>
          <a:p>
            <a:pPr lvl="0"/>
            <a:r>
              <a:rPr b="1"/>
              <a:t>Educational Qualifications:</a:t>
            </a:r>
          </a:p>
          <a:p>
            <a:pPr lvl="1"/>
            <a:r>
              <a:rPr/>
              <a:t>Minimum: 10+2 (Physics &amp; Mathematics mandatory)</a:t>
            </a:r>
          </a:p>
          <a:p>
            <a:pPr lvl="1"/>
            <a:r>
              <a:rPr/>
              <a:t>Valid Commercial Pilot License (CPL) issued by DGCA/ICAO member state</a:t>
            </a:r>
          </a:p>
          <a:p>
            <a:pPr lvl="1"/>
            <a:r>
              <a:rPr/>
              <a:t>English Language Proficiency: Level 4 or above</a:t>
            </a:r>
          </a:p>
          <a:p>
            <a:pPr lvl="0"/>
            <a:r>
              <a:rPr b="1"/>
              <a:t>Package:</a:t>
            </a:r>
            <a:r>
              <a:rPr/>
              <a:t> INR 15-18 lakhs per annum + benefits</a:t>
            </a:r>
          </a:p>
          <a:p>
            <a:pPr lvl="0"/>
            <a:r>
              <a:rPr b="1"/>
              <a:t>Roles &amp; Responsibilities:</a:t>
            </a:r>
          </a:p>
          <a:p>
            <a:pPr lvl="1"/>
            <a:r>
              <a:rPr/>
              <a:t>Undergo training on Boeing 787/Airbus A350/A380 as allocated.</a:t>
            </a:r>
          </a:p>
          <a:p>
            <a:pPr lvl="1"/>
            <a:r>
              <a:rPr/>
              <a:t>Assist in pre-flight checks, planning and cockpit preparation.</a:t>
            </a:r>
          </a:p>
          <a:p>
            <a:pPr lvl="1"/>
            <a:r>
              <a:rPr/>
              <a:t>Comply with all SOPs, safety, and regulatory standards.</a:t>
            </a:r>
          </a:p>
          <a:p>
            <a:pPr lvl="1"/>
            <a:r>
              <a:rPr/>
              <a:t>Develop and maintain proficiency through simulator and classroom training.</a:t>
            </a:r>
          </a:p>
          <a:p>
            <a:pPr lvl="1"/>
            <a:r>
              <a:rPr/>
              <a:t>Shadow certified pilots and support flight operations.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First Officer</a:t>
            </a:r>
          </a:p>
          <a:p>
            <a:pPr lvl="0"/>
            <a:r>
              <a:rPr b="1"/>
              <a:t>Working Hours:</a:t>
            </a:r>
            <a:r>
              <a:rPr/>
              <a:t> Roster-based flying shifts; as per regulatory limits and airline scheduling.</a:t>
            </a:r>
          </a:p>
          <a:p>
            <a:pPr lvl="0"/>
            <a:r>
              <a:rPr b="1"/>
              <a:t>Location:</a:t>
            </a:r>
            <a:r>
              <a:rPr/>
              <a:t> Mumbai, Delhi, Bengaluru (assigned base)</a:t>
            </a:r>
          </a:p>
          <a:p>
            <a:pPr lvl="0"/>
            <a:r>
              <a:rPr b="1"/>
              <a:t>Educational Qualifications:</a:t>
            </a:r>
          </a:p>
          <a:p>
            <a:pPr lvl="1"/>
            <a:r>
              <a:rPr/>
              <a:t>Valid ATPL or Frozen ATPL</a:t>
            </a:r>
          </a:p>
          <a:p>
            <a:pPr lvl="1"/>
            <a:r>
              <a:rPr/>
              <a:t>Minimum total flying hours as specified by DGCA/ICAO for type</a:t>
            </a:r>
          </a:p>
          <a:p>
            <a:pPr lvl="1"/>
            <a:r>
              <a:rPr/>
              <a:t>Current type rating (Boeing 787 Dreamliner / Airbus A350 / Airbus A380)</a:t>
            </a:r>
          </a:p>
          <a:p>
            <a:pPr lvl="0"/>
            <a:r>
              <a:rPr b="1"/>
              <a:t>Package:</a:t>
            </a:r>
            <a:r>
              <a:rPr/>
              <a:t> INR 38-48 lakhs per annum + bonuses &amp; benefits</a:t>
            </a:r>
          </a:p>
          <a:p>
            <a:pPr lvl="0"/>
            <a:r>
              <a:rPr b="1"/>
              <a:t>Roles &amp; Responsibilities:</a:t>
            </a:r>
          </a:p>
          <a:p>
            <a:pPr lvl="1"/>
            <a:r>
              <a:rPr/>
              <a:t>Operate flights under Captain’s command.</a:t>
            </a:r>
          </a:p>
          <a:p>
            <a:pPr lvl="1"/>
            <a:r>
              <a:rPr/>
              <a:t>Assist Captain in safe aircraft operation, navigation, and communication.</a:t>
            </a:r>
          </a:p>
          <a:p>
            <a:pPr lvl="1"/>
            <a:r>
              <a:rPr/>
              <a:t>Execute flight duties as per CloudWay 24 and international standards.</a:t>
            </a:r>
          </a:p>
          <a:p>
            <a:pPr lvl="1"/>
            <a:r>
              <a:rPr/>
              <a:t>Participate in recurrent training and skill assessments.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Senior First Officer</a:t>
            </a:r>
          </a:p>
          <a:p>
            <a:pPr lvl="0"/>
            <a:r>
              <a:rPr b="1"/>
              <a:t>Working Hours:</a:t>
            </a:r>
            <a:r>
              <a:rPr/>
              <a:t> Flight duty as per roster, including long-haul sectors.</a:t>
            </a:r>
          </a:p>
          <a:p>
            <a:pPr lvl="0"/>
            <a:r>
              <a:rPr b="1"/>
              <a:t>Location:</a:t>
            </a:r>
            <a:r>
              <a:rPr/>
              <a:t> Mumbai, Delhi, Bengaluru (assigned base)</a:t>
            </a:r>
          </a:p>
          <a:p>
            <a:pPr lvl="0"/>
            <a:r>
              <a:rPr b="1"/>
              <a:t>Educational Qualifications:</a:t>
            </a:r>
          </a:p>
          <a:p>
            <a:pPr lvl="1"/>
            <a:r>
              <a:rPr/>
              <a:t>Valid ATPL</a:t>
            </a:r>
          </a:p>
          <a:p>
            <a:pPr lvl="1"/>
            <a:r>
              <a:rPr/>
              <a:t>Significant experience as First Officer (min. 2000+ hours, at least 1000 hours on type preferred)</a:t>
            </a:r>
          </a:p>
          <a:p>
            <a:pPr lvl="1"/>
            <a:r>
              <a:rPr/>
              <a:t>Current type rating (B787/A350/A380)</a:t>
            </a:r>
          </a:p>
          <a:p>
            <a:pPr lvl="0"/>
            <a:r>
              <a:rPr b="1"/>
              <a:t>Package:</a:t>
            </a:r>
            <a:r>
              <a:rPr/>
              <a:t> INR 59-65 lakhs per annum + variable components</a:t>
            </a:r>
          </a:p>
          <a:p>
            <a:pPr lvl="0"/>
            <a:r>
              <a:rPr b="1"/>
              <a:t>Roles &amp; Responsibilities:</a:t>
            </a:r>
          </a:p>
          <a:p>
            <a:pPr lvl="1"/>
            <a:r>
              <a:rPr/>
              <a:t>Perform all First Officer duties with advanced responsibilities.</a:t>
            </a:r>
          </a:p>
          <a:p>
            <a:pPr lvl="1"/>
            <a:r>
              <a:rPr/>
              <a:t>Act as PIC (where required) on select sectors.</a:t>
            </a:r>
          </a:p>
          <a:p>
            <a:pPr lvl="1"/>
            <a:r>
              <a:rPr/>
              <a:t>Mentor and guide Trainee Pilots and First Officers.</a:t>
            </a:r>
          </a:p>
          <a:p>
            <a:pPr lvl="1"/>
            <a:r>
              <a:rPr/>
              <a:t>Support Captain in flight management and operational decision-making.</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Captain &amp; Above</a:t>
            </a:r>
          </a:p>
          <a:p>
            <a:pPr lvl="0"/>
            <a:r>
              <a:rPr b="1"/>
              <a:t>Working Hours:</a:t>
            </a:r>
            <a:r>
              <a:rPr/>
              <a:t> Variable, scheduled as per flight operations; includes command on ultra-long-haul flights.</a:t>
            </a:r>
          </a:p>
          <a:p>
            <a:pPr lvl="0"/>
            <a:r>
              <a:rPr b="1"/>
              <a:t>Location:</a:t>
            </a:r>
            <a:r>
              <a:rPr/>
              <a:t> Mumbai, Delhi, Bengaluru (assigned base)</a:t>
            </a:r>
          </a:p>
          <a:p>
            <a:pPr lvl="0"/>
            <a:r>
              <a:rPr b="1"/>
              <a:t>Educational Qualifications:</a:t>
            </a:r>
          </a:p>
          <a:p>
            <a:pPr lvl="1"/>
            <a:r>
              <a:rPr/>
              <a:t>Valid ATPL with PIC rating on Boeing 787 / Airbus A350 / A380</a:t>
            </a:r>
          </a:p>
          <a:p>
            <a:pPr lvl="1"/>
            <a:r>
              <a:rPr/>
              <a:t>Total flying experience: 5000+ hours (2000+ hours as PIC on type)</a:t>
            </a:r>
          </a:p>
          <a:p>
            <a:pPr lvl="1"/>
            <a:r>
              <a:rPr/>
              <a:t>Valid DGCA/ ICAO Medical Category 1</a:t>
            </a:r>
          </a:p>
          <a:p>
            <a:pPr lvl="0"/>
            <a:r>
              <a:rPr b="1"/>
              <a:t>Package:</a:t>
            </a:r>
            <a:r>
              <a:rPr/>
              <a:t> INR 1.1 - 1.5 crores per annum + performance incentives, travel perks &amp; leadership benefits</a:t>
            </a:r>
          </a:p>
          <a:p>
            <a:pPr lvl="0"/>
            <a:r>
              <a:rPr b="1"/>
              <a:t>Roles &amp; Responsibilities:</a:t>
            </a:r>
          </a:p>
          <a:p>
            <a:pPr lvl="1"/>
            <a:r>
              <a:rPr/>
              <a:t>Command and supervise international flights ensuring utmost safety.</a:t>
            </a:r>
          </a:p>
          <a:p>
            <a:pPr lvl="1"/>
            <a:r>
              <a:rPr/>
              <a:t>Decision making in all operational aspects, including emergencies.</a:t>
            </a:r>
          </a:p>
          <a:p>
            <a:pPr lvl="1"/>
            <a:r>
              <a:rPr/>
              <a:t>Ensure compliance with all regulatory and company standards.</a:t>
            </a:r>
          </a:p>
          <a:p>
            <a:pPr lvl="1"/>
            <a:r>
              <a:rPr/>
              <a:t>Lead and mentor cockpit and cabin crew.</a:t>
            </a:r>
          </a:p>
          <a:p>
            <a:pPr lvl="1"/>
            <a:r>
              <a:rPr/>
              <a:t>Represent CloudWay 24 in audits and regulatory checks.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Careers at CloudWay 24 – Engineering Department</a:t>
            </a:r>
          </a:p>
        </p:txBody>
      </p:sp>
      <p:sp>
        <p:nvSpPr>
          <p:cNvPr id="3" name="Content Placeholder 2"/>
          <p:cNvSpPr>
            <a:spLocks noGrp="1"/>
          </p:cNvSpPr>
          <p:nvPr>
            <p:ph idx="1"/>
          </p:nvPr>
        </p:nvSpPr>
        <p:spPr/>
        <p:txBody>
          <a:bodyPr/>
          <a:lstStyle/>
          <a:p>
            <a:pPr lvl="0" indent="0" marL="0">
              <a:buNone/>
            </a:pPr>
            <a:r>
              <a:rPr/>
              <a:t>Welcome to CloudWay 24 Careers!</a:t>
            </a:r>
            <a:br/>
            <a:r>
              <a:rPr/>
              <a:t>Be part of one of India’s fastest-growing international carriers and help us keep the world connected, safe, and soaring. We are currently inviting talented and passionate engineers to join our dynamic Engineering Department.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Open Positions in Engineering</a:t>
            </a:r>
          </a:p>
          <a:p>
            <a:pPr lvl="0" indent="0" marL="0">
              <a:spcBef>
                <a:spcPts val="3000"/>
              </a:spcBef>
              <a:buNone/>
            </a:pPr>
            <a:r>
              <a:rPr b="1"/>
              <a:t>1. Aircraft Maintenance Engineer (AME)</a:t>
            </a:r>
          </a:p>
          <a:p>
            <a:pPr lvl="0"/>
            <a:r>
              <a:rPr b="1"/>
              <a:t>Location:</a:t>
            </a:r>
            <a:r>
              <a:rPr/>
              <a:t> Mumbai, Delhi, Bengaluru (Based at our main hubs)</a:t>
            </a:r>
          </a:p>
          <a:p>
            <a:pPr lvl="0"/>
            <a:r>
              <a:rPr b="1"/>
              <a:t>Working Hours:</a:t>
            </a:r>
            <a:r>
              <a:rPr/>
              <a:t> Shift-based (Including weekends &amp; public holidays); 40-48 hours/week</a:t>
            </a:r>
          </a:p>
          <a:p>
            <a:pPr lvl="0"/>
            <a:r>
              <a:rPr b="1"/>
              <a:t>Educational Qualifications:</a:t>
            </a:r>
          </a:p>
          <a:p>
            <a:pPr lvl="1"/>
            <a:r>
              <a:rPr/>
              <a:t>B.E./B.Tech in Aeronautical/Mechanical/Electrical Engineering </a:t>
            </a:r>
            <a:r>
              <a:rPr b="1"/>
              <a:t>OR</a:t>
            </a:r>
          </a:p>
          <a:p>
            <a:pPr lvl="1"/>
            <a:r>
              <a:rPr/>
              <a:t>DGCA-approved Aircraft Maintenance Engineer License (B1/B2)</a:t>
            </a:r>
          </a:p>
          <a:p>
            <a:pPr lvl="0"/>
            <a:r>
              <a:rPr b="1"/>
              <a:t>Package:</a:t>
            </a:r>
            <a:br/>
            <a:r>
              <a:rPr/>
              <a:t>₹8 – ₹18 LPA (Based on experience) + Annual Performance Bonus + Other Benefits</a:t>
            </a:r>
          </a:p>
          <a:p>
            <a:pPr lvl="0"/>
            <a:r>
              <a:rPr b="1"/>
              <a:t>Roles &amp; Responsibilities:</a:t>
            </a:r>
          </a:p>
          <a:p>
            <a:pPr lvl="1"/>
            <a:r>
              <a:rPr/>
              <a:t>Perform routine and non-routine maintenance of Boeing 787 Dreamliner, Airbus A350, A380 fleet.</a:t>
            </a:r>
          </a:p>
          <a:p>
            <a:pPr lvl="1"/>
            <a:r>
              <a:rPr/>
              <a:t>Conduct checks, troubleshooting, repairs, and certify aircraft before flight release.</a:t>
            </a:r>
          </a:p>
          <a:p>
            <a:pPr lvl="1"/>
            <a:r>
              <a:rPr/>
              <a:t>Adhere to safety and regulatory compliance as per DGCA, EASA, FAA guidelines.</a:t>
            </a:r>
          </a:p>
          <a:p>
            <a:pPr lvl="1"/>
            <a:r>
              <a:rPr/>
              <a:t>Coordinate with Technical Operations, Flight Crew, and OEMs for technical resolutions.</a:t>
            </a:r>
          </a:p>
          <a:p>
            <a:pPr lvl="1"/>
            <a:r>
              <a:rPr/>
              <a:t>Oversee documentation and record-keeping per company and legal requirements.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Avionics Engineer</a:t>
            </a:r>
          </a:p>
          <a:p>
            <a:pPr lvl="0"/>
            <a:r>
              <a:rPr b="1"/>
              <a:t>Location:</a:t>
            </a:r>
            <a:r>
              <a:rPr/>
              <a:t> Mumbai, Delhi, Bengaluru</a:t>
            </a:r>
          </a:p>
          <a:p>
            <a:pPr lvl="0"/>
            <a:r>
              <a:rPr b="1"/>
              <a:t>Working Hours:</a:t>
            </a:r>
            <a:r>
              <a:rPr/>
              <a:t> Rotational shifts; 40 hours/week</a:t>
            </a:r>
          </a:p>
          <a:p>
            <a:pPr lvl="0"/>
            <a:r>
              <a:rPr b="1"/>
              <a:t>Educational Qualifications:</a:t>
            </a:r>
          </a:p>
          <a:p>
            <a:pPr lvl="1"/>
            <a:r>
              <a:rPr/>
              <a:t>B.E./B.Tech in Avionics/Electronics Engineering</a:t>
            </a:r>
          </a:p>
          <a:p>
            <a:pPr lvl="1"/>
            <a:r>
              <a:rPr/>
              <a:t>Preferably with DGCA / EASA Aircraft Maintenance License (B2 Category)</a:t>
            </a:r>
          </a:p>
          <a:p>
            <a:pPr lvl="0"/>
            <a:r>
              <a:rPr b="1"/>
              <a:t>Package:</a:t>
            </a:r>
            <a:br/>
            <a:r>
              <a:rPr/>
              <a:t>₹10 – ₹20 LPA + Allowances + Medical &amp; Travel Benefits</a:t>
            </a:r>
          </a:p>
          <a:p>
            <a:pPr lvl="0"/>
            <a:r>
              <a:rPr b="1"/>
              <a:t>Roles &amp; Responsibilities:</a:t>
            </a:r>
          </a:p>
          <a:p>
            <a:pPr lvl="1"/>
            <a:r>
              <a:rPr/>
              <a:t>Maintenance, troubleshooting and upgrades of avionics systems (navigation, communication, flight control, etc.).</a:t>
            </a:r>
          </a:p>
          <a:p>
            <a:pPr lvl="1"/>
            <a:r>
              <a:rPr/>
              <a:t>Ensure optimum functioning of all electronic safety and operational equipment onboard.</a:t>
            </a:r>
          </a:p>
          <a:p>
            <a:pPr lvl="1"/>
            <a:r>
              <a:rPr/>
              <a:t>Liaise with Airworthiness and Quality Assurance departments.</a:t>
            </a:r>
          </a:p>
          <a:p>
            <a:pPr lvl="1"/>
            <a:r>
              <a:rPr/>
              <a:t>Innovate and implement new technology upgrades in coordination with OEMs.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Engineering Support Specialist</a:t>
            </a:r>
          </a:p>
          <a:p>
            <a:pPr lvl="0"/>
            <a:r>
              <a:rPr b="1"/>
              <a:t>Location:</a:t>
            </a:r>
            <a:r>
              <a:rPr/>
              <a:t> Mumbai (Head Office)</a:t>
            </a:r>
            <a:br/>
          </a:p>
          <a:p>
            <a:pPr lvl="0"/>
            <a:r>
              <a:rPr b="1"/>
              <a:t>Working Hours:</a:t>
            </a:r>
            <a:r>
              <a:rPr/>
              <a:t> Standard (9 AM – 6 PM, Mon-Fri)</a:t>
            </a:r>
          </a:p>
          <a:p>
            <a:pPr lvl="0"/>
            <a:r>
              <a:rPr b="1"/>
              <a:t>Educational Qualifications:</a:t>
            </a:r>
          </a:p>
          <a:p>
            <a:pPr lvl="1"/>
            <a:r>
              <a:rPr/>
              <a:t>Bachelor’s Degree in Mechanical/Industrial Engineering or similar</a:t>
            </a:r>
          </a:p>
          <a:p>
            <a:pPr lvl="1"/>
            <a:r>
              <a:rPr/>
              <a:t>Proficient in AMOS or equivalent MRO software</a:t>
            </a:r>
          </a:p>
          <a:p>
            <a:pPr lvl="0"/>
            <a:r>
              <a:rPr b="1"/>
              <a:t>Package:</a:t>
            </a:r>
            <a:br/>
            <a:r>
              <a:rPr/>
              <a:t>₹6 – ₹13 LPA + Incentives</a:t>
            </a:r>
          </a:p>
          <a:p>
            <a:pPr lvl="0"/>
            <a:r>
              <a:rPr b="1"/>
              <a:t>Roles &amp; Responsibilities:</a:t>
            </a:r>
          </a:p>
          <a:p>
            <a:pPr lvl="1"/>
            <a:r>
              <a:rPr/>
              <a:t>Provide technical and logistical support to line and base maintenance teams.</a:t>
            </a:r>
          </a:p>
          <a:p>
            <a:pPr lvl="1"/>
            <a:r>
              <a:rPr/>
              <a:t>Maintain parts inventory, coordinate engineering resources for AOG (Aircraft On Ground) events.</a:t>
            </a:r>
          </a:p>
          <a:p>
            <a:pPr lvl="1"/>
            <a:r>
              <a:rPr/>
              <a:t>Assist in engineering data analysis, technical documentation, and regulatory submissions.</a:t>
            </a:r>
          </a:p>
          <a:p>
            <a:pPr lvl="1"/>
            <a:r>
              <a:rPr/>
              <a:t>Work closely with procurement and vendor management for spares and materials.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Careers at CloudWay 24: Cabin Crew Recruitment</a:t>
            </a:r>
          </a:p>
        </p:txBody>
      </p:sp>
      <p:sp>
        <p:nvSpPr>
          <p:cNvPr id="3" name="Content Placeholder 2"/>
          <p:cNvSpPr>
            <a:spLocks noGrp="1"/>
          </p:cNvSpPr>
          <p:nvPr>
            <p:ph idx="1"/>
          </p:nvPr>
        </p:nvSpPr>
        <p:spPr/>
        <p:txBody>
          <a:bodyPr/>
          <a:lstStyle/>
          <a:p>
            <a:pPr lvl="0" indent="0" marL="0">
              <a:buNone/>
            </a:pPr>
            <a:r>
              <a:rPr/>
              <a:t>Are you ready to soar high and deliver world-class service above the clouds? Join the </a:t>
            </a:r>
            <a:r>
              <a:rPr b="1"/>
              <a:t>CloudWay 24 Cabin Crew</a:t>
            </a:r>
            <a:r>
              <a:rPr/>
              <a:t> and be an ambassador of seamless skies and global hospitality.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Job Title</a:t>
            </a:r>
          </a:p>
          <a:p>
            <a:pPr lvl="0" indent="0" marL="0">
              <a:buNone/>
            </a:pPr>
            <a:r>
              <a:rPr b="1"/>
              <a:t>Cabin Crew Member</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Working Hours</a:t>
            </a:r>
          </a:p>
          <a:p>
            <a:pPr lvl="0"/>
            <a:r>
              <a:rPr b="1"/>
              <a:t>Roster-based Shifts:</a:t>
            </a:r>
            <a:r>
              <a:rPr/>
              <a:t> 8–12 hours per shift, including weekends, holidays, and overnight layovers.</a:t>
            </a:r>
          </a:p>
          <a:p>
            <a:pPr lvl="0"/>
            <a:r>
              <a:rPr b="1"/>
              <a:t>Flexible Schedules:</a:t>
            </a:r>
            <a:r>
              <a:rPr/>
              <a:t> Aligned with international flight operations and layovers.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Location</a:t>
            </a:r>
          </a:p>
          <a:p>
            <a:pPr lvl="0"/>
            <a:r>
              <a:rPr b="1"/>
              <a:t>Primary Location:</a:t>
            </a:r>
            <a:r>
              <a:rPr/>
              <a:t> Mumbai, India (Chhatrapati Shivaji Maharaj International Airport)</a:t>
            </a:r>
          </a:p>
          <a:p>
            <a:pPr lvl="0"/>
            <a:r>
              <a:rPr b="1"/>
              <a:t>Additional Base Locations:</a:t>
            </a:r>
            <a:r>
              <a:rPr/>
              <a:t> Delhi (Indira Gandhi International Airport) &amp; Bengaluru (Kempegowda International Airport)</a:t>
            </a:r>
          </a:p>
          <a:p>
            <a:pPr lvl="0"/>
            <a:r>
              <a:rPr/>
              <a:t>International layovers based on operational requirements.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Educational Qualifications</a:t>
            </a:r>
          </a:p>
          <a:p>
            <a:pPr lvl="0"/>
            <a:r>
              <a:rPr/>
              <a:t>Minimum 10+2 (Higher Secondary) from a recognized board.</a:t>
            </a:r>
          </a:p>
          <a:p>
            <a:pPr lvl="0"/>
            <a:r>
              <a:rPr/>
              <a:t>Diploma / Degree in Hospitality, Travel, or Customer Service preferred (not mandatory).</a:t>
            </a:r>
          </a:p>
          <a:p>
            <a:pPr lvl="0"/>
            <a:r>
              <a:rPr/>
              <a:t>Proficiency in English (spoken &amp; written). Additional languages are an advantage.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Package &amp; Benefits</a:t>
            </a:r>
          </a:p>
          <a:p>
            <a:pPr lvl="0"/>
            <a:r>
              <a:rPr b="1"/>
              <a:t>Salary:</a:t>
            </a:r>
            <a:r>
              <a:rPr/>
              <a:t> INR 6–8 lakhs per annum (starting, based on experience &amp; location)</a:t>
            </a:r>
          </a:p>
          <a:p>
            <a:pPr lvl="0"/>
            <a:r>
              <a:rPr b="1"/>
              <a:t>Allowances:</a:t>
            </a:r>
            <a:r>
              <a:rPr/>
              <a:t> International layover allowance, flying allowance, and meal allowance.</a:t>
            </a:r>
          </a:p>
          <a:p>
            <a:pPr lvl="0"/>
            <a:r>
              <a:rPr b="1"/>
              <a:t>Benefits:</a:t>
            </a:r>
            <a:r>
              <a:rPr/>
              <a:t> Medical &amp; life insurance, comprehensive training, annual leave, free/reduced flight tickets (for self &amp; family), and access to CloudWay 24 Lounges.</a:t>
            </a:r>
          </a:p>
          <a:p>
            <a:pPr lvl="0"/>
            <a:r>
              <a:rPr b="1"/>
              <a:t>Incentives:</a:t>
            </a:r>
            <a:r>
              <a:rPr/>
              <a:t> Performance and service excellence bonuses.</a:t>
            </a:r>
          </a:p>
          <a:p>
            <a:pPr lvl="0"/>
            <a:r>
              <a:rPr/>
              <a:t>Membership in the exclusive </a:t>
            </a:r>
            <a:r>
              <a:rPr b="1"/>
              <a:t>SkyPoints 24 Staff Rewards Program</a:t>
            </a:r>
            <a: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Roles &amp; Responsibilities</a:t>
            </a:r>
          </a:p>
          <a:p>
            <a:pPr lvl="0"/>
            <a:r>
              <a:rPr b="1"/>
              <a:t>Passenger Safety:</a:t>
            </a:r>
            <a:r>
              <a:rPr/>
              <a:t> Ensure safety and security procedures are executed as per global aviation standards.</a:t>
            </a:r>
          </a:p>
          <a:p>
            <a:pPr lvl="0"/>
            <a:r>
              <a:rPr b="1"/>
              <a:t>World-Class Service:</a:t>
            </a:r>
            <a:r>
              <a:rPr/>
              <a:t> Deliver premium in-flight service in all cabin classes—CloudLux, CloudElite, CloudComfort, and CloudSaver.</a:t>
            </a:r>
          </a:p>
          <a:p>
            <a:pPr lvl="0"/>
            <a:r>
              <a:rPr b="1"/>
              <a:t>Pre-Flight Checks:</a:t>
            </a:r>
            <a:r>
              <a:rPr/>
              <a:t> Conduct safety checks before flight boarding.</a:t>
            </a:r>
          </a:p>
          <a:p>
            <a:pPr lvl="0"/>
            <a:r>
              <a:rPr b="1"/>
              <a:t>Passenger Comfort:</a:t>
            </a:r>
            <a:r>
              <a:rPr/>
              <a:t> Assist passengers with seating, stowage of baggage, and comfort-related requests.</a:t>
            </a:r>
          </a:p>
          <a:p>
            <a:pPr lvl="0"/>
            <a:r>
              <a:rPr b="1"/>
              <a:t>Emergency Handling:</a:t>
            </a:r>
            <a:r>
              <a:rPr/>
              <a:t> Professionally handle medical emergencies, turbulence, and evacuations if required.</a:t>
            </a:r>
          </a:p>
          <a:p>
            <a:pPr lvl="0"/>
            <a:r>
              <a:rPr b="1"/>
              <a:t>Communication:</a:t>
            </a:r>
            <a:r>
              <a:rPr/>
              <a:t> Make announcements and communicate information clearly and efficiently.</a:t>
            </a:r>
          </a:p>
          <a:p>
            <a:pPr lvl="0"/>
            <a:r>
              <a:rPr b="1"/>
              <a:t>Team Collaboration:</a:t>
            </a:r>
            <a:r>
              <a:rPr/>
              <a:t> Work harmoniously with the crew, flight deck, and ground teams.</a:t>
            </a:r>
          </a:p>
          <a:p>
            <a:pPr lvl="0"/>
            <a:r>
              <a:rPr b="1"/>
              <a:t>Brand Representation:</a:t>
            </a:r>
            <a:r>
              <a:rPr/>
              <a:t> Uphold and embody the CloudWay 24 values—excellence, empathy, and professionalism at all times.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Other Open Positions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Legal Officer</a:t>
            </a:r>
          </a:p>
          <a:p>
            <a:pPr lvl="0" indent="0" marL="0">
              <a:buNone/>
            </a:pPr>
            <a:r>
              <a:rPr b="1"/>
              <a:t>Department:</a:t>
            </a:r>
            <a:r>
              <a:rPr/>
              <a:t> Legal</a:t>
            </a:r>
            <a:br/>
            <a:r>
              <a:rPr b="1"/>
              <a:t>Location:</a:t>
            </a:r>
            <a:r>
              <a:rPr/>
              <a:t> Head Office, Mumbai, India</a:t>
            </a:r>
            <a:br/>
            <a:r>
              <a:rPr b="1"/>
              <a:t>Working Hours:</a:t>
            </a:r>
            <a:r>
              <a:rPr/>
              <a:t> Full-Time (Mon-Fri, 9:00 AM – 6:00 PM)</a:t>
            </a:r>
            <a:br/>
            <a:r>
              <a:rPr b="1"/>
              <a:t>Educational Qualifications:</a:t>
            </a:r>
            <a:br/>
            <a:r>
              <a:rPr/>
              <a:t>- Bachelor’s degree in Law (LLB) from a recognized university</a:t>
            </a:r>
            <a:br/>
            <a:r>
              <a:rPr/>
              <a:t>- Enrollment with the Bar Council of India</a:t>
            </a:r>
            <a:br/>
            <a:r>
              <a:rPr/>
              <a:t>- Master’s degree (LLM) preferred</a:t>
            </a:r>
          </a:p>
          <a:p>
            <a:pPr lvl="0" indent="0" marL="0">
              <a:buNone/>
            </a:pPr>
            <a:r>
              <a:rPr b="1"/>
              <a:t>Package:</a:t>
            </a:r>
            <a:r>
              <a:rPr/>
              <a:t> ₹9 – 13 LPA (Based on experience)</a:t>
            </a:r>
          </a:p>
          <a:p>
            <a:pPr lvl="0" indent="0" marL="0">
              <a:buNone/>
            </a:pPr>
            <a:r>
              <a:rPr b="1"/>
              <a:t>Roles &amp; Responsibilities:</a:t>
            </a:r>
            <a:r>
              <a:rPr/>
              <a:t> - Draft, review, and negotiate contracts and agreements with vendors, partners, and clients. - Ensure company compliance with local, national, and international aviation laws and regulations. - Advise various departments on legal risks and mitigation strategies. - Coordinate and manage regulatory filings and statutory obligations. - Represent the company in legal proceedings and liaise with external counsel when required. - Conduct legal research and monitor legislative changes impacting the aviation industry.</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HR Business Partner</a:t>
            </a:r>
          </a:p>
          <a:p>
            <a:pPr lvl="0" indent="0" marL="0">
              <a:buNone/>
            </a:pPr>
            <a:r>
              <a:rPr b="1"/>
              <a:t>Department:</a:t>
            </a:r>
            <a:r>
              <a:rPr/>
              <a:t> Human Resources</a:t>
            </a:r>
            <a:br/>
            <a:r>
              <a:rPr b="1"/>
              <a:t>Location:</a:t>
            </a:r>
            <a:r>
              <a:rPr/>
              <a:t> Head Office, Mumbai, India</a:t>
            </a:r>
            <a:br/>
            <a:r>
              <a:rPr b="1"/>
              <a:t>Working Hours:</a:t>
            </a:r>
            <a:r>
              <a:rPr/>
              <a:t> Full-Time (Mon-Fri, 9:00 AM – 6:00 PM)</a:t>
            </a:r>
            <a:br/>
            <a:r>
              <a:rPr b="1"/>
              <a:t>Educational Qualifications:</a:t>
            </a:r>
            <a:br/>
            <a:r>
              <a:rPr/>
              <a:t>- Bachelor’s degree in Human Resources/Business Administration or related field</a:t>
            </a:r>
            <a:br/>
            <a:r>
              <a:rPr/>
              <a:t>- MBA/PGDM in HR preferred</a:t>
            </a:r>
          </a:p>
          <a:p>
            <a:pPr lvl="0" indent="0" marL="0">
              <a:buNone/>
            </a:pPr>
            <a:r>
              <a:rPr b="1"/>
              <a:t>Package:</a:t>
            </a:r>
            <a:r>
              <a:rPr/>
              <a:t> ₹8 – 12 LPA (Based on experience)</a:t>
            </a:r>
          </a:p>
          <a:p>
            <a:pPr lvl="0" indent="0" marL="0">
              <a:buNone/>
            </a:pPr>
            <a:r>
              <a:rPr b="1"/>
              <a:t>Roles &amp; Responsibilities:</a:t>
            </a:r>
            <a:r>
              <a:rPr/>
              <a:t> - Act as a consultant to management on human resource-related issues. - Implement and manage recruitment, onboarding, and talent management processes. - Develop employee engagement, learning, and development initiatives. - Handle employee relations by addressing concerns, grievances, or other issues. - Analyze HR data to identify trends and recommend solutions for workforce planning. - Ensure compliance with company policies, labor laws, and industry regulations. - Drive diversity, equity, and inclusion initiatives within the organization.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2025-07-29T14:57:08Z</dcterms:created>
  <dcterms:modified xsi:type="dcterms:W3CDTF">2025-07-29T14:57:08Z</dcterms:modified>
</cp:coreProperties>
</file>

<file path=docProps/custom.xml><?xml version="1.0" encoding="utf-8"?>
<Properties xmlns="http://schemas.openxmlformats.org/officeDocument/2006/custom-properties" xmlns:vt="http://schemas.openxmlformats.org/officeDocument/2006/docPropsVTypes"/>
</file>