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1" Type="http://schemas.openxmlformats.org/officeDocument/2006/relationships/viewProps" Target="viewProps.xml" /><Relationship Id="rId10" Type="http://schemas.openxmlformats.org/officeDocument/2006/relationships/presProps" Target="presProps.xml" /><Relationship Id="rId1" Type="http://schemas.openxmlformats.org/officeDocument/2006/relationships/slideMaster" Target="slideMasters/slideMaster1.xml" /><Relationship Id="rId13" Type="http://schemas.openxmlformats.org/officeDocument/2006/relationships/tableStyles" Target="tableStyles.xml" /><Relationship Id="rId1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CloudWay 24 Staff Expense Claim Procedure</a:t>
            </a:r>
          </a:p>
        </p:txBody>
      </p:sp>
      <p:sp>
        <p:nvSpPr>
          <p:cNvPr id="3" name="Content Placeholder 2"/>
          <p:cNvSpPr>
            <a:spLocks noGrp="1"/>
          </p:cNvSpPr>
          <p:nvPr>
            <p:ph idx="1"/>
          </p:nvPr>
        </p:nvSpPr>
        <p:spPr/>
        <p:txBody>
          <a:bodyPr/>
          <a:lstStyle/>
          <a:p>
            <a:pPr lvl="0" indent="0" marL="0">
              <a:buNone/>
            </a:pPr>
            <a:r>
              <a:rPr i="1"/>
              <a:t>For Pilots and Cabin Crew – Non-Accommodation and Non-Transport Expenses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Overview</a:t>
            </a:r>
          </a:p>
          <a:p>
            <a:pPr lvl="0" indent="0" marL="0">
              <a:buNone/>
            </a:pPr>
            <a:r>
              <a:rPr/>
              <a:t>This procedure outlines how CloudWay 24 Pilots and Cabin Crew may claim reimbursement for approved expenses incurred during duty travel, excluding accommodation and transport (which are already provided by the airline).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 Eligible Expenses</a:t>
            </a:r>
          </a:p>
          <a:p>
            <a:pPr lvl="0"/>
            <a:r>
              <a:rPr b="1"/>
              <a:t>Meals &amp; Refreshments:</a:t>
            </a:r>
            <a:r>
              <a:rPr/>
              <a:t> When not provided by CloudWay 24 during layovers.</a:t>
            </a:r>
          </a:p>
          <a:p>
            <a:pPr lvl="0"/>
            <a:r>
              <a:rPr b="1"/>
              <a:t>Communication Costs:</a:t>
            </a:r>
            <a:r>
              <a:rPr/>
              <a:t> Work-related calls/internet when airline-provided options are unavailable.</a:t>
            </a:r>
          </a:p>
          <a:p>
            <a:pPr lvl="0"/>
            <a:r>
              <a:rPr b="1"/>
              <a:t>Uniform Maintenance:</a:t>
            </a:r>
            <a:r>
              <a:rPr/>
              <a:t> Laundry or pressing services during extended layovers (minimum 2 nights).</a:t>
            </a:r>
          </a:p>
          <a:p>
            <a:pPr lvl="0"/>
            <a:r>
              <a:rPr b="1"/>
              <a:t>Official Miscellaneous Purchases:</a:t>
            </a:r>
            <a:r>
              <a:rPr/>
              <a:t> Items bought at the explicit request of a supervisor (e.g., minor crew supplies).</a:t>
            </a:r>
          </a:p>
          <a:p>
            <a:pPr lvl="0"/>
            <a:r>
              <a:rPr b="1"/>
              <a:t>Other Approved Costs:</a:t>
            </a:r>
            <a:r>
              <a:rPr/>
              <a:t> As pre-authorized by Flight Operations or Cabin Services Management.</a:t>
            </a:r>
          </a:p>
          <a:p>
            <a:pPr lvl="0" indent="0" marL="1270000">
              <a:buNone/>
            </a:pPr>
            <a:r>
              <a:rPr sz="2000" i="1"/>
              <a:t>Personal entertainment, alcohol (unless required for official functions), souvenirs, or gifts are </a:t>
            </a:r>
            <a:r>
              <a:rPr sz="2000" b="1" i="1"/>
              <a:t>NOT reimbursable</a:t>
            </a:r>
            <a:r>
              <a:rPr sz="2000" i="1"/>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2. Expense Limits</a:t>
            </a:r>
          </a:p>
          <a:p>
            <a:pPr lvl="0"/>
            <a:r>
              <a:rPr b="1"/>
              <a:t>Meal Allowance:</a:t>
            </a:r>
            <a:r>
              <a:rPr/>
              <a:t> Per-diem rates as per company policy by city/destination (refer to Intranet or ask HR).</a:t>
            </a:r>
          </a:p>
          <a:p>
            <a:pPr lvl="0"/>
            <a:r>
              <a:rPr b="1"/>
              <a:t>Communication:</a:t>
            </a:r>
            <a:r>
              <a:rPr/>
              <a:t> Maximum INR 1,000 per trip, unless pre-approved for higher spend.</a:t>
            </a:r>
          </a:p>
          <a:p>
            <a:pPr lvl="0"/>
            <a:r>
              <a:rPr b="1"/>
              <a:t>Uniform Maintenance:</a:t>
            </a:r>
            <a:r>
              <a:rPr/>
              <a:t> Up to INR 500 per eligible layover.</a:t>
            </a:r>
          </a:p>
          <a:p>
            <a:pPr lvl="0" indent="0" marL="0">
              <a:buNone/>
            </a:pPr>
            <a:r>
              <a:rPr i="1"/>
              <a:t>If in doubt, seek written approval from your Line Manager before incurring the expense.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3. Claim Submission Process</a:t>
            </a:r>
          </a:p>
          <a:p>
            <a:pPr lvl="0" indent="0" marL="0">
              <a:spcBef>
                <a:spcPts val="3000"/>
              </a:spcBef>
              <a:buNone/>
            </a:pPr>
            <a:r>
              <a:rPr b="1"/>
              <a:t>a) Documentation Required</a:t>
            </a:r>
          </a:p>
          <a:p>
            <a:pPr lvl="0"/>
            <a:r>
              <a:rPr b="1"/>
              <a:t>Original Receipts:</a:t>
            </a:r>
            <a:r>
              <a:rPr/>
              <a:t> Must state amount, date, item/service, and location.</a:t>
            </a:r>
          </a:p>
          <a:p>
            <a:pPr lvl="0"/>
            <a:r>
              <a:rPr b="1"/>
              <a:t>Expense Claim Form:</a:t>
            </a:r>
            <a:r>
              <a:rPr/>
              <a:t> Downloadable from CloudWay 24 Staff Portal.</a:t>
            </a:r>
          </a:p>
          <a:p>
            <a:pPr lvl="0"/>
            <a:r>
              <a:rPr b="1"/>
              <a:t>Supervisor Approval:</a:t>
            </a:r>
            <a:r>
              <a:rPr/>
              <a:t> (If claiming under ‘Other Approved Costs’).</a:t>
            </a:r>
          </a:p>
          <a:p>
            <a:pPr lvl="0" indent="0" marL="0">
              <a:spcBef>
                <a:spcPts val="3000"/>
              </a:spcBef>
              <a:buNone/>
            </a:pPr>
            <a:r>
              <a:rPr b="1"/>
              <a:t>b) Submission Timeline</a:t>
            </a:r>
          </a:p>
          <a:p>
            <a:pPr lvl="0"/>
            <a:r>
              <a:rPr/>
              <a:t>Submit claims </a:t>
            </a:r>
            <a:r>
              <a:rPr b="1"/>
              <a:t>within 30 days</a:t>
            </a:r>
            <a:r>
              <a:rPr/>
              <a:t> of completion of the trip/duty.</a:t>
            </a:r>
          </a:p>
          <a:p>
            <a:pPr lvl="0" indent="0" marL="0">
              <a:spcBef>
                <a:spcPts val="3000"/>
              </a:spcBef>
              <a:buNone/>
            </a:pPr>
            <a:r>
              <a:rPr b="1"/>
              <a:t>c) How to Submit</a:t>
            </a:r>
          </a:p>
          <a:p>
            <a:pPr lvl="0" indent="-342900" marL="342900">
              <a:buAutoNum type="arabicPeriod"/>
            </a:pPr>
            <a:r>
              <a:rPr/>
              <a:t>Log in to CloudWay 24 Staff Portal.</a:t>
            </a:r>
          </a:p>
          <a:p>
            <a:pPr lvl="0" indent="-342900" marL="342900">
              <a:buAutoNum type="arabicPeriod"/>
            </a:pPr>
            <a:r>
              <a:rPr/>
              <a:t>Navigate to: </a:t>
            </a:r>
            <a:r>
              <a:rPr b="1"/>
              <a:t>HR Services &gt; Expense Claims</a:t>
            </a:r>
            <a:r>
              <a:rPr/>
              <a:t>.</a:t>
            </a:r>
          </a:p>
          <a:p>
            <a:pPr lvl="0" indent="-342900" marL="342900">
              <a:buAutoNum type="arabicPeriod"/>
            </a:pPr>
            <a:r>
              <a:rPr/>
              <a:t>Fill in all required details, upload scanned receipts.</a:t>
            </a:r>
          </a:p>
          <a:p>
            <a:pPr lvl="0" indent="-342900" marL="342900">
              <a:buAutoNum type="arabicPeriod"/>
            </a:pPr>
            <a:r>
              <a:rPr/>
              <a:t>Add any required remarks/supervisory approvals.</a:t>
            </a:r>
          </a:p>
          <a:p>
            <a:pPr lvl="0" indent="-342900" marL="342900">
              <a:buAutoNum type="arabicPeriod"/>
            </a:pPr>
            <a:r>
              <a:rPr/>
              <a:t>Submit for Processing.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 Processing &amp; Reimbursement</a:t>
            </a:r>
          </a:p>
          <a:p>
            <a:pPr lvl="0"/>
            <a:r>
              <a:rPr/>
              <a:t>Claims reviewed within </a:t>
            </a:r>
            <a:r>
              <a:rPr b="1"/>
              <a:t>7 business days</a:t>
            </a:r>
            <a:r>
              <a:rPr/>
              <a:t>.</a:t>
            </a:r>
          </a:p>
          <a:p>
            <a:pPr lvl="0"/>
            <a:r>
              <a:rPr/>
              <a:t>If approved, reimbursement via salary or direct bank credit in the next pay cycle.</a:t>
            </a:r>
          </a:p>
          <a:p>
            <a:pPr lvl="0"/>
            <a:r>
              <a:rPr/>
              <a:t>Incomplete or non-compliant claims will be returned for correction.</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5. Contact</a:t>
            </a:r>
          </a:p>
          <a:p>
            <a:pPr lvl="0"/>
            <a:r>
              <a:rPr/>
              <a:t>For claim status, contact: </a:t>
            </a:r>
            <a:r>
              <a:rPr b="1"/>
              <a:t>HR Helpdesk</a:t>
            </a:r>
            <a:r>
              <a:rPr/>
              <a:t> (hr@cloudway24.com)</a:t>
            </a:r>
          </a:p>
          <a:p>
            <a:pPr lvl="0"/>
            <a:r>
              <a:rPr/>
              <a:t>For policy clarifications, contact: </a:t>
            </a:r>
            <a:r>
              <a:rPr b="1"/>
              <a:t>Flight Ops Admin Team</a:t>
            </a:r>
            <a:r>
              <a:rPr/>
              <a:t> or </a:t>
            </a:r>
            <a:r>
              <a:rPr b="1"/>
              <a:t>Cabin Services Admin Team</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Remember:</a:t>
            </a:r>
            <a:r>
              <a:rPr/>
              <a:t> Falsification of expenses may result in disciplinary action, up to and including termination of employment.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2025-07-29T14:57:04Z</dcterms:created>
  <dcterms:modified xsi:type="dcterms:W3CDTF">2025-07-29T14:57:04Z</dcterms:modified>
</cp:coreProperties>
</file>

<file path=docProps/custom.xml><?xml version="1.0" encoding="utf-8"?>
<Properties xmlns="http://schemas.openxmlformats.org/officeDocument/2006/custom-properties" xmlns:vt="http://schemas.openxmlformats.org/officeDocument/2006/docPropsVTypes"/>
</file>